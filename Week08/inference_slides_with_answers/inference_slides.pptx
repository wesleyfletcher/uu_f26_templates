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0"/>
  </p:notesMasterIdLst>
  <p:sldIdLst>
    <p:sldId id="256" r:id="rId2"/>
    <p:sldId id="257" r:id="rId3"/>
    <p:sldId id="258" r:id="rId4"/>
    <p:sldId id="259" r:id="rId5"/>
    <p:sldId id="260" r:id="rId6"/>
    <p:sldId id="297" r:id="rId7"/>
    <p:sldId id="298" r:id="rId8"/>
    <p:sldId id="299" r:id="rId9"/>
    <p:sldId id="300" r:id="rId10"/>
    <p:sldId id="296" r:id="rId11"/>
    <p:sldId id="261" r:id="rId12"/>
    <p:sldId id="303" r:id="rId13"/>
    <p:sldId id="262" r:id="rId14"/>
    <p:sldId id="263" r:id="rId15"/>
    <p:sldId id="264" r:id="rId16"/>
    <p:sldId id="315" r:id="rId17"/>
    <p:sldId id="266" r:id="rId18"/>
    <p:sldId id="267" r:id="rId19"/>
    <p:sldId id="265" r:id="rId20"/>
    <p:sldId id="268" r:id="rId21"/>
    <p:sldId id="301" r:id="rId22"/>
    <p:sldId id="269" r:id="rId23"/>
    <p:sldId id="270" r:id="rId24"/>
    <p:sldId id="271" r:id="rId25"/>
    <p:sldId id="310" r:id="rId26"/>
    <p:sldId id="311" r:id="rId27"/>
    <p:sldId id="312" r:id="rId28"/>
    <p:sldId id="313" r:id="rId29"/>
    <p:sldId id="307" r:id="rId30"/>
    <p:sldId id="308" r:id="rId31"/>
    <p:sldId id="309" r:id="rId32"/>
    <p:sldId id="272" r:id="rId33"/>
    <p:sldId id="305" r:id="rId34"/>
    <p:sldId id="306" r:id="rId35"/>
    <p:sldId id="304" r:id="rId36"/>
    <p:sldId id="273" r:id="rId37"/>
    <p:sldId id="274" r:id="rId38"/>
    <p:sldId id="275" r:id="rId39"/>
    <p:sldId id="276" r:id="rId40"/>
    <p:sldId id="277" r:id="rId41"/>
    <p:sldId id="278" r:id="rId42"/>
    <p:sldId id="280" r:id="rId43"/>
    <p:sldId id="281" r:id="rId44"/>
    <p:sldId id="282" r:id="rId45"/>
    <p:sldId id="283" r:id="rId46"/>
    <p:sldId id="279" r:id="rId47"/>
    <p:sldId id="314" r:id="rId48"/>
    <p:sldId id="284" r:id="rId49"/>
    <p:sldId id="285" r:id="rId50"/>
    <p:sldId id="317" r:id="rId51"/>
    <p:sldId id="286" r:id="rId52"/>
    <p:sldId id="287" r:id="rId53"/>
    <p:sldId id="288" r:id="rId54"/>
    <p:sldId id="289" r:id="rId55"/>
    <p:sldId id="318" r:id="rId56"/>
    <p:sldId id="290" r:id="rId57"/>
    <p:sldId id="291" r:id="rId58"/>
    <p:sldId id="292" r:id="rId59"/>
    <p:sldId id="321" r:id="rId60"/>
    <p:sldId id="322" r:id="rId61"/>
    <p:sldId id="323" r:id="rId62"/>
    <p:sldId id="325" r:id="rId63"/>
    <p:sldId id="319" r:id="rId64"/>
    <p:sldId id="320" r:id="rId65"/>
    <p:sldId id="295" r:id="rId66"/>
    <p:sldId id="293" r:id="rId67"/>
    <p:sldId id="316" r:id="rId68"/>
    <p:sldId id="294" r:id="rId6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8805947-996C-3DD4-1BC4-EF86EF2BBA52}">
          <p14:sldIdLst>
            <p14:sldId id="256"/>
            <p14:sldId id="257"/>
            <p14:sldId id="258"/>
          </p14:sldIdLst>
        </p14:section>
        <p14:section name="The sampling distribution" id="{74BF9BF2-07DE-6D51-4785-CBAE148D7194}">
          <p14:sldIdLst>
            <p14:sldId id="259"/>
            <p14:sldId id="260"/>
            <p14:sldId id="297"/>
            <p14:sldId id="298"/>
            <p14:sldId id="299"/>
            <p14:sldId id="300"/>
            <p14:sldId id="296"/>
            <p14:sldId id="261"/>
            <p14:sldId id="303"/>
            <p14:sldId id="262"/>
            <p14:sldId id="263"/>
            <p14:sldId id="264"/>
          </p14:sldIdLst>
        </p14:section>
        <p14:section name="Bootstrapping a regression" id="{74FE7180-2B5E-9ACF-2DA5-C3329184C1EA}">
          <p14:sldIdLst>
            <p14:sldId id="315"/>
            <p14:sldId id="266"/>
            <p14:sldId id="267"/>
            <p14:sldId id="265"/>
            <p14:sldId id="268"/>
            <p14:sldId id="301"/>
            <p14:sldId id="269"/>
            <p14:sldId id="270"/>
            <p14:sldId id="271"/>
            <p14:sldId id="310"/>
            <p14:sldId id="311"/>
            <p14:sldId id="312"/>
            <p14:sldId id="313"/>
            <p14:sldId id="307"/>
            <p14:sldId id="308"/>
            <p14:sldId id="309"/>
            <p14:sldId id="272"/>
            <p14:sldId id="305"/>
            <p14:sldId id="306"/>
            <p14:sldId id="304"/>
          </p14:sldIdLst>
        </p14:section>
        <p14:section name="Why it works: the CLT" id="{748C8E2B-C120-806D-13B8-2A748280C314}">
          <p14:sldIdLst>
            <p14:sldId id="273"/>
            <p14:sldId id="274"/>
            <p14:sldId id="275"/>
            <p14:sldId id="276"/>
            <p14:sldId id="277"/>
            <p14:sldId id="278"/>
            <p14:sldId id="280"/>
          </p14:sldIdLst>
        </p14:section>
        <p14:section name="Confidence intervals and tests" id="{EC85BDFA-5B86-60D6-8779-C5D5FBD4DBCF}">
          <p14:sldIdLst>
            <p14:sldId id="281"/>
            <p14:sldId id="282"/>
            <p14:sldId id="283"/>
            <p14:sldId id="279"/>
            <p14:sldId id="314"/>
            <p14:sldId id="284"/>
            <p14:sldId id="285"/>
            <p14:sldId id="317"/>
            <p14:sldId id="286"/>
            <p14:sldId id="287"/>
            <p14:sldId id="288"/>
            <p14:sldId id="289"/>
            <p14:sldId id="318"/>
            <p14:sldId id="290"/>
            <p14:sldId id="291"/>
            <p14:sldId id="292"/>
          </p14:sldIdLst>
        </p14:section>
        <p14:section name="Summary" id="{4CA951EF-01A1-6F92-4FC1-D22C9F35AFD0}">
          <p14:sldIdLst>
            <p14:sldId id="321"/>
            <p14:sldId id="322"/>
            <p14:sldId id="323"/>
            <p14:sldId id="325"/>
            <p14:sldId id="319"/>
            <p14:sldId id="320"/>
            <p14:sldId id="295"/>
            <p14:sldId id="293"/>
            <p14:sldId id="316"/>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201"/>
    <p:restoredTop sz="72721"/>
  </p:normalViewPr>
  <p:slideViewPr>
    <p:cSldViewPr snapToGrid="0" snapToObjects="1">
      <p:cViewPr varScale="1">
        <p:scale>
          <a:sx n="97" d="100"/>
          <a:sy n="97" d="100"/>
        </p:scale>
        <p:origin x="3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2123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F43FA-02CD-3C95-BA5E-083192BAEA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9CB6E5-ECEA-7E0C-9BAA-6B07C74E0E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13970F-D60A-A3B3-49FE-86204E9D52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E11AE5-316F-CBCD-BBCF-744F8D31E60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304612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x̄ = 5; deviations −3, −1, 0, 1, 3; sum of squares 20. Divide by n: 4 (the spread of these five numbers). Divide by n − 1: s² = 5 (estimate of the population variance). SE = √(5/5) = 1, or 20/(5 × 4) = 1.</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764BD-EDB2-6413-BCE3-0BA9C03B1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939D04-7ECB-B5F4-CDEE-8FE5F9D66D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278FB9-6637-8741-7384-3C27C24FB7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23B1C1-E598-2A16-EBAF-9E10373EE70E}"/>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8302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we're allowed to make the bet: the bootstrap error (θ̂* − θ̂) behaves like the real error (θ̂ − θ).</a:t>
            </a:r>
          </a:p>
          <a:p>
            <a:r>
              <a:rPr lang="en-US" dirty="0"/>
              <a:t>1. Plug-in. The sampling distribution depends only on the population F and the recipe. The bootstrap runs the same recipe on F̂, our sample treated as the population. If F̂ is close to F, the two distributions are close. Glivenko–Cantelli and DKW guarantee F̂ → F as n grows.</a:t>
            </a:r>
          </a:p>
          <a:p>
            <a:r>
              <a:rPr lang="en-US" dirty="0"/>
              <a:t>2. For the mean, the CLT makes it concrete. The real error √n(x̄ − μ) ≈ N(0, σ²). The bootstrap error √n(x̄* − x̄) ≈ N(0, σ̂²), by the CLT applied inside the bootstrap world. Since σ̂ → σ, they match. The bet is the CLT applied twice.</a:t>
            </a:r>
          </a:p>
          <a:p>
            <a:r>
              <a:rPr lang="en-US" dirty="0"/>
              <a:t>3. It holds for smooth statistics, not all statistics. AoS Thm 8.3 (and Bickel &amp; Freedman 1981) prove bootstrap consistency for statistics that depend smoothly on F: means, smooth functions of means, regression coefficients. It fails for the sample maximum, dependent data, very heavy tails, and very small n.</a:t>
            </a:r>
          </a:p>
          <a:p>
            <a:r>
              <a:rPr lang="en-US" dirty="0"/>
              <a:t>Why the error and not θ̂ itself: θ̂* is centered at θ̂, not θ, so the bootstrap can't tell us where θ is. The error is centered near 0 in both worlds, and its spread and shape transfer. That's the 'spread and shape, never location' line.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{0, 4}: samples (0,0), (0,4), (4,0), (4,4) give x̄ = 0, 2, 2, 4. </a:t>
            </a:r>
            <a:r>
              <a:rPr lang="en-US" sz="1200" dirty="0" err="1">
                <a:solidFill>
                  <a:srgbClr val="3A3A3A"/>
                </a:solidFill>
                <a:latin typeface="Aptos" pitchFamily="34" charset="0"/>
                <a:ea typeface="Aptos" pitchFamily="34" charset="-122"/>
                <a:cs typeface="Aptos" pitchFamily="34" charset="-120"/>
              </a:rPr>
              <a:t>μ</a:t>
            </a:r>
            <a:r>
              <a:rPr lang="en-US" sz="1200" dirty="0">
                <a:solidFill>
                  <a:srgbClr val="3A3A3A"/>
                </a:solidFill>
                <a:latin typeface="Aptos" pitchFamily="34" charset="0"/>
                <a:ea typeface="Aptos" pitchFamily="34" charset="-122"/>
                <a:cs typeface="Aptos" pitchFamily="34" charset="-120"/>
              </a:rPr>
              <a:t> = 2, σ² = 4, V[x̄] = (4 + 0 + 0 + 4)/4 = 2 = σ²/n, true SE = √2 = 1.41</a:t>
            </a:r>
            <a:endParaRPr lang="en-US" sz="1200" dirty="0"/>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(0, 4): s² = 8, estimated SE = √(8/2) = 2. (4, 4): s² = 0, estimated SE = 0. Neither is a mistake: each is an estimate from one sample, and (4, 4) happens to show none of the population's spread</a:t>
            </a:r>
            <a:endParaRPr lang="en-US" sz="1200" dirty="0"/>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Average s² = (0 + 8 + 8 + 0)/4 = 4 = σ² (</a:t>
            </a:r>
            <a:r>
              <a:rPr lang="en-US" sz="1200" b="1" dirty="0">
                <a:solidFill>
                  <a:srgbClr val="FF42A1"/>
                </a:solidFill>
                <a:latin typeface="Aptos" pitchFamily="34" charset="0"/>
                <a:ea typeface="Aptos" pitchFamily="34" charset="-122"/>
                <a:cs typeface="Aptos" pitchFamily="34" charset="-120"/>
              </a:rPr>
              <a:t>unbiased</a:t>
            </a:r>
            <a:r>
              <a:rPr lang="en-US" sz="1200" dirty="0">
                <a:solidFill>
                  <a:srgbClr val="3A3A3A"/>
                </a:solidFill>
                <a:latin typeface="Aptos" pitchFamily="34" charset="0"/>
                <a:ea typeface="Aptos" pitchFamily="34" charset="-122"/>
                <a:cs typeface="Aptos" pitchFamily="34" charset="-120"/>
              </a:rPr>
              <a:t>). Average estimated SE = (0 + 2 + 2 + 0)/4 = 1, not 1.41 (</a:t>
            </a:r>
            <a:r>
              <a:rPr lang="en-US" sz="1200" b="1" dirty="0">
                <a:solidFill>
                  <a:srgbClr val="FF42A1"/>
                </a:solidFill>
                <a:latin typeface="Aptos" pitchFamily="34" charset="0"/>
                <a:ea typeface="Aptos" pitchFamily="34" charset="-122"/>
                <a:cs typeface="Aptos" pitchFamily="34" charset="-120"/>
              </a:rPr>
              <a:t>biased low</a:t>
            </a:r>
            <a:r>
              <a:rPr lang="en-US" sz="1200" dirty="0">
                <a:solidFill>
                  <a:srgbClr val="3A3A3A"/>
                </a:solidFill>
                <a:latin typeface="Aptos" pitchFamily="34" charset="0"/>
                <a:ea typeface="Aptos" pitchFamily="34" charset="-122"/>
                <a:cs typeface="Aptos" pitchFamily="34" charset="-120"/>
              </a:rPr>
              <a:t>)</a:t>
            </a:r>
            <a:endParaRPr lang="en-US" sz="1200" dirty="0"/>
          </a:p>
          <a:p>
            <a:endParaRPr lang="en-US" dirty="0"/>
          </a:p>
        </p:txBody>
      </p:sp>
    </p:spTree>
    <p:extLst>
      <p:ext uri="{BB962C8B-B14F-4D97-AF65-F5344CB8AC3E}">
        <p14:creationId xmlns:p14="http://schemas.microsoft.com/office/powerpoint/2010/main" val="19751342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37933437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90% (1.78, 18.23); 95% (0.20, 19.80); 99% (−2.88, 22.88). Significant at 90% and 95%, not at 99%.</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0A789-E9F7-DFE7-7D46-0F6F14981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1F3437-10FD-9004-0159-11CCEC064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CA49BC-5BCB-3FC6-5263-F9ABDED60B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7355FD-A5E8-D8DA-C2BA-0EC63271D31F}"/>
              </a:ext>
            </a:extLst>
          </p:cNvPr>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25868427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lvl="0"/>
            <a:r>
              <a:rPr lang="en-US" sz="1200" b="0" i="0" kern="1200" dirty="0">
                <a:solidFill>
                  <a:schemeClr val="tx1"/>
                </a:solidFill>
                <a:effectLst/>
                <a:latin typeface="+mn-lt"/>
                <a:ea typeface="+mn-ea"/>
                <a:cs typeface="+mn-cs"/>
              </a:rPr>
              <a:t>Non-parametric exploration of data before explicit modeling</a:t>
            </a:r>
          </a:p>
          <a:p>
            <a:pPr lvl="0"/>
            <a:r>
              <a:rPr lang="en-US" sz="1200" b="0" i="0" kern="1200" dirty="0">
                <a:solidFill>
                  <a:schemeClr val="tx1"/>
                </a:solidFill>
                <a:effectLst/>
                <a:latin typeface="+mn-lt"/>
                <a:ea typeface="+mn-ea"/>
                <a:cs typeface="+mn-cs"/>
              </a:rPr>
              <a:t>Non-parametric bootstrap evaluation of parameters or predictions, in every assignment</a:t>
            </a:r>
          </a:p>
          <a:p>
            <a:pPr lvl="0"/>
            <a:r>
              <a:rPr lang="en-US" sz="1200" b="0" i="0" kern="1200" dirty="0">
                <a:solidFill>
                  <a:schemeClr val="tx1"/>
                </a:solidFill>
                <a:effectLst/>
                <a:latin typeface="+mn-lt"/>
                <a:ea typeface="+mn-ea"/>
                <a:cs typeface="+mn-cs"/>
              </a:rPr>
              <a:t>For these models, ESTIMATION and then INFERENCE and then PREDICTION in every lab</a:t>
            </a:r>
          </a:p>
          <a:p>
            <a:pPr lvl="0"/>
            <a:r>
              <a:rPr lang="en-US" sz="1200" b="0" i="0" kern="1200" dirty="0">
                <a:solidFill>
                  <a:schemeClr val="tx1"/>
                </a:solidFill>
                <a:effectLst/>
                <a:latin typeface="+mn-lt"/>
                <a:ea typeface="+mn-ea"/>
                <a:cs typeface="+mn-cs"/>
              </a:rPr>
              <a:t>Focus on the idea and the application (e.g. count data and Poisson), rather than a mathematical derivation</a:t>
            </a:r>
          </a:p>
          <a:p>
            <a:pPr lvl="0"/>
            <a:r>
              <a:rPr lang="en-US" sz="1200" b="0" i="0" kern="1200" dirty="0">
                <a:solidFill>
                  <a:schemeClr val="tx1"/>
                </a:solidFill>
                <a:effectLst/>
                <a:latin typeface="+mn-lt"/>
                <a:ea typeface="+mn-ea"/>
                <a:cs typeface="+mn-cs"/>
              </a:rPr>
              <a:t>Our job is INFERENCE about parameters and quantifying the uncertainty of PREDICTIONS; we're not worried about the machine learning part, but about exploiting the inference framework we've built using resampling to instill a worldview in the students that resampling methods are the natural solution to most problems</a:t>
            </a:r>
          </a:p>
          <a:p>
            <a:endParaRPr lang="en-US" dirty="0"/>
          </a:p>
        </p:txBody>
      </p:sp>
    </p:spTree>
    <p:extLst>
      <p:ext uri="{BB962C8B-B14F-4D97-AF65-F5344CB8AC3E}">
        <p14:creationId xmlns:p14="http://schemas.microsoft.com/office/powerpoint/2010/main" val="36739699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21109706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3952270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2194560"/>
          </a:xfrm>
          <a:prstGeom prst="rect">
            <a:avLst/>
          </a:prstGeom>
          <a:noFill/>
          <a:ln/>
        </p:spPr>
        <p:txBody>
          <a:bodyPr wrap="square" rtlCol="0"/>
          <a:lstStyle>
            <a:lvl1pPr marL="0" indent="0" algn="ctr">
              <a:buNone/>
              <a:defRPr lang="en-US" sz="6000" b="1" dirty="0">
                <a:solidFill>
                  <a:schemeClr val="tx1"/>
                </a:solidFill>
              </a:defRPr>
            </a:lvl1pPr>
          </a:lstStyle>
          <a:p>
            <a:pPr marL="0" indent="0" algn="ctr">
              <a:buNone/>
            </a:pPr>
            <a:endParaRPr lang="en-US" sz="6000" dirty="0"/>
          </a:p>
        </p:txBody>
      </p:sp>
      <p:sp>
        <p:nvSpPr>
          <p:cNvPr id="3" name="Text 0"/>
          <p:cNvSpPr>
            <a:spLocks noGrp="1"/>
          </p:cNvSpPr>
          <p:nvPr>
            <p:ph type="body" idx="101" hasCustomPrompt="1"/>
          </p:nvPr>
        </p:nvSpPr>
        <p:spPr>
          <a:xfrm>
            <a:off x="731520" y="4206240"/>
            <a:ext cx="10698480" cy="731520"/>
          </a:xfrm>
          <a:prstGeom prst="rect">
            <a:avLst/>
          </a:prstGeom>
          <a:noFill/>
          <a:ln/>
        </p:spPr>
        <p:txBody>
          <a:bodyPr wrap="square" rtlCol="0"/>
          <a:lstStyle>
            <a:lvl1pPr marL="0" indent="0" algn="ctr">
              <a:buNone/>
              <a:defRPr lang="en-US" sz="2000" dirty="0">
                <a:solidFill>
                  <a:schemeClr val="tx2"/>
                </a:solidFill>
              </a:defRPr>
            </a:lvl1pPr>
          </a:lstStyle>
          <a:p>
            <a:pPr marL="0" indent="0" algn="ctr">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45920"/>
            <a:ext cx="10698480" cy="3566160"/>
          </a:xfrm>
          <a:prstGeom prst="rect">
            <a:avLst/>
          </a:prstGeom>
          <a:noFill/>
          <a:ln/>
        </p:spPr>
        <p:txBody>
          <a:bodyPr wrap="square" rtlCol="0"/>
          <a:lstStyle>
            <a:lvl1pPr marL="0" indent="0" algn="ctr">
              <a:buNone/>
              <a:defRPr lang="en-US" sz="6000" b="1" dirty="0">
                <a:solidFill>
                  <a:schemeClr val="tx1"/>
                </a:solidFill>
              </a:defRPr>
            </a:lvl1pPr>
          </a:lstStyle>
          <a:p>
            <a:pPr marL="0" indent="0" algn="ctr">
              <a:buNone/>
            </a:pPr>
            <a:endParaRPr lang="en-US" sz="6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7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4.xml"/><Relationship Id="rId5" Type="http://schemas.openxmlformats.org/officeDocument/2006/relationships/image" Target="../media/image49.png"/><Relationship Id="rId4" Type="http://schemas.openxmlformats.org/officeDocument/2006/relationships/image" Target="../media/image48.png"/></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openxmlformats.org/officeDocument/2006/relationships/image" Target="../media/image52.png"/><Relationship Id="rId4" Type="http://schemas.openxmlformats.org/officeDocument/2006/relationships/image" Target="../media/image51.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55.png"/><Relationship Id="rId4" Type="http://schemas.openxmlformats.org/officeDocument/2006/relationships/image" Target="../media/image54.png"/></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4.xml"/><Relationship Id="rId5" Type="http://schemas.openxmlformats.org/officeDocument/2006/relationships/image" Target="../media/image58.png"/><Relationship Id="rId4" Type="http://schemas.openxmlformats.org/officeDocument/2006/relationships/image" Target="../media/image57.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2194560"/>
          </a:xfrm>
          <a:prstGeom prst="rect">
            <a:avLst/>
          </a:prstGeom>
          <a:noFill/>
          <a:ln/>
        </p:spPr>
        <p:txBody>
          <a:bodyPr wrap="square" lIns="0" tIns="0" rIns="0" bIns="0" rtlCol="0" anchor="b"/>
          <a:lstStyle/>
          <a:p>
            <a:pPr marL="0" indent="0" algn="ctr">
              <a:buNone/>
            </a:pPr>
            <a:r>
              <a:rPr lang="en-US" sz="6000" b="1" dirty="0">
                <a:solidFill>
                  <a:schemeClr val="tx1"/>
                </a:solidFill>
              </a:rPr>
              <a:t>From Bootstrap to</a:t>
            </a:r>
            <a:endParaRPr lang="en-US" sz="6000" dirty="0"/>
          </a:p>
          <a:p>
            <a:pPr marL="0" indent="0" algn="ctr">
              <a:buNone/>
            </a:pPr>
            <a:r>
              <a:rPr lang="en-US" sz="6000" b="1" dirty="0">
                <a:solidFill>
                  <a:schemeClr val="tx1"/>
                </a:solidFill>
              </a:rPr>
              <a:t>Asymptotic Inference</a:t>
            </a:r>
            <a:endParaRPr lang="en-US" sz="6000" dirty="0"/>
          </a:p>
        </p:txBody>
      </p:sp>
      <p:sp>
        <p:nvSpPr>
          <p:cNvPr id="3" name="Text 0"/>
          <p:cNvSpPr>
            <a:spLocks noGrp="1"/>
          </p:cNvSpPr>
          <p:nvPr>
            <p:ph type="body" idx="101" hasCustomPrompt="1"/>
          </p:nvPr>
        </p:nvSpPr>
        <p:spPr>
          <a:xfrm>
            <a:off x="731520" y="4206240"/>
            <a:ext cx="10698480" cy="731520"/>
          </a:xfrm>
          <a:prstGeom prst="rect">
            <a:avLst/>
          </a:prstGeom>
          <a:noFill/>
          <a:ln/>
        </p:spPr>
        <p:txBody>
          <a:bodyPr wrap="square" lIns="0" tIns="0" rIns="0" bIns="0" rtlCol="0" anchor="t"/>
          <a:lstStyle/>
          <a:p>
            <a:pPr marL="0" indent="0" algn="ctr">
              <a:buNone/>
            </a:pPr>
            <a:r>
              <a:rPr lang="en-US" sz="2000" dirty="0">
                <a:solidFill>
                  <a:schemeClr val="tx2"/>
                </a:solidFill>
              </a:rPr>
              <a:t>Standard errors, the CLT, and confidence intervals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Where we are/where we are going</a:t>
            </a:r>
            <a:endParaRPr lang="en-US" sz="3000" dirty="0"/>
          </a:p>
        </p:txBody>
      </p:sp>
      <p:sp>
        <p:nvSpPr>
          <p:cNvPr id="3" name="Text 1"/>
          <p:cNvSpPr txBox="1"/>
          <p:nvPr/>
        </p:nvSpPr>
        <p:spPr>
          <a:xfrm>
            <a:off x="548640" y="1280160"/>
            <a:ext cx="11064240" cy="4269740"/>
          </a:xfrm>
          <a:prstGeom prst="rect">
            <a:avLst/>
          </a:prstGeom>
          <a:noFill/>
          <a:ln/>
        </p:spPr>
        <p:txBody>
          <a:bodyPr wrap="square" lIns="0" tIns="0" rIns="0" bIns="0" rtlCol="0" anchor="t"/>
          <a:lstStyle/>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We're going to show how you can approximate </a:t>
            </a:r>
            <a:r>
              <a:rPr lang="en-US" sz="2200" dirty="0">
                <a:solidFill>
                  <a:schemeClr val="accent1"/>
                </a:solidFill>
                <a:latin typeface="Aptos" pitchFamily="34" charset="0"/>
                <a:ea typeface="Aptos" pitchFamily="34" charset="-122"/>
                <a:cs typeface="Aptos" pitchFamily="34" charset="-120"/>
              </a:rPr>
              <a:t>non-parametric bootstrap </a:t>
            </a:r>
            <a:r>
              <a:rPr lang="en-US" sz="2200" dirty="0">
                <a:solidFill>
                  <a:srgbClr val="3A3A3A"/>
                </a:solidFill>
                <a:latin typeface="Aptos" pitchFamily="34" charset="0"/>
                <a:ea typeface="Aptos" pitchFamily="34" charset="-122"/>
                <a:cs typeface="Aptos" pitchFamily="34" charset="-120"/>
              </a:rPr>
              <a:t>inference by using the </a:t>
            </a:r>
            <a:r>
              <a:rPr lang="en-US" sz="2200" dirty="0">
                <a:solidFill>
                  <a:schemeClr val="accent1"/>
                </a:solidFill>
                <a:latin typeface="Aptos" pitchFamily="34" charset="0"/>
                <a:ea typeface="Aptos" pitchFamily="34" charset="-122"/>
                <a:cs typeface="Aptos" pitchFamily="34" charset="-120"/>
              </a:rPr>
              <a:t>Normal distribution</a:t>
            </a:r>
            <a:endParaRPr lang="en-US" sz="2200" dirty="0">
              <a:solidFill>
                <a:schemeClr val="accent1"/>
              </a:solidFill>
            </a:endParaRPr>
          </a:p>
          <a:p>
            <a:pPr marL="228600" indent="-228600">
              <a:spcAft>
                <a:spcPts val="600"/>
              </a:spcAft>
              <a:buSzPct val="100000"/>
              <a:buChar char="•"/>
            </a:pPr>
            <a:r>
              <a:rPr lang="en-US" sz="2200" dirty="0">
                <a:solidFill>
                  <a:srgbClr val="3A3A3A"/>
                </a:solidFill>
                <a:latin typeface="Aptos" pitchFamily="34" charset="0"/>
              </a:rPr>
              <a:t>Some of this will be review from two weeks ago</a:t>
            </a:r>
          </a:p>
          <a:p>
            <a:pPr marL="228600" indent="-228600">
              <a:spcAft>
                <a:spcPts val="600"/>
              </a:spcAft>
              <a:buSzPct val="100000"/>
              <a:buChar char="•"/>
            </a:pPr>
            <a:r>
              <a:rPr lang="en-US" sz="2200" dirty="0">
                <a:solidFill>
                  <a:srgbClr val="3A3A3A"/>
                </a:solidFill>
                <a:latin typeface="Aptos" pitchFamily="34" charset="0"/>
              </a:rPr>
              <a:t>Some/all will be review if you have a background in stats (leave now or forever hold your peace!)</a:t>
            </a:r>
          </a:p>
          <a:p>
            <a:pPr marL="228600" indent="-228600">
              <a:spcAft>
                <a:spcPts val="600"/>
              </a:spcAft>
              <a:buSzPct val="100000"/>
              <a:buChar char="•"/>
            </a:pPr>
            <a:r>
              <a:rPr lang="en-US" sz="2200" dirty="0">
                <a:solidFill>
                  <a:srgbClr val="3A3A3A"/>
                </a:solidFill>
                <a:latin typeface="Aptos" pitchFamily="34" charset="0"/>
              </a:rPr>
              <a:t>Our goal today is build up the pieces we’ve been learning into an </a:t>
            </a:r>
            <a:r>
              <a:rPr lang="en-US" sz="2200" b="1" dirty="0">
                <a:solidFill>
                  <a:srgbClr val="3A3A3A"/>
                </a:solidFill>
                <a:latin typeface="Aptos" pitchFamily="34" charset="0"/>
              </a:rPr>
              <a:t>inference routine </a:t>
            </a:r>
            <a:r>
              <a:rPr lang="en-US" sz="2200" dirty="0">
                <a:solidFill>
                  <a:srgbClr val="3A3A3A"/>
                </a:solidFill>
                <a:latin typeface="Aptos" pitchFamily="34" charset="0"/>
              </a:rPr>
              <a:t>that you can use anytime you need to understand the uncertainty of an estimator</a:t>
            </a:r>
          </a:p>
          <a:p>
            <a:pPr marL="228600" indent="-228600">
              <a:spcAft>
                <a:spcPts val="600"/>
              </a:spcAft>
              <a:buSzPct val="100000"/>
              <a:buFontTx/>
              <a:buChar char="•"/>
            </a:pPr>
            <a:r>
              <a:rPr lang="en-US" sz="2200" dirty="0">
                <a:solidFill>
                  <a:srgbClr val="3A3A3A"/>
                </a:solidFill>
                <a:latin typeface="Aptos" pitchFamily="34" charset="0"/>
                <a:ea typeface="Aptos" pitchFamily="34" charset="-122"/>
                <a:cs typeface="Aptos" pitchFamily="34" charset="-120"/>
              </a:rPr>
              <a:t>Our running example will be </a:t>
            </a:r>
            <a:r>
              <a:rPr lang="en-US" sz="2200" b="1" dirty="0">
                <a:solidFill>
                  <a:srgbClr val="FF42A1"/>
                </a:solidFill>
                <a:latin typeface="Aptos" pitchFamily="34" charset="0"/>
                <a:ea typeface="Aptos" pitchFamily="34" charset="-122"/>
                <a:cs typeface="Aptos" pitchFamily="34" charset="-120"/>
              </a:rPr>
              <a:t>hedonic pricing</a:t>
            </a:r>
            <a:r>
              <a:rPr lang="en-US" sz="2200" dirty="0">
                <a:solidFill>
                  <a:srgbClr val="3A3A3A"/>
                </a:solidFill>
                <a:latin typeface="Aptos" pitchFamily="34" charset="0"/>
                <a:ea typeface="Aptos" pitchFamily="34" charset="-122"/>
                <a:cs typeface="Aptos" pitchFamily="34" charset="-120"/>
              </a:rPr>
              <a:t>: predicting the value of housing based on its amenities (square feet, bathrooms, total rooms, area, age)</a:t>
            </a:r>
          </a:p>
          <a:p>
            <a:pPr marL="228600" indent="-228600">
              <a:spcAft>
                <a:spcPts val="600"/>
              </a:spcAft>
              <a:buSzPct val="100000"/>
              <a:buChar char="•"/>
            </a:pPr>
            <a:endParaRPr lang="en-US" sz="2200" dirty="0">
              <a:solidFill>
                <a:srgbClr val="3A3A3A"/>
              </a:solidFill>
              <a:latin typeface="Aptos" pitchFamily="34" charset="0"/>
            </a:endParaRPr>
          </a:p>
          <a:p>
            <a:pPr marL="228600" indent="-228600">
              <a:spcAft>
                <a:spcPts val="600"/>
              </a:spcAft>
              <a:buSzPct val="100000"/>
              <a:buChar char="•"/>
            </a:pPr>
            <a:endParaRPr lang="en-US" sz="2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Roadmap for today</a:t>
            </a:r>
            <a:endParaRPr lang="en-US" sz="3000" dirty="0"/>
          </a:p>
        </p:txBody>
      </p:sp>
      <p:sp>
        <p:nvSpPr>
          <p:cNvPr id="3" name="Text 1"/>
          <p:cNvSpPr txBox="1"/>
          <p:nvPr/>
        </p:nvSpPr>
        <p:spPr>
          <a:xfrm>
            <a:off x="548640" y="1280160"/>
            <a:ext cx="11064240" cy="2926080"/>
          </a:xfrm>
          <a:prstGeom prst="rect">
            <a:avLst/>
          </a:prstGeom>
          <a:noFill/>
          <a:ln/>
        </p:spPr>
        <p:txBody>
          <a:bodyPr wrap="square" lIns="0" tIns="0" rIns="0" bIns="0" rtlCol="0" anchor="t"/>
          <a:lstStyle/>
          <a:p>
            <a:pPr marL="0" indent="0">
              <a:spcAft>
                <a:spcPts val="1000"/>
              </a:spcAft>
              <a:buNone/>
            </a:pPr>
            <a:r>
              <a:rPr lang="en-US" sz="2200" dirty="0">
                <a:solidFill>
                  <a:srgbClr val="3A3A3A"/>
                </a:solidFill>
              </a:rPr>
              <a:t>1.  Review: the sampling distribution and the standard error</a:t>
            </a:r>
            <a:endParaRPr lang="en-US" sz="2200" dirty="0"/>
          </a:p>
          <a:p>
            <a:pPr marL="0" indent="0">
              <a:spcAft>
                <a:spcPts val="1000"/>
              </a:spcAft>
              <a:buNone/>
            </a:pPr>
            <a:r>
              <a:rPr lang="en-US" sz="2200" dirty="0">
                <a:solidFill>
                  <a:srgbClr val="3A3A3A"/>
                </a:solidFill>
              </a:rPr>
              <a:t>2.  Bootstrapping a regression</a:t>
            </a:r>
            <a:endParaRPr lang="en-US" sz="2200" dirty="0"/>
          </a:p>
          <a:p>
            <a:pPr marL="0" indent="0">
              <a:spcAft>
                <a:spcPts val="1000"/>
              </a:spcAft>
              <a:buNone/>
            </a:pPr>
            <a:r>
              <a:rPr lang="en-US" sz="2200" dirty="0">
                <a:solidFill>
                  <a:srgbClr val="3A3A3A"/>
                </a:solidFill>
              </a:rPr>
              <a:t>3.  Why the bell curve keeps showing up: the CLT</a:t>
            </a:r>
            <a:endParaRPr lang="en-US" sz="2200" dirty="0"/>
          </a:p>
          <a:p>
            <a:pPr marL="0" indent="0">
              <a:spcAft>
                <a:spcPts val="1000"/>
              </a:spcAft>
              <a:buNone/>
            </a:pPr>
            <a:r>
              <a:rPr lang="en-US" sz="2200" dirty="0">
                <a:solidFill>
                  <a:srgbClr val="3A3A3A"/>
                </a:solidFill>
              </a:rPr>
              <a:t>4.  Confidence intervals and tests</a:t>
            </a:r>
            <a:endParaRPr lang="en-US" sz="2200" dirty="0"/>
          </a:p>
          <a:p>
            <a:pPr marL="457200" indent="-457200">
              <a:spcAft>
                <a:spcPts val="1000"/>
              </a:spcAft>
              <a:buAutoNum type="arabicPeriod" startAt="5"/>
            </a:pPr>
            <a:r>
              <a:rPr lang="en-US" sz="2200" dirty="0">
                <a:solidFill>
                  <a:srgbClr val="3A3A3A"/>
                </a:solidFill>
              </a:rPr>
              <a:t>When it breaks</a:t>
            </a:r>
          </a:p>
          <a:p>
            <a:pPr marL="457200" indent="-457200">
              <a:spcAft>
                <a:spcPts val="1000"/>
              </a:spcAft>
              <a:buAutoNum type="arabicPeriod" startAt="5"/>
            </a:pPr>
            <a:r>
              <a:rPr lang="en-US" sz="2200" dirty="0">
                <a:solidFill>
                  <a:srgbClr val="3A3A3A"/>
                </a:solidFill>
              </a:rPr>
              <a:t>Our inference routine</a:t>
            </a:r>
            <a:endParaRPr lang="en-US" sz="2200" dirty="0"/>
          </a:p>
        </p:txBody>
      </p:sp>
      <p:sp>
        <p:nvSpPr>
          <p:cNvPr id="4" name="Text 2"/>
          <p:cNvSpPr txBox="1"/>
          <p:nvPr/>
        </p:nvSpPr>
        <p:spPr>
          <a:xfrm>
            <a:off x="548640" y="5120640"/>
            <a:ext cx="11064240" cy="457200"/>
          </a:xfrm>
          <a:prstGeom prst="rect">
            <a:avLst/>
          </a:prstGeom>
          <a:noFill/>
          <a:ln/>
        </p:spPr>
        <p:txBody>
          <a:bodyPr wrap="square" lIns="0" tIns="0" rIns="0" bIns="0" rtlCol="0" anchor="ctr"/>
          <a:lstStyle/>
          <a:p>
            <a:pPr marL="0" indent="0" algn="ctr">
              <a:buNone/>
            </a:pPr>
            <a:r>
              <a:rPr lang="en-US" sz="2000" b="1" dirty="0">
                <a:solidFill>
                  <a:srgbClr val="FF42A1"/>
                </a:solidFill>
              </a:rPr>
              <a:t>every interval today is: estimate ± c × SE</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45920"/>
            <a:ext cx="10698480" cy="3566160"/>
          </a:xfrm>
          <a:prstGeom prst="rect">
            <a:avLst/>
          </a:prstGeom>
          <a:noFill/>
          <a:ln/>
        </p:spPr>
        <p:txBody>
          <a:bodyPr wrap="square" lIns="0" tIns="0" rIns="0" bIns="0" rtlCol="0" anchor="ctr"/>
          <a:lstStyle/>
          <a:p>
            <a:pPr marL="0" indent="0" algn="ctr">
              <a:buNone/>
            </a:pPr>
            <a:r>
              <a:rPr lang="en-US" sz="6000" b="1" dirty="0">
                <a:solidFill>
                  <a:schemeClr val="tx1"/>
                </a:solidFill>
              </a:rPr>
              <a:t>The sampling</a:t>
            </a:r>
            <a:r>
              <a:rPr lang="en-US" b="1" dirty="0">
                <a:solidFill>
                  <a:schemeClr val="tx1"/>
                </a:solidFill>
              </a:rPr>
              <a:t> </a:t>
            </a:r>
            <a:r>
              <a:rPr lang="en-US" dirty="0"/>
              <a:t>d</a:t>
            </a:r>
            <a:r>
              <a:rPr lang="en-US" sz="6000" b="1" dirty="0">
                <a:solidFill>
                  <a:schemeClr val="tx1"/>
                </a:solidFill>
              </a:rPr>
              <a:t>istribution and standard error</a:t>
            </a:r>
            <a:endParaRPr lang="en-US" sz="6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Review: The Sampling Distribution</a:t>
            </a:r>
            <a:endParaRPr lang="en-US" sz="3000" dirty="0"/>
          </a:p>
        </p:txBody>
      </p:sp>
      <mc:AlternateContent xmlns:mc="http://schemas.openxmlformats.org/markup-compatibility/2006" xmlns:a14="http://schemas.microsoft.com/office/drawing/2010/main">
        <mc:Choice Requires="a14">
          <p:sp>
            <p:nvSpPr>
              <p:cNvPr id="3" name="Text 1"/>
              <p:cNvSpPr txBox="1"/>
              <p:nvPr/>
            </p:nvSpPr>
            <p:spPr>
              <a:xfrm>
                <a:off x="548640" y="1280160"/>
                <a:ext cx="11064240" cy="2008124"/>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Imagine running the same study over and over, with a new sample each time</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Each study computes the same statistic </a:t>
                </a:r>
                <a14:m>
                  <m:oMath xmlns:m="http://schemas.openxmlformats.org/officeDocument/2006/math">
                    <m:acc>
                      <m:accPr>
                        <m:chr m:val="̂"/>
                        <m:ctrlPr>
                          <a:rPr lang="en-US" sz="2000" i="1">
                            <a:solidFill>
                              <a:srgbClr val="3A3A3A"/>
                            </a:solidFill>
                            <a:latin typeface="Cambria Math" panose="02040503050406030204" pitchFamily="18" charset="0"/>
                            <a:ea typeface="Cambria Math" panose="02040503050406030204" pitchFamily="18" charset="0"/>
                          </a:rPr>
                        </m:ctrlPr>
                      </m:accPr>
                      <m:e>
                        <m:r>
                          <a:rPr lang="en-US" sz="2000" i="1">
                            <a:solidFill>
                              <a:srgbClr val="3A3A3A"/>
                            </a:solidFill>
                            <a:latin typeface="Cambria Math" panose="02040503050406030204" pitchFamily="18" charset="0"/>
                            <a:ea typeface="Cambria Math" panose="02040503050406030204" pitchFamily="18" charset="0"/>
                          </a:rPr>
                          <m:t>𝜃</m:t>
                        </m:r>
                      </m:e>
                    </m:acc>
                    <m:r>
                      <a:rPr lang="en-US" sz="2000" b="0" i="1" smtClean="0">
                        <a:solidFill>
                          <a:srgbClr val="3A3A3A"/>
                        </a:solidFill>
                        <a:latin typeface="Cambria Math" panose="02040503050406030204" pitchFamily="18" charset="0"/>
                        <a:ea typeface="Cambria Math" panose="02040503050406030204" pitchFamily="18" charset="0"/>
                      </a:rPr>
                      <m:t> </m:t>
                    </m:r>
                  </m:oMath>
                </a14:m>
                <a:r>
                  <a:rPr lang="en-US" sz="2000" dirty="0">
                    <a:solidFill>
                      <a:srgbClr val="3A3A3A"/>
                    </a:solidFill>
                    <a:latin typeface="Aptos" pitchFamily="34" charset="0"/>
                    <a:ea typeface="Aptos" pitchFamily="34" charset="-122"/>
                    <a:cs typeface="Aptos" pitchFamily="34" charset="-120"/>
                  </a:rPr>
                  <a:t>(a mean, a coefficient, a median) and gets a different number</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The distribution of those numbers is the </a:t>
                </a:r>
                <a:r>
                  <a:rPr lang="en-US" sz="2000" b="1" dirty="0">
                    <a:solidFill>
                      <a:srgbClr val="FF42A1"/>
                    </a:solidFill>
                    <a:latin typeface="Aptos" pitchFamily="34" charset="0"/>
                    <a:ea typeface="Aptos" pitchFamily="34" charset="-122"/>
                    <a:cs typeface="Aptos" pitchFamily="34" charset="-120"/>
                  </a:rPr>
                  <a:t>sampling distribution</a:t>
                </a:r>
                <a:r>
                  <a:rPr lang="en-US" sz="2000" dirty="0">
                    <a:solidFill>
                      <a:srgbClr val="3A3A3A"/>
                    </a:solidFill>
                    <a:latin typeface="Aptos" pitchFamily="34" charset="0"/>
                    <a:ea typeface="Aptos" pitchFamily="34" charset="-122"/>
                    <a:cs typeface="Aptos" pitchFamily="34" charset="-120"/>
                  </a:rPr>
                  <a:t> of </a:t>
                </a:r>
                <a14:m>
                  <m:oMath xmlns:m="http://schemas.openxmlformats.org/officeDocument/2006/math">
                    <m:acc>
                      <m:accPr>
                        <m:chr m:val="̂"/>
                        <m:ctrlPr>
                          <a:rPr lang="en-US" sz="2000" i="1">
                            <a:solidFill>
                              <a:srgbClr val="3A3A3A"/>
                            </a:solidFill>
                            <a:latin typeface="Cambria Math" panose="02040503050406030204" pitchFamily="18" charset="0"/>
                            <a:ea typeface="Cambria Math" panose="02040503050406030204" pitchFamily="18" charset="0"/>
                          </a:rPr>
                        </m:ctrlPr>
                      </m:accPr>
                      <m:e>
                        <m:r>
                          <a:rPr lang="en-US" sz="2000" i="1">
                            <a:solidFill>
                              <a:srgbClr val="3A3A3A"/>
                            </a:solidFill>
                            <a:latin typeface="Cambria Math" panose="02040503050406030204" pitchFamily="18" charset="0"/>
                            <a:ea typeface="Cambria Math" panose="02040503050406030204" pitchFamily="18" charset="0"/>
                          </a:rPr>
                          <m:t>𝜃</m:t>
                        </m:r>
                      </m:e>
                    </m:acc>
                  </m:oMath>
                </a14:m>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The </a:t>
                </a:r>
                <a:r>
                  <a:rPr lang="en-US" sz="2000" b="1" dirty="0">
                    <a:solidFill>
                      <a:srgbClr val="FF42A1"/>
                    </a:solidFill>
                    <a:latin typeface="Aptos" pitchFamily="34" charset="0"/>
                    <a:ea typeface="Aptos" pitchFamily="34" charset="-122"/>
                    <a:cs typeface="Aptos" pitchFamily="34" charset="-120"/>
                  </a:rPr>
                  <a:t>standard error</a:t>
                </a:r>
                <a:r>
                  <a:rPr lang="en-US" sz="2000" dirty="0">
                    <a:solidFill>
                      <a:srgbClr val="3A3A3A"/>
                    </a:solidFill>
                    <a:latin typeface="Aptos" pitchFamily="34" charset="0"/>
                    <a:ea typeface="Aptos" pitchFamily="34" charset="-122"/>
                    <a:cs typeface="Aptos" pitchFamily="34" charset="-120"/>
                  </a:rPr>
                  <a:t> is the standard deviation of the sampling distribution:</a:t>
                </a:r>
                <a:endParaRPr lang="en-US" sz="2000" dirty="0"/>
              </a:p>
            </p:txBody>
          </p:sp>
        </mc:Choice>
        <mc:Fallback xmlns="">
          <p:sp>
            <p:nvSpPr>
              <p:cNvPr id="3" name="Text 1"/>
              <p:cNvSpPr txBox="1">
                <a:spLocks noRot="1" noChangeAspect="1" noMove="1" noResize="1" noEditPoints="1" noAdjustHandles="1" noChangeArrowheads="1" noChangeShapeType="1" noTextEdit="1"/>
              </p:cNvSpPr>
              <p:nvPr/>
            </p:nvSpPr>
            <p:spPr>
              <a:xfrm>
                <a:off x="548640" y="1280160"/>
                <a:ext cx="11064240" cy="2008124"/>
              </a:xfrm>
              <a:prstGeom prst="rect">
                <a:avLst/>
              </a:prstGeom>
              <a:blipFill>
                <a:blip r:embed="rId3"/>
                <a:stretch>
                  <a:fillRect l="-1376" t="-4403"/>
                </a:stretch>
              </a:blipFill>
              <a:ln/>
            </p:spPr>
            <p:txBody>
              <a:bodyPr/>
              <a:lstStyle/>
              <a:p>
                <a:r>
                  <a:rPr lang="en-US">
                    <a:noFill/>
                  </a:rPr>
                  <a:t> </a:t>
                </a:r>
              </a:p>
            </p:txBody>
          </p:sp>
        </mc:Fallback>
      </mc:AlternateContent>
      <p:pic>
        <p:nvPicPr>
          <p:cNvPr id="4" name="Image 0" descr="se_def"/>
          <p:cNvPicPr>
            <a:picLocks noChangeAspect="1"/>
          </p:cNvPicPr>
          <p:nvPr/>
        </p:nvPicPr>
        <p:blipFill>
          <a:blip r:embed="rId4"/>
          <a:stretch>
            <a:fillRect/>
          </a:stretch>
        </p:blipFill>
        <p:spPr>
          <a:xfrm>
            <a:off x="914400" y="3334004"/>
            <a:ext cx="2313432" cy="725261"/>
          </a:xfrm>
          <a:prstGeom prst="rect">
            <a:avLst/>
          </a:prstGeom>
        </p:spPr>
      </p:pic>
      <p:sp>
        <p:nvSpPr>
          <p:cNvPr id="5" name="Text 2"/>
          <p:cNvSpPr txBox="1"/>
          <p:nvPr/>
        </p:nvSpPr>
        <p:spPr>
          <a:xfrm>
            <a:off x="548640" y="4287865"/>
            <a:ext cx="11064240" cy="491236"/>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It is not the standard deviation of the data. It is the standard deviation of the </a:t>
            </a:r>
            <a:r>
              <a:rPr lang="en-US" sz="2000" b="1" dirty="0">
                <a:solidFill>
                  <a:srgbClr val="FF42A1"/>
                </a:solidFill>
                <a:latin typeface="Aptos" pitchFamily="34" charset="0"/>
                <a:ea typeface="Aptos" pitchFamily="34" charset="-122"/>
                <a:cs typeface="Aptos" pitchFamily="34" charset="-120"/>
              </a:rPr>
              <a:t>estimate</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6E445-0036-7580-ABAD-E72F6308A651}"/>
              </a:ext>
            </a:extLst>
          </p:cNvPr>
          <p:cNvSpPr>
            <a:spLocks noGrp="1"/>
          </p:cNvSpPr>
          <p:nvPr>
            <p:ph type="title" idx="100"/>
          </p:nvPr>
        </p:nvSpPr>
        <p:spPr>
          <a:xfrm>
            <a:off x="563880" y="1805940"/>
            <a:ext cx="11064240" cy="777240"/>
          </a:xfrm>
        </p:spPr>
        <p:txBody>
          <a:bodyPr/>
          <a:lstStyle/>
          <a:p>
            <a:pPr algn="ctr"/>
            <a:r>
              <a:rPr lang="en-US" sz="6000" dirty="0">
                <a:solidFill>
                  <a:srgbClr val="3A3A3A"/>
                </a:solidFill>
                <a:latin typeface="Aptos" pitchFamily="34" charset="0"/>
                <a:ea typeface="Aptos" pitchFamily="34" charset="-122"/>
                <a:cs typeface="Aptos" pitchFamily="34" charset="-120"/>
              </a:rPr>
              <a:t>The </a:t>
            </a:r>
            <a:r>
              <a:rPr lang="en-US" sz="6000" dirty="0">
                <a:solidFill>
                  <a:srgbClr val="FF42A1"/>
                </a:solidFill>
                <a:latin typeface="Aptos" pitchFamily="34" charset="0"/>
                <a:ea typeface="Aptos" pitchFamily="34" charset="-122"/>
                <a:cs typeface="Aptos" pitchFamily="34" charset="-120"/>
              </a:rPr>
              <a:t>standard error</a:t>
            </a:r>
            <a:r>
              <a:rPr lang="en-US" sz="6000" dirty="0">
                <a:solidFill>
                  <a:srgbClr val="3A3A3A"/>
                </a:solidFill>
                <a:latin typeface="Aptos" pitchFamily="34" charset="0"/>
                <a:ea typeface="Aptos" pitchFamily="34" charset="-122"/>
                <a:cs typeface="Aptos" pitchFamily="34" charset="-120"/>
              </a:rPr>
              <a:t> is the standard deviation of the sampling distribution</a:t>
            </a:r>
            <a:br>
              <a:rPr lang="en-US" sz="6000" dirty="0"/>
            </a:br>
            <a:endParaRPr lang="en-US" sz="5400" dirty="0"/>
          </a:p>
        </p:txBody>
      </p:sp>
    </p:spTree>
    <p:extLst>
      <p:ext uri="{BB962C8B-B14F-4D97-AF65-F5344CB8AC3E}">
        <p14:creationId xmlns:p14="http://schemas.microsoft.com/office/powerpoint/2010/main" val="3683880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1600B-E598-85F0-D490-61EFD37C76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6043CA-E470-9FC1-EE2B-47E7A1201487}"/>
              </a:ext>
            </a:extLst>
          </p:cNvPr>
          <p:cNvSpPr>
            <a:spLocks noGrp="1"/>
          </p:cNvSpPr>
          <p:nvPr>
            <p:ph type="title" idx="100"/>
          </p:nvPr>
        </p:nvSpPr>
        <p:spPr>
          <a:xfrm>
            <a:off x="563880" y="1805940"/>
            <a:ext cx="11064240" cy="777240"/>
          </a:xfrm>
        </p:spPr>
        <p:txBody>
          <a:bodyPr/>
          <a:lstStyle/>
          <a:p>
            <a:pPr algn="ctr"/>
            <a:r>
              <a:rPr lang="en-US" sz="6000" dirty="0">
                <a:solidFill>
                  <a:srgbClr val="3A3A3A"/>
                </a:solidFill>
                <a:latin typeface="Aptos" pitchFamily="34" charset="0"/>
                <a:ea typeface="Aptos" pitchFamily="34" charset="-122"/>
                <a:cs typeface="Aptos" pitchFamily="34" charset="-120"/>
              </a:rPr>
              <a:t>The </a:t>
            </a:r>
            <a:r>
              <a:rPr lang="en-US" sz="6000" dirty="0">
                <a:solidFill>
                  <a:srgbClr val="FF42A1"/>
                </a:solidFill>
                <a:latin typeface="Aptos" pitchFamily="34" charset="0"/>
                <a:ea typeface="Aptos" pitchFamily="34" charset="-122"/>
                <a:cs typeface="Aptos" pitchFamily="34" charset="-120"/>
              </a:rPr>
              <a:t>standard error</a:t>
            </a:r>
            <a:r>
              <a:rPr lang="en-US" sz="6000" dirty="0">
                <a:solidFill>
                  <a:srgbClr val="3A3A3A"/>
                </a:solidFill>
                <a:latin typeface="Aptos" pitchFamily="34" charset="0"/>
                <a:ea typeface="Aptos" pitchFamily="34" charset="-122"/>
                <a:cs typeface="Aptos" pitchFamily="34" charset="-120"/>
              </a:rPr>
              <a:t> is the standard deviation of the sampling distribution!</a:t>
            </a:r>
            <a:br>
              <a:rPr lang="en-US" sz="6000" dirty="0"/>
            </a:br>
            <a:endParaRPr lang="en-US" sz="5400" dirty="0"/>
          </a:p>
        </p:txBody>
      </p:sp>
    </p:spTree>
    <p:extLst>
      <p:ext uri="{BB962C8B-B14F-4D97-AF65-F5344CB8AC3E}">
        <p14:creationId xmlns:p14="http://schemas.microsoft.com/office/powerpoint/2010/main" val="4127183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C317A-CEB2-7742-BB6D-3C3B6800C5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4F2CE-F3E4-DBFE-EC46-466794C19543}"/>
              </a:ext>
            </a:extLst>
          </p:cNvPr>
          <p:cNvSpPr>
            <a:spLocks noGrp="1"/>
          </p:cNvSpPr>
          <p:nvPr>
            <p:ph type="title" idx="100"/>
          </p:nvPr>
        </p:nvSpPr>
        <p:spPr>
          <a:xfrm>
            <a:off x="563880" y="1805940"/>
            <a:ext cx="11064240" cy="777240"/>
          </a:xfrm>
        </p:spPr>
        <p:txBody>
          <a:bodyPr/>
          <a:lstStyle/>
          <a:p>
            <a:pPr algn="ctr"/>
            <a:r>
              <a:rPr lang="en-US" sz="6000" dirty="0">
                <a:solidFill>
                  <a:srgbClr val="3A3A3A"/>
                </a:solidFill>
                <a:latin typeface="Aptos" pitchFamily="34" charset="0"/>
                <a:ea typeface="Aptos" pitchFamily="34" charset="-122"/>
                <a:cs typeface="Aptos" pitchFamily="34" charset="-120"/>
              </a:rPr>
              <a:t>The </a:t>
            </a:r>
            <a:r>
              <a:rPr lang="en-US" sz="6000" dirty="0">
                <a:solidFill>
                  <a:srgbClr val="FF42A1"/>
                </a:solidFill>
                <a:latin typeface="Aptos" pitchFamily="34" charset="0"/>
                <a:ea typeface="Aptos" pitchFamily="34" charset="-122"/>
                <a:cs typeface="Aptos" pitchFamily="34" charset="-120"/>
              </a:rPr>
              <a:t>standard error</a:t>
            </a:r>
            <a:r>
              <a:rPr lang="en-US" sz="6000" dirty="0">
                <a:solidFill>
                  <a:srgbClr val="3A3A3A"/>
                </a:solidFill>
                <a:latin typeface="Aptos" pitchFamily="34" charset="0"/>
                <a:ea typeface="Aptos" pitchFamily="34" charset="-122"/>
                <a:cs typeface="Aptos" pitchFamily="34" charset="-120"/>
              </a:rPr>
              <a:t> is the standard deviation of the sampling distribution!!</a:t>
            </a:r>
            <a:br>
              <a:rPr lang="en-US" sz="6000" dirty="0"/>
            </a:br>
            <a:endParaRPr lang="en-US" sz="5400" dirty="0"/>
          </a:p>
        </p:txBody>
      </p:sp>
    </p:spTree>
    <p:extLst>
      <p:ext uri="{BB962C8B-B14F-4D97-AF65-F5344CB8AC3E}">
        <p14:creationId xmlns:p14="http://schemas.microsoft.com/office/powerpoint/2010/main" val="2411153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7C829-01F6-526E-6350-189B58B9C3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DB604-9488-879D-2200-C34A36CBE2BF}"/>
              </a:ext>
            </a:extLst>
          </p:cNvPr>
          <p:cNvSpPr>
            <a:spLocks noGrp="1"/>
          </p:cNvSpPr>
          <p:nvPr>
            <p:ph type="title" idx="100"/>
          </p:nvPr>
        </p:nvSpPr>
        <p:spPr>
          <a:xfrm>
            <a:off x="563880" y="1805940"/>
            <a:ext cx="11064240" cy="777240"/>
          </a:xfrm>
        </p:spPr>
        <p:txBody>
          <a:bodyPr/>
          <a:lstStyle/>
          <a:p>
            <a:pPr algn="ctr"/>
            <a:r>
              <a:rPr lang="en-US" sz="6000" dirty="0">
                <a:solidFill>
                  <a:srgbClr val="3A3A3A"/>
                </a:solidFill>
                <a:latin typeface="Aptos" pitchFamily="34" charset="0"/>
                <a:ea typeface="Aptos" pitchFamily="34" charset="-122"/>
                <a:cs typeface="Aptos" pitchFamily="34" charset="-120"/>
              </a:rPr>
              <a:t>The </a:t>
            </a:r>
            <a:r>
              <a:rPr lang="en-US" sz="6000" dirty="0">
                <a:solidFill>
                  <a:srgbClr val="FF42A1"/>
                </a:solidFill>
                <a:latin typeface="Aptos" pitchFamily="34" charset="0"/>
                <a:ea typeface="Aptos" pitchFamily="34" charset="-122"/>
                <a:cs typeface="Aptos" pitchFamily="34" charset="-120"/>
              </a:rPr>
              <a:t>standard error</a:t>
            </a:r>
            <a:r>
              <a:rPr lang="en-US" sz="6000" dirty="0">
                <a:solidFill>
                  <a:srgbClr val="3A3A3A"/>
                </a:solidFill>
                <a:latin typeface="Aptos" pitchFamily="34" charset="0"/>
                <a:ea typeface="Aptos" pitchFamily="34" charset="-122"/>
                <a:cs typeface="Aptos" pitchFamily="34" charset="-120"/>
              </a:rPr>
              <a:t> is the standard deviation of the sampling distribution!!!</a:t>
            </a:r>
            <a:br>
              <a:rPr lang="en-US" sz="6000" dirty="0"/>
            </a:br>
            <a:endParaRPr lang="en-US" sz="5400" dirty="0"/>
          </a:p>
        </p:txBody>
      </p:sp>
    </p:spTree>
    <p:extLst>
      <p:ext uri="{BB962C8B-B14F-4D97-AF65-F5344CB8AC3E}">
        <p14:creationId xmlns:p14="http://schemas.microsoft.com/office/powerpoint/2010/main" val="2330766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F8B74-F765-770E-53D6-D6AC76F2684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7AF667A-1C00-2029-E1C2-9576DCEA3943}"/>
              </a:ext>
            </a:extLst>
          </p:cNvPr>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Let’s work out an example with a very small population</a:t>
            </a:r>
            <a:endParaRPr lang="en-US" sz="3000" dirty="0"/>
          </a:p>
        </p:txBody>
      </p:sp>
      <mc:AlternateContent xmlns:mc="http://schemas.openxmlformats.org/markup-compatibility/2006" xmlns:a14="http://schemas.microsoft.com/office/drawing/2010/main">
        <mc:Choice Requires="a14">
          <p:sp>
            <p:nvSpPr>
              <p:cNvPr id="3" name="Text 1">
                <a:extLst>
                  <a:ext uri="{FF2B5EF4-FFF2-40B4-BE49-F238E27FC236}">
                    <a16:creationId xmlns:a16="http://schemas.microsoft.com/office/drawing/2014/main" id="{130C627C-0CF3-DD48-F827-9213DC17C448}"/>
                  </a:ext>
                </a:extLst>
              </p:cNvPr>
              <p:cNvSpPr txBox="1"/>
              <p:nvPr/>
            </p:nvSpPr>
            <p:spPr>
              <a:xfrm>
                <a:off x="548640" y="1280160"/>
                <a:ext cx="6035040" cy="827532"/>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Population {1, 3, 5}</a:t>
                </a:r>
              </a:p>
              <a:p>
                <a:pPr>
                  <a:spcAft>
                    <a:spcPts val="600"/>
                  </a:spcAft>
                  <a:buSzPct val="100000"/>
                </a:pPr>
                <a:r>
                  <a:rPr lang="en-US" dirty="0">
                    <a:solidFill>
                      <a:srgbClr val="3A3A3A"/>
                    </a:solidFill>
                    <a:latin typeface="Aptos" pitchFamily="34" charset="0"/>
                    <a:ea typeface="Aptos" pitchFamily="34" charset="-122"/>
                    <a:cs typeface="Aptos" pitchFamily="34" charset="-120"/>
                    <a:sym typeface="Wingdings" pitchFamily="2" charset="2"/>
                  </a:rPr>
                  <a:t> </a:t>
                </a:r>
                <a:r>
                  <a:rPr lang="en-US" dirty="0">
                    <a:solidFill>
                      <a:srgbClr val="3A3A3A"/>
                    </a:solidFill>
                    <a:latin typeface="Aptos" pitchFamily="34" charset="0"/>
                    <a:ea typeface="Aptos" pitchFamily="34" charset="-122"/>
                    <a:cs typeface="Aptos" pitchFamily="34" charset="-120"/>
                  </a:rPr>
                  <a:t>What is </a:t>
                </a:r>
                <a14:m>
                  <m:oMath xmlns:m="http://schemas.openxmlformats.org/officeDocument/2006/math">
                    <m:r>
                      <a:rPr lang="en-US" i="1">
                        <a:solidFill>
                          <a:srgbClr val="3A3A3A"/>
                        </a:solidFill>
                        <a:latin typeface="Cambria Math" panose="02040503050406030204" pitchFamily="18" charset="0"/>
                        <a:ea typeface="Cambria Math" panose="02040503050406030204" pitchFamily="18" charset="0"/>
                        <a:cs typeface="Aptos" pitchFamily="34" charset="-120"/>
                      </a:rPr>
                      <m:t>𝜇</m:t>
                    </m:r>
                  </m:oMath>
                </a14:m>
                <a:r>
                  <a:rPr lang="en-US" dirty="0">
                    <a:solidFill>
                      <a:srgbClr val="3A3A3A"/>
                    </a:solidFill>
                    <a:latin typeface="Aptos" pitchFamily="34" charset="0"/>
                    <a:ea typeface="Aptos" pitchFamily="34" charset="-122"/>
                    <a:cs typeface="Aptos" pitchFamily="34" charset="-120"/>
                  </a:rPr>
                  <a:t>? What is </a:t>
                </a:r>
                <a14:m>
                  <m:oMath xmlns:m="http://schemas.openxmlformats.org/officeDocument/2006/math">
                    <m:sSup>
                      <m:sSupPr>
                        <m:ctrlPr>
                          <a:rPr lang="en-US" i="1">
                            <a:solidFill>
                              <a:srgbClr val="3A3A3A"/>
                            </a:solidFill>
                            <a:latin typeface="Cambria Math" panose="02040503050406030204" pitchFamily="18" charset="0"/>
                            <a:ea typeface="Cambria Math" panose="02040503050406030204" pitchFamily="18" charset="0"/>
                            <a:cs typeface="Aptos" pitchFamily="34" charset="-120"/>
                          </a:rPr>
                        </m:ctrlPr>
                      </m:sSupPr>
                      <m:e>
                        <m:r>
                          <a:rPr lang="en-US" i="1">
                            <a:solidFill>
                              <a:srgbClr val="3A3A3A"/>
                            </a:solidFill>
                            <a:latin typeface="Cambria Math" panose="02040503050406030204" pitchFamily="18" charset="0"/>
                            <a:ea typeface="Cambria Math" panose="02040503050406030204" pitchFamily="18" charset="0"/>
                            <a:cs typeface="Aptos" pitchFamily="34" charset="-120"/>
                          </a:rPr>
                          <m:t>𝜎</m:t>
                        </m:r>
                      </m:e>
                      <m:sup>
                        <m:r>
                          <a:rPr lang="en-US" i="1">
                            <a:solidFill>
                              <a:srgbClr val="3A3A3A"/>
                            </a:solidFill>
                            <a:latin typeface="Cambria Math" panose="02040503050406030204" pitchFamily="18" charset="0"/>
                            <a:ea typeface="Cambria Math" panose="02040503050406030204" pitchFamily="18" charset="0"/>
                          </a:rPr>
                          <m:t>2</m:t>
                        </m:r>
                      </m:sup>
                    </m:sSup>
                    <m:r>
                      <a:rPr lang="en-US" i="1">
                        <a:solidFill>
                          <a:srgbClr val="3A3A3A"/>
                        </a:solidFill>
                        <a:latin typeface="Cambria Math" panose="02040503050406030204" pitchFamily="18" charset="0"/>
                        <a:ea typeface="Cambria Math" panose="02040503050406030204" pitchFamily="18" charset="0"/>
                      </a:rPr>
                      <m:t>?</m:t>
                    </m:r>
                  </m:oMath>
                </a14:m>
                <a:endParaRPr lang="en-US" sz="1800" dirty="0">
                  <a:solidFill>
                    <a:srgbClr val="3A3A3A"/>
                  </a:solidFill>
                  <a:latin typeface="Aptos" pitchFamily="34" charset="0"/>
                  <a:ea typeface="Aptos" pitchFamily="34" charset="-122"/>
                  <a:cs typeface="Aptos" pitchFamily="34" charset="-120"/>
                </a:endParaRPr>
              </a:p>
            </p:txBody>
          </p:sp>
        </mc:Choice>
        <mc:Fallback xmlns="">
          <p:sp>
            <p:nvSpPr>
              <p:cNvPr id="3" name="Text 1">
                <a:extLst>
                  <a:ext uri="{FF2B5EF4-FFF2-40B4-BE49-F238E27FC236}">
                    <a16:creationId xmlns:a16="http://schemas.microsoft.com/office/drawing/2014/main" id="{130C627C-0CF3-DD48-F827-9213DC17C448}"/>
                  </a:ext>
                </a:extLst>
              </p:cNvPr>
              <p:cNvSpPr txBox="1">
                <a:spLocks noRot="1" noChangeAspect="1" noMove="1" noResize="1" noEditPoints="1" noAdjustHandles="1" noChangeArrowheads="1" noChangeShapeType="1" noTextEdit="1"/>
              </p:cNvSpPr>
              <p:nvPr/>
            </p:nvSpPr>
            <p:spPr>
              <a:xfrm>
                <a:off x="548640" y="1280160"/>
                <a:ext cx="6035040" cy="827532"/>
              </a:xfrm>
              <a:prstGeom prst="rect">
                <a:avLst/>
              </a:prstGeom>
              <a:blipFill>
                <a:blip r:embed="rId3"/>
                <a:stretch>
                  <a:fillRect l="-2311" t="-7463"/>
                </a:stretch>
              </a:blipFill>
              <a:ln/>
            </p:spPr>
            <p:txBody>
              <a:bodyPr/>
              <a:lstStyle/>
              <a:p>
                <a:r>
                  <a:rPr lang="en-US">
                    <a:noFill/>
                  </a:rPr>
                  <a:t> </a:t>
                </a:r>
              </a:p>
            </p:txBody>
          </p:sp>
        </mc:Fallback>
      </mc:AlternateContent>
      <p:graphicFrame>
        <p:nvGraphicFramePr>
          <p:cNvPr id="7" name="Table 0">
            <a:extLst>
              <a:ext uri="{FF2B5EF4-FFF2-40B4-BE49-F238E27FC236}">
                <a16:creationId xmlns:a16="http://schemas.microsoft.com/office/drawing/2014/main" id="{D8AF2912-1454-824A-0139-1530C891A5BD}"/>
              </a:ext>
            </a:extLst>
          </p:cNvPr>
          <p:cNvGraphicFramePr>
            <a:graphicFrameLocks noGrp="1"/>
          </p:cNvGraphicFramePr>
          <p:nvPr>
            <p:extLst>
              <p:ext uri="{D42A27DB-BD31-4B8C-83A1-F6EECF244321}">
                <p14:modId xmlns:p14="http://schemas.microsoft.com/office/powerpoint/2010/main" val="1063220916"/>
              </p:ext>
            </p:extLst>
          </p:nvPr>
        </p:nvGraphicFramePr>
        <p:xfrm>
          <a:off x="548640" y="2753107"/>
          <a:ext cx="8938257" cy="755904"/>
        </p:xfrm>
        <a:graphic>
          <a:graphicData uri="http://schemas.openxmlformats.org/drawingml/2006/table">
            <a:tbl>
              <a:tblPr/>
              <a:tblGrid>
                <a:gridCol w="1137597">
                  <a:extLst>
                    <a:ext uri="{9D8B030D-6E8A-4147-A177-3AD203B41FA5}">
                      <a16:colId xmlns:a16="http://schemas.microsoft.com/office/drawing/2014/main" val="20000"/>
                    </a:ext>
                  </a:extLst>
                </a:gridCol>
                <a:gridCol w="866740">
                  <a:extLst>
                    <a:ext uri="{9D8B030D-6E8A-4147-A177-3AD203B41FA5}">
                      <a16:colId xmlns:a16="http://schemas.microsoft.com/office/drawing/2014/main" val="20001"/>
                    </a:ext>
                  </a:extLst>
                </a:gridCol>
                <a:gridCol w="866740">
                  <a:extLst>
                    <a:ext uri="{9D8B030D-6E8A-4147-A177-3AD203B41FA5}">
                      <a16:colId xmlns:a16="http://schemas.microsoft.com/office/drawing/2014/main" val="20002"/>
                    </a:ext>
                  </a:extLst>
                </a:gridCol>
                <a:gridCol w="866740">
                  <a:extLst>
                    <a:ext uri="{9D8B030D-6E8A-4147-A177-3AD203B41FA5}">
                      <a16:colId xmlns:a16="http://schemas.microsoft.com/office/drawing/2014/main" val="20003"/>
                    </a:ext>
                  </a:extLst>
                </a:gridCol>
                <a:gridCol w="866740">
                  <a:extLst>
                    <a:ext uri="{9D8B030D-6E8A-4147-A177-3AD203B41FA5}">
                      <a16:colId xmlns:a16="http://schemas.microsoft.com/office/drawing/2014/main" val="20004"/>
                    </a:ext>
                  </a:extLst>
                </a:gridCol>
                <a:gridCol w="866740">
                  <a:extLst>
                    <a:ext uri="{9D8B030D-6E8A-4147-A177-3AD203B41FA5}">
                      <a16:colId xmlns:a16="http://schemas.microsoft.com/office/drawing/2014/main" val="20005"/>
                    </a:ext>
                  </a:extLst>
                </a:gridCol>
                <a:gridCol w="866740">
                  <a:extLst>
                    <a:ext uri="{9D8B030D-6E8A-4147-A177-3AD203B41FA5}">
                      <a16:colId xmlns:a16="http://schemas.microsoft.com/office/drawing/2014/main" val="20006"/>
                    </a:ext>
                  </a:extLst>
                </a:gridCol>
                <a:gridCol w="866740">
                  <a:extLst>
                    <a:ext uri="{9D8B030D-6E8A-4147-A177-3AD203B41FA5}">
                      <a16:colId xmlns:a16="http://schemas.microsoft.com/office/drawing/2014/main" val="20007"/>
                    </a:ext>
                  </a:extLst>
                </a:gridCol>
                <a:gridCol w="866740">
                  <a:extLst>
                    <a:ext uri="{9D8B030D-6E8A-4147-A177-3AD203B41FA5}">
                      <a16:colId xmlns:a16="http://schemas.microsoft.com/office/drawing/2014/main" val="20008"/>
                    </a:ext>
                  </a:extLst>
                </a:gridCol>
                <a:gridCol w="866740">
                  <a:extLst>
                    <a:ext uri="{9D8B030D-6E8A-4147-A177-3AD203B41FA5}">
                      <a16:colId xmlns:a16="http://schemas.microsoft.com/office/drawing/2014/main" val="20009"/>
                    </a:ext>
                  </a:extLst>
                </a:gridCol>
              </a:tblGrid>
              <a:tr h="313690">
                <a:tc>
                  <a:txBody>
                    <a:bodyPr/>
                    <a:lstStyle/>
                    <a:p>
                      <a:pPr marL="0" indent="0">
                        <a:buNone/>
                      </a:pPr>
                      <a:r>
                        <a:rPr lang="en-US" sz="2000" b="1" dirty="0">
                          <a:solidFill>
                            <a:srgbClr val="000000"/>
                          </a:solidFill>
                          <a:latin typeface="Aptos" pitchFamily="34" charset="0"/>
                          <a:ea typeface="Aptos" pitchFamily="34" charset="-122"/>
                          <a:cs typeface="Aptos" pitchFamily="34" charset="-120"/>
                        </a:rPr>
                        <a:t>sample</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2000" b="1" dirty="0">
                          <a:solidFill>
                            <a:srgbClr val="000000"/>
                          </a:solidFill>
                          <a:latin typeface="Aptos" pitchFamily="34" charset="0"/>
                          <a:ea typeface="Aptos" pitchFamily="34" charset="-122"/>
                          <a:cs typeface="Aptos" pitchFamily="34" charset="-120"/>
                        </a:rPr>
                        <a:t>(1,1)</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2000" b="1" dirty="0">
                          <a:solidFill>
                            <a:srgbClr val="000000"/>
                          </a:solidFill>
                          <a:latin typeface="Aptos" pitchFamily="34" charset="0"/>
                          <a:ea typeface="Aptos" pitchFamily="34" charset="-122"/>
                          <a:cs typeface="Aptos" pitchFamily="34" charset="-120"/>
                        </a:rPr>
                        <a:t>(1,3)</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2000" b="1" dirty="0">
                          <a:solidFill>
                            <a:srgbClr val="000000"/>
                          </a:solidFill>
                          <a:latin typeface="Aptos" pitchFamily="34" charset="0"/>
                          <a:ea typeface="Aptos" pitchFamily="34" charset="-122"/>
                          <a:cs typeface="Aptos" pitchFamily="34" charset="-120"/>
                        </a:rPr>
                        <a:t>(1,5)</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2000" b="1" dirty="0">
                          <a:solidFill>
                            <a:srgbClr val="000000"/>
                          </a:solidFill>
                          <a:latin typeface="Aptos" pitchFamily="34" charset="0"/>
                          <a:ea typeface="Aptos" pitchFamily="34" charset="-122"/>
                          <a:cs typeface="Aptos" pitchFamily="34" charset="-120"/>
                        </a:rPr>
                        <a:t>(3,1)</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2000" b="1" dirty="0">
                          <a:solidFill>
                            <a:srgbClr val="000000"/>
                          </a:solidFill>
                          <a:latin typeface="Aptos" pitchFamily="34" charset="0"/>
                          <a:ea typeface="Aptos" pitchFamily="34" charset="-122"/>
                          <a:cs typeface="Aptos" pitchFamily="34" charset="-120"/>
                        </a:rPr>
                        <a:t>(3,3)</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2000" b="1" dirty="0">
                          <a:solidFill>
                            <a:srgbClr val="000000"/>
                          </a:solidFill>
                          <a:latin typeface="Aptos" pitchFamily="34" charset="0"/>
                          <a:ea typeface="Aptos" pitchFamily="34" charset="-122"/>
                          <a:cs typeface="Aptos" pitchFamily="34" charset="-120"/>
                        </a:rPr>
                        <a:t>(3,5)</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2000" b="1" dirty="0">
                          <a:solidFill>
                            <a:srgbClr val="000000"/>
                          </a:solidFill>
                          <a:latin typeface="Aptos" pitchFamily="34" charset="0"/>
                          <a:ea typeface="Aptos" pitchFamily="34" charset="-122"/>
                          <a:cs typeface="Aptos" pitchFamily="34" charset="-120"/>
                        </a:rPr>
                        <a:t>(5,1)</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2000" b="1" dirty="0">
                          <a:solidFill>
                            <a:srgbClr val="000000"/>
                          </a:solidFill>
                          <a:latin typeface="Aptos" pitchFamily="34" charset="0"/>
                          <a:ea typeface="Aptos" pitchFamily="34" charset="-122"/>
                          <a:cs typeface="Aptos" pitchFamily="34" charset="-120"/>
                        </a:rPr>
                        <a:t>(5,3)</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2000" b="1" dirty="0">
                          <a:solidFill>
                            <a:srgbClr val="000000"/>
                          </a:solidFill>
                          <a:latin typeface="Aptos" pitchFamily="34" charset="0"/>
                          <a:ea typeface="Aptos" pitchFamily="34" charset="-122"/>
                          <a:cs typeface="Aptos" pitchFamily="34" charset="-120"/>
                        </a:rPr>
                        <a:t>(5,5)</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3690">
                <a:tc>
                  <a:txBody>
                    <a:bodyPr/>
                    <a:lstStyle/>
                    <a:p>
                      <a:pPr marL="0" indent="0">
                        <a:buNone/>
                      </a:pPr>
                      <a:r>
                        <a:rPr lang="en-US" sz="2000" dirty="0">
                          <a:solidFill>
                            <a:srgbClr val="3A3A3A"/>
                          </a:solidFill>
                          <a:latin typeface="Aptos" pitchFamily="34" charset="0"/>
                          <a:ea typeface="Aptos" pitchFamily="34" charset="-122"/>
                          <a:cs typeface="Aptos" pitchFamily="34" charset="-120"/>
                        </a:rPr>
                        <a:t>x̄</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2000" dirty="0">
                          <a:solidFill>
                            <a:srgbClr val="3A3A3A"/>
                          </a:solidFill>
                          <a:latin typeface="Aptos" pitchFamily="34" charset="0"/>
                          <a:ea typeface="Aptos" pitchFamily="34" charset="-122"/>
                          <a:cs typeface="Aptos" pitchFamily="34" charset="-120"/>
                        </a:rPr>
                        <a:t>1</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2000" dirty="0">
                          <a:solidFill>
                            <a:srgbClr val="3A3A3A"/>
                          </a:solidFill>
                          <a:latin typeface="Aptos" pitchFamily="34" charset="0"/>
                          <a:ea typeface="Aptos" pitchFamily="34" charset="-122"/>
                          <a:cs typeface="Aptos" pitchFamily="34" charset="-120"/>
                        </a:rPr>
                        <a:t>2</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2000" dirty="0">
                          <a:solidFill>
                            <a:srgbClr val="3A3A3A"/>
                          </a:solidFill>
                          <a:latin typeface="Aptos" pitchFamily="34" charset="0"/>
                          <a:ea typeface="Aptos" pitchFamily="34" charset="-122"/>
                          <a:cs typeface="Aptos" pitchFamily="34" charset="-120"/>
                        </a:rPr>
                        <a:t>3</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2000" dirty="0">
                          <a:solidFill>
                            <a:srgbClr val="3A3A3A"/>
                          </a:solidFill>
                          <a:latin typeface="Aptos" pitchFamily="34" charset="0"/>
                          <a:ea typeface="Aptos" pitchFamily="34" charset="-122"/>
                          <a:cs typeface="Aptos" pitchFamily="34" charset="-120"/>
                        </a:rPr>
                        <a:t>2</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2000" dirty="0">
                          <a:solidFill>
                            <a:srgbClr val="3A3A3A"/>
                          </a:solidFill>
                          <a:latin typeface="Aptos" pitchFamily="34" charset="0"/>
                          <a:ea typeface="Aptos" pitchFamily="34" charset="-122"/>
                          <a:cs typeface="Aptos" pitchFamily="34" charset="-120"/>
                        </a:rPr>
                        <a:t>3</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2000" dirty="0">
                          <a:solidFill>
                            <a:srgbClr val="3A3A3A"/>
                          </a:solidFill>
                          <a:latin typeface="Aptos" pitchFamily="34" charset="0"/>
                          <a:ea typeface="Aptos" pitchFamily="34" charset="-122"/>
                          <a:cs typeface="Aptos" pitchFamily="34" charset="-120"/>
                        </a:rPr>
                        <a:t>4</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2000" dirty="0">
                          <a:solidFill>
                            <a:srgbClr val="3A3A3A"/>
                          </a:solidFill>
                          <a:latin typeface="Aptos" pitchFamily="34" charset="0"/>
                          <a:ea typeface="Aptos" pitchFamily="34" charset="-122"/>
                          <a:cs typeface="Aptos" pitchFamily="34" charset="-120"/>
                        </a:rPr>
                        <a:t>3</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2000" dirty="0">
                          <a:solidFill>
                            <a:srgbClr val="3A3A3A"/>
                          </a:solidFill>
                          <a:latin typeface="Aptos" pitchFamily="34" charset="0"/>
                          <a:ea typeface="Aptos" pitchFamily="34" charset="-122"/>
                          <a:cs typeface="Aptos" pitchFamily="34" charset="-120"/>
                        </a:rPr>
                        <a:t>4</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2000" dirty="0">
                          <a:solidFill>
                            <a:srgbClr val="3A3A3A"/>
                          </a:solidFill>
                          <a:latin typeface="Aptos" pitchFamily="34" charset="0"/>
                          <a:ea typeface="Aptos" pitchFamily="34" charset="-122"/>
                          <a:cs typeface="Aptos" pitchFamily="34" charset="-120"/>
                        </a:rPr>
                        <a:t>5</a:t>
                      </a:r>
                      <a:endParaRPr lang="en-US" sz="20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5" name="Text 2">
            <a:extLst>
              <a:ext uri="{FF2B5EF4-FFF2-40B4-BE49-F238E27FC236}">
                <a16:creationId xmlns:a16="http://schemas.microsoft.com/office/drawing/2014/main" id="{9D726B27-9618-233D-B25B-F5EA5734A2C0}"/>
              </a:ext>
            </a:extLst>
          </p:cNvPr>
          <p:cNvSpPr txBox="1"/>
          <p:nvPr/>
        </p:nvSpPr>
        <p:spPr>
          <a:xfrm>
            <a:off x="548640" y="4077209"/>
            <a:ext cx="6035040" cy="1399032"/>
          </a:xfrm>
          <a:prstGeom prst="rect">
            <a:avLst/>
          </a:prstGeom>
          <a:noFill/>
          <a:ln/>
        </p:spPr>
        <p:txBody>
          <a:bodyPr wrap="square" lIns="0" tIns="0" rIns="0" bIns="0" rtlCol="0" anchor="t"/>
          <a:lstStyle/>
          <a:p>
            <a:pPr>
              <a:spcAft>
                <a:spcPts val="600"/>
              </a:spcAft>
              <a:buSzPct val="100000"/>
            </a:pPr>
            <a:r>
              <a:rPr lang="en-US" sz="1800" dirty="0">
                <a:solidFill>
                  <a:srgbClr val="3A3A3A"/>
                </a:solidFill>
                <a:latin typeface="Aptos" pitchFamily="34" charset="0"/>
                <a:ea typeface="Aptos" pitchFamily="34" charset="-122"/>
                <a:cs typeface="Aptos" pitchFamily="34" charset="-120"/>
                <a:sym typeface="Wingdings" pitchFamily="2" charset="2"/>
              </a:rPr>
              <a:t> </a:t>
            </a:r>
            <a:r>
              <a:rPr lang="en-US" sz="1800" dirty="0">
                <a:solidFill>
                  <a:srgbClr val="3A3A3A"/>
                </a:solidFill>
                <a:latin typeface="Aptos" pitchFamily="34" charset="0"/>
                <a:ea typeface="Aptos" pitchFamily="34" charset="-122"/>
                <a:cs typeface="Aptos" pitchFamily="34" charset="-120"/>
              </a:rPr>
              <a:t>What </a:t>
            </a:r>
            <a:r>
              <a:rPr lang="en-US" dirty="0">
                <a:solidFill>
                  <a:srgbClr val="3A3A3A"/>
                </a:solidFill>
                <a:latin typeface="Aptos" pitchFamily="34" charset="0"/>
                <a:ea typeface="Aptos" pitchFamily="34" charset="-122"/>
                <a:cs typeface="Aptos" pitchFamily="34" charset="-120"/>
              </a:rPr>
              <a:t>is E[x̄]? What is V[x̄]?</a:t>
            </a:r>
            <a:endParaRPr lang="en-US" sz="1800" dirty="0">
              <a:solidFill>
                <a:srgbClr val="3A3A3A"/>
              </a:solidFill>
              <a:latin typeface="Aptos" pitchFamily="34" charset="0"/>
              <a:ea typeface="Aptos" pitchFamily="34" charset="-122"/>
              <a:cs typeface="Aptos" pitchFamily="34" charset="-120"/>
            </a:endParaRPr>
          </a:p>
          <a:p>
            <a:pPr>
              <a:spcAft>
                <a:spcPts val="600"/>
              </a:spcAft>
              <a:buSzPct val="100000"/>
            </a:pPr>
            <a:r>
              <a:rPr lang="en-US" dirty="0">
                <a:solidFill>
                  <a:srgbClr val="3A3A3A"/>
                </a:solidFill>
                <a:latin typeface="Aptos" pitchFamily="34" charset="0"/>
                <a:ea typeface="Aptos" pitchFamily="34" charset="-122"/>
                <a:cs typeface="Aptos" pitchFamily="34" charset="-120"/>
                <a:sym typeface="Wingdings" pitchFamily="2" charset="2"/>
              </a:rPr>
              <a:t> </a:t>
            </a:r>
            <a:r>
              <a:rPr lang="en-US" dirty="0">
                <a:solidFill>
                  <a:srgbClr val="3A3A3A"/>
                </a:solidFill>
                <a:latin typeface="Aptos" pitchFamily="34" charset="0"/>
                <a:ea typeface="Aptos" pitchFamily="34" charset="-122"/>
                <a:cs typeface="Aptos" pitchFamily="34" charset="-120"/>
              </a:rPr>
              <a:t>What is the standard error of the mean?</a:t>
            </a:r>
            <a:endParaRPr lang="en-US" sz="1800" dirty="0">
              <a:solidFill>
                <a:srgbClr val="3A3A3A"/>
              </a:solidFill>
              <a:latin typeface="Aptos" pitchFamily="34" charset="0"/>
              <a:ea typeface="Aptos" pitchFamily="34" charset="-122"/>
              <a:cs typeface="Aptos" pitchFamily="34" charset="-120"/>
            </a:endParaRPr>
          </a:p>
        </p:txBody>
      </p:sp>
      <p:sp>
        <p:nvSpPr>
          <p:cNvPr id="25" name="Slide Number Placeholder 0">
            <a:extLst>
              <a:ext uri="{FF2B5EF4-FFF2-40B4-BE49-F238E27FC236}">
                <a16:creationId xmlns:a16="http://schemas.microsoft.com/office/drawing/2014/main" id="{38464822-02AA-DE46-53A8-32DF2B93A64D}"/>
              </a:ext>
            </a:extLst>
          </p:cNvPr>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10</a:t>
            </a:fld>
            <a:endParaRPr lang="en-US"/>
          </a:p>
        </p:txBody>
      </p:sp>
      <p:sp>
        <p:nvSpPr>
          <p:cNvPr id="8" name="TextBox 7">
            <a:extLst>
              <a:ext uri="{FF2B5EF4-FFF2-40B4-BE49-F238E27FC236}">
                <a16:creationId xmlns:a16="http://schemas.microsoft.com/office/drawing/2014/main" id="{6DCF1B44-AC93-4E95-F947-7C3B13B80AEF}"/>
              </a:ext>
            </a:extLst>
          </p:cNvPr>
          <p:cNvSpPr txBox="1"/>
          <p:nvPr/>
        </p:nvSpPr>
        <p:spPr>
          <a:xfrm>
            <a:off x="482918" y="4750309"/>
            <a:ext cx="6100762" cy="923330"/>
          </a:xfrm>
          <a:prstGeom prst="rect">
            <a:avLst/>
          </a:prstGeom>
          <a:noFill/>
        </p:spPr>
        <p:txBody>
          <a:bodyPr wrap="square">
            <a:spAutoFit/>
          </a:bodyPr>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This is the whole sampling distribution. Usually, we don’t get to see it. How do we calculate SE when we don’t see the whole sampling distribution?  </a:t>
            </a:r>
            <a:endParaRPr lang="en-US" sz="1800" dirty="0"/>
          </a:p>
        </p:txBody>
      </p:sp>
      <p:sp>
        <p:nvSpPr>
          <p:cNvPr id="6" name="TextBox 5">
            <a:extLst>
              <a:ext uri="{FF2B5EF4-FFF2-40B4-BE49-F238E27FC236}">
                <a16:creationId xmlns:a16="http://schemas.microsoft.com/office/drawing/2014/main" id="{C2A5F2C4-2FAE-B7FF-26BC-C495D85F9D0C}"/>
              </a:ext>
            </a:extLst>
          </p:cNvPr>
          <p:cNvSpPr txBox="1"/>
          <p:nvPr/>
        </p:nvSpPr>
        <p:spPr>
          <a:xfrm>
            <a:off x="447060" y="1927529"/>
            <a:ext cx="6096000" cy="646331"/>
          </a:xfrm>
          <a:prstGeom prst="rect">
            <a:avLst/>
          </a:prstGeom>
          <a:noFill/>
        </p:spPr>
        <p:txBody>
          <a:bodyPr wrap="square">
            <a:spAutoFit/>
          </a:bodyPr>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Draw n = 2 with replacement. Calculate the mean for 9 possible samples:</a:t>
            </a:r>
            <a:endParaRPr lang="en-US" sz="1800" dirty="0"/>
          </a:p>
        </p:txBody>
      </p:sp>
    </p:spTree>
    <p:extLst>
      <p:ext uri="{BB962C8B-B14F-4D97-AF65-F5344CB8AC3E}">
        <p14:creationId xmlns:p14="http://schemas.microsoft.com/office/powerpoint/2010/main" val="4188147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r>
              <a:rPr lang="en-US" dirty="0"/>
              <a:t>Let’s work out an example with a very small population</a:t>
            </a:r>
            <a:endParaRPr lang="en-US" sz="3000" dirty="0"/>
          </a:p>
        </p:txBody>
      </p:sp>
      <p:sp>
        <p:nvSpPr>
          <p:cNvPr id="3" name="Text 1"/>
          <p:cNvSpPr txBox="1"/>
          <p:nvPr/>
        </p:nvSpPr>
        <p:spPr>
          <a:xfrm>
            <a:off x="548640" y="1280160"/>
            <a:ext cx="6035040" cy="141732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Population {1, 3, 5}</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μ (population mean) = (1 + 3 + 5)/3 = </a:t>
            </a:r>
            <a:r>
              <a:rPr lang="en-US" sz="1800" b="1" dirty="0">
                <a:solidFill>
                  <a:srgbClr val="FF42A1"/>
                </a:solidFill>
                <a:latin typeface="Aptos" pitchFamily="34" charset="0"/>
                <a:ea typeface="Aptos" pitchFamily="34" charset="-122"/>
                <a:cs typeface="Aptos" pitchFamily="34" charset="-120"/>
              </a:rPr>
              <a:t>3</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σ² (population variance) = (4 + 0 + 4)/3 = </a:t>
            </a:r>
            <a:r>
              <a:rPr lang="en-US" sz="1800" b="1" dirty="0">
                <a:solidFill>
                  <a:srgbClr val="FF42A1"/>
                </a:solidFill>
                <a:latin typeface="Aptos" pitchFamily="34" charset="0"/>
                <a:ea typeface="Aptos" pitchFamily="34" charset="-122"/>
                <a:cs typeface="Aptos" pitchFamily="34" charset="-120"/>
              </a:rPr>
              <a:t>8/3</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Draw n = 2 with replacement: 9 possible samples</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6035040" cy="627380"/>
        </p:xfrm>
        <a:graphic>
          <a:graphicData uri="http://schemas.openxmlformats.org/drawingml/2006/table">
            <a:tbl>
              <a:tblPr/>
              <a:tblGrid>
                <a:gridCol w="768096">
                  <a:extLst>
                    <a:ext uri="{9D8B030D-6E8A-4147-A177-3AD203B41FA5}">
                      <a16:colId xmlns:a16="http://schemas.microsoft.com/office/drawing/2014/main" val="20000"/>
                    </a:ext>
                  </a:extLst>
                </a:gridCol>
                <a:gridCol w="585216">
                  <a:extLst>
                    <a:ext uri="{9D8B030D-6E8A-4147-A177-3AD203B41FA5}">
                      <a16:colId xmlns:a16="http://schemas.microsoft.com/office/drawing/2014/main" val="20001"/>
                    </a:ext>
                  </a:extLst>
                </a:gridCol>
                <a:gridCol w="585216">
                  <a:extLst>
                    <a:ext uri="{9D8B030D-6E8A-4147-A177-3AD203B41FA5}">
                      <a16:colId xmlns:a16="http://schemas.microsoft.com/office/drawing/2014/main" val="20002"/>
                    </a:ext>
                  </a:extLst>
                </a:gridCol>
                <a:gridCol w="585216">
                  <a:extLst>
                    <a:ext uri="{9D8B030D-6E8A-4147-A177-3AD203B41FA5}">
                      <a16:colId xmlns:a16="http://schemas.microsoft.com/office/drawing/2014/main" val="20003"/>
                    </a:ext>
                  </a:extLst>
                </a:gridCol>
                <a:gridCol w="585216">
                  <a:extLst>
                    <a:ext uri="{9D8B030D-6E8A-4147-A177-3AD203B41FA5}">
                      <a16:colId xmlns:a16="http://schemas.microsoft.com/office/drawing/2014/main" val="20004"/>
                    </a:ext>
                  </a:extLst>
                </a:gridCol>
                <a:gridCol w="585216">
                  <a:extLst>
                    <a:ext uri="{9D8B030D-6E8A-4147-A177-3AD203B41FA5}">
                      <a16:colId xmlns:a16="http://schemas.microsoft.com/office/drawing/2014/main" val="20005"/>
                    </a:ext>
                  </a:extLst>
                </a:gridCol>
                <a:gridCol w="585216">
                  <a:extLst>
                    <a:ext uri="{9D8B030D-6E8A-4147-A177-3AD203B41FA5}">
                      <a16:colId xmlns:a16="http://schemas.microsoft.com/office/drawing/2014/main" val="20006"/>
                    </a:ext>
                  </a:extLst>
                </a:gridCol>
                <a:gridCol w="585216">
                  <a:extLst>
                    <a:ext uri="{9D8B030D-6E8A-4147-A177-3AD203B41FA5}">
                      <a16:colId xmlns:a16="http://schemas.microsoft.com/office/drawing/2014/main" val="20007"/>
                    </a:ext>
                  </a:extLst>
                </a:gridCol>
                <a:gridCol w="585216">
                  <a:extLst>
                    <a:ext uri="{9D8B030D-6E8A-4147-A177-3AD203B41FA5}">
                      <a16:colId xmlns:a16="http://schemas.microsoft.com/office/drawing/2014/main" val="20008"/>
                    </a:ext>
                  </a:extLst>
                </a:gridCol>
                <a:gridCol w="585216">
                  <a:extLst>
                    <a:ext uri="{9D8B030D-6E8A-4147-A177-3AD203B41FA5}">
                      <a16:colId xmlns:a16="http://schemas.microsoft.com/office/drawing/2014/main" val="20009"/>
                    </a:ext>
                  </a:extLst>
                </a:gridCol>
              </a:tblGrid>
              <a:tr h="313690">
                <a:tc>
                  <a:txBody>
                    <a:bodyPr/>
                    <a:lstStyle/>
                    <a:p>
                      <a:pPr marL="0" indent="0">
                        <a:buNone/>
                      </a:pPr>
                      <a:r>
                        <a:rPr lang="en-US" sz="1300" b="1" dirty="0">
                          <a:solidFill>
                            <a:srgbClr val="000000"/>
                          </a:solidFill>
                          <a:latin typeface="Aptos" pitchFamily="34" charset="0"/>
                          <a:ea typeface="Aptos" pitchFamily="34" charset="-122"/>
                          <a:cs typeface="Aptos" pitchFamily="34" charset="-120"/>
                        </a:rPr>
                        <a:t>sample</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300" b="1" dirty="0">
                          <a:solidFill>
                            <a:srgbClr val="000000"/>
                          </a:solidFill>
                          <a:latin typeface="Aptos" pitchFamily="34" charset="0"/>
                          <a:ea typeface="Aptos" pitchFamily="34" charset="-122"/>
                          <a:cs typeface="Aptos" pitchFamily="34" charset="-120"/>
                        </a:rPr>
                        <a:t>(1,1)</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300" b="1" dirty="0">
                          <a:solidFill>
                            <a:srgbClr val="000000"/>
                          </a:solidFill>
                          <a:latin typeface="Aptos" pitchFamily="34" charset="0"/>
                          <a:ea typeface="Aptos" pitchFamily="34" charset="-122"/>
                          <a:cs typeface="Aptos" pitchFamily="34" charset="-120"/>
                        </a:rPr>
                        <a:t>(1,3)</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300" b="1" dirty="0">
                          <a:solidFill>
                            <a:srgbClr val="000000"/>
                          </a:solidFill>
                          <a:latin typeface="Aptos" pitchFamily="34" charset="0"/>
                          <a:ea typeface="Aptos" pitchFamily="34" charset="-122"/>
                          <a:cs typeface="Aptos" pitchFamily="34" charset="-120"/>
                        </a:rPr>
                        <a:t>(1,5)</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300" b="1" dirty="0">
                          <a:solidFill>
                            <a:srgbClr val="000000"/>
                          </a:solidFill>
                          <a:latin typeface="Aptos" pitchFamily="34" charset="0"/>
                          <a:ea typeface="Aptos" pitchFamily="34" charset="-122"/>
                          <a:cs typeface="Aptos" pitchFamily="34" charset="-120"/>
                        </a:rPr>
                        <a:t>(3,1)</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300" b="1" dirty="0">
                          <a:solidFill>
                            <a:srgbClr val="000000"/>
                          </a:solidFill>
                          <a:latin typeface="Aptos" pitchFamily="34" charset="0"/>
                          <a:ea typeface="Aptos" pitchFamily="34" charset="-122"/>
                          <a:cs typeface="Aptos" pitchFamily="34" charset="-120"/>
                        </a:rPr>
                        <a:t>(3,3)</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300" b="1" dirty="0">
                          <a:solidFill>
                            <a:srgbClr val="000000"/>
                          </a:solidFill>
                          <a:latin typeface="Aptos" pitchFamily="34" charset="0"/>
                          <a:ea typeface="Aptos" pitchFamily="34" charset="-122"/>
                          <a:cs typeface="Aptos" pitchFamily="34" charset="-120"/>
                        </a:rPr>
                        <a:t>(3,5)</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300" b="1" dirty="0">
                          <a:solidFill>
                            <a:srgbClr val="000000"/>
                          </a:solidFill>
                          <a:latin typeface="Aptos" pitchFamily="34" charset="0"/>
                          <a:ea typeface="Aptos" pitchFamily="34" charset="-122"/>
                          <a:cs typeface="Aptos" pitchFamily="34" charset="-120"/>
                        </a:rPr>
                        <a:t>(5,1)</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300" b="1" dirty="0">
                          <a:solidFill>
                            <a:srgbClr val="000000"/>
                          </a:solidFill>
                          <a:latin typeface="Aptos" pitchFamily="34" charset="0"/>
                          <a:ea typeface="Aptos" pitchFamily="34" charset="-122"/>
                          <a:cs typeface="Aptos" pitchFamily="34" charset="-120"/>
                        </a:rPr>
                        <a:t>(5,3)</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300" b="1" dirty="0">
                          <a:solidFill>
                            <a:srgbClr val="000000"/>
                          </a:solidFill>
                          <a:latin typeface="Aptos" pitchFamily="34" charset="0"/>
                          <a:ea typeface="Aptos" pitchFamily="34" charset="-122"/>
                          <a:cs typeface="Aptos" pitchFamily="34" charset="-120"/>
                        </a:rPr>
                        <a:t>(5,5)</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3690">
                <a:tc>
                  <a:txBody>
                    <a:bodyPr/>
                    <a:lstStyle/>
                    <a:p>
                      <a:pPr marL="0" indent="0">
                        <a:buNone/>
                      </a:pPr>
                      <a:r>
                        <a:rPr lang="en-US" sz="1300" dirty="0">
                          <a:solidFill>
                            <a:srgbClr val="3A3A3A"/>
                          </a:solidFill>
                          <a:latin typeface="Aptos" pitchFamily="34" charset="0"/>
                          <a:ea typeface="Aptos" pitchFamily="34" charset="-122"/>
                          <a:cs typeface="Aptos" pitchFamily="34" charset="-120"/>
                        </a:rPr>
                        <a:t>x̄</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3A3A3A"/>
                          </a:solidFill>
                          <a:latin typeface="Aptos" pitchFamily="34" charset="0"/>
                          <a:ea typeface="Aptos" pitchFamily="34" charset="-122"/>
                          <a:cs typeface="Aptos" pitchFamily="34" charset="-120"/>
                        </a:rPr>
                        <a:t>1</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3A3A3A"/>
                          </a:solidFill>
                          <a:latin typeface="Aptos" pitchFamily="34" charset="0"/>
                          <a:ea typeface="Aptos" pitchFamily="34" charset="-122"/>
                          <a:cs typeface="Aptos" pitchFamily="34" charset="-120"/>
                        </a:rPr>
                        <a:t>2</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3A3A3A"/>
                          </a:solidFill>
                          <a:latin typeface="Aptos" pitchFamily="34" charset="0"/>
                          <a:ea typeface="Aptos" pitchFamily="34" charset="-122"/>
                          <a:cs typeface="Aptos" pitchFamily="34" charset="-120"/>
                        </a:rPr>
                        <a:t>3</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3A3A3A"/>
                          </a:solidFill>
                          <a:latin typeface="Aptos" pitchFamily="34" charset="0"/>
                          <a:ea typeface="Aptos" pitchFamily="34" charset="-122"/>
                          <a:cs typeface="Aptos" pitchFamily="34" charset="-120"/>
                        </a:rPr>
                        <a:t>2</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3A3A3A"/>
                          </a:solidFill>
                          <a:latin typeface="Aptos" pitchFamily="34" charset="0"/>
                          <a:ea typeface="Aptos" pitchFamily="34" charset="-122"/>
                          <a:cs typeface="Aptos" pitchFamily="34" charset="-120"/>
                        </a:rPr>
                        <a:t>3</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3A3A3A"/>
                          </a:solidFill>
                          <a:latin typeface="Aptos" pitchFamily="34" charset="0"/>
                          <a:ea typeface="Aptos" pitchFamily="34" charset="-122"/>
                          <a:cs typeface="Aptos" pitchFamily="34" charset="-120"/>
                        </a:rPr>
                        <a:t>4</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3A3A3A"/>
                          </a:solidFill>
                          <a:latin typeface="Aptos" pitchFamily="34" charset="0"/>
                          <a:ea typeface="Aptos" pitchFamily="34" charset="-122"/>
                          <a:cs typeface="Aptos" pitchFamily="34" charset="-120"/>
                        </a:rPr>
                        <a:t>3</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3A3A3A"/>
                          </a:solidFill>
                          <a:latin typeface="Aptos" pitchFamily="34" charset="0"/>
                          <a:ea typeface="Aptos" pitchFamily="34" charset="-122"/>
                          <a:cs typeface="Aptos" pitchFamily="34" charset="-120"/>
                        </a:rPr>
                        <a:t>4</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3A3A3A"/>
                          </a:solidFill>
                          <a:latin typeface="Aptos" pitchFamily="34" charset="0"/>
                          <a:ea typeface="Aptos" pitchFamily="34" charset="-122"/>
                          <a:cs typeface="Aptos" pitchFamily="34" charset="-120"/>
                        </a:rPr>
                        <a:t>5</a:t>
                      </a:r>
                      <a:endParaRPr lang="en-US" sz="13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5" name="Text 2"/>
          <p:cNvSpPr txBox="1"/>
          <p:nvPr/>
        </p:nvSpPr>
        <p:spPr>
          <a:xfrm>
            <a:off x="548640" y="3611880"/>
            <a:ext cx="6035040" cy="265176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E[x̄] = (1 + 2 + 3 + 2 + 3 + 4 + 3 + 4 + 5)/9 = 27/9 = </a:t>
            </a:r>
            <a:r>
              <a:rPr lang="en-US" sz="1800" b="1" dirty="0">
                <a:solidFill>
                  <a:srgbClr val="FF42A1"/>
                </a:solidFill>
                <a:latin typeface="Aptos" pitchFamily="34" charset="0"/>
                <a:ea typeface="Aptos" pitchFamily="34" charset="-122"/>
                <a:cs typeface="Aptos" pitchFamily="34" charset="-120"/>
              </a:rPr>
              <a:t>3 = μ</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V[x̄] (sampling distribution variance) = average squared distance from 3 = (4 + 1 + 0 + 1 + 0 + 1 + 0 + 1 + 4)/9 = </a:t>
            </a:r>
            <a:r>
              <a:rPr lang="en-US" sz="1800" b="1" dirty="0">
                <a:solidFill>
                  <a:srgbClr val="FF42A1"/>
                </a:solidFill>
                <a:latin typeface="Aptos" pitchFamily="34" charset="0"/>
                <a:ea typeface="Aptos" pitchFamily="34" charset="-122"/>
                <a:cs typeface="Aptos" pitchFamily="34" charset="-120"/>
              </a:rPr>
              <a:t>4/3</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SE (sampling distribution SD) = √V[x̄] = √(4/3) = </a:t>
            </a:r>
            <a:r>
              <a:rPr lang="en-US" sz="1800" b="1" dirty="0">
                <a:solidFill>
                  <a:srgbClr val="FF42A1"/>
                </a:solidFill>
                <a:latin typeface="Aptos" pitchFamily="34" charset="0"/>
                <a:ea typeface="Aptos" pitchFamily="34" charset="-122"/>
                <a:cs typeface="Aptos" pitchFamily="34" charset="-120"/>
              </a:rPr>
              <a:t>1.15</a:t>
            </a:r>
            <a:r>
              <a:rPr lang="en-US" sz="1800" dirty="0">
                <a:solidFill>
                  <a:srgbClr val="3A3A3A"/>
                </a:solidFill>
                <a:latin typeface="Aptos" pitchFamily="34" charset="0"/>
                <a:ea typeface="Aptos" pitchFamily="34" charset="-122"/>
                <a:cs typeface="Aptos" pitchFamily="34" charset="-120"/>
              </a:rPr>
              <a:t>. Same as the formula: V[x̄] = σ²/n = (8/3)/2 = 4/3 ✓</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This is the whole sampling distribution. When we can't list every sample, we use SE = σ/√n and </a:t>
            </a:r>
            <a:r>
              <a:rPr lang="en-US" sz="1800" b="1" dirty="0">
                <a:solidFill>
                  <a:srgbClr val="FF42A1"/>
                </a:solidFill>
                <a:latin typeface="Aptos" pitchFamily="34" charset="0"/>
                <a:ea typeface="Aptos" pitchFamily="34" charset="-122"/>
                <a:cs typeface="Aptos" pitchFamily="34" charset="-120"/>
              </a:rPr>
              <a:t>plug in s for σ</a:t>
            </a:r>
            <a:r>
              <a:rPr lang="en-US" sz="1800" dirty="0">
                <a:solidFill>
                  <a:srgbClr val="3A3A3A"/>
                </a:solidFill>
                <a:latin typeface="Aptos" pitchFamily="34" charset="0"/>
                <a:ea typeface="Aptos" pitchFamily="34" charset="-122"/>
                <a:cs typeface="Aptos" pitchFamily="34" charset="-120"/>
              </a:rPr>
              <a:t> (next slides)</a:t>
            </a:r>
            <a:endParaRPr lang="en-US" sz="1800" dirty="0"/>
          </a:p>
        </p:txBody>
      </p:sp>
      <p:pic>
        <p:nvPicPr>
          <p:cNvPr id="6" name="Image 0" descr="/private/tmp/claude-502/-Users-xpz5km-Library-CloudStorage-Box-Box--Teaching-DS5030-Understanding-Uncertainty-Understanding-Uncertainty/19192ed6-4268-4d35-9086-608b2f1b36d6/scratchpad/hires/figs/c07_0.png"/>
          <p:cNvPicPr>
            <a:picLocks noChangeAspect="1"/>
          </p:cNvPicPr>
          <p:nvPr/>
        </p:nvPicPr>
        <p:blipFill>
          <a:blip r:embed="rId3"/>
          <a:stretch>
            <a:fillRect/>
          </a:stretch>
        </p:blipFill>
        <p:spPr>
          <a:xfrm>
            <a:off x="6949440" y="1325880"/>
            <a:ext cx="4663440" cy="3671768"/>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Two Ways to Get the Standard Error</a:t>
            </a:r>
            <a:endParaRPr lang="en-US" sz="3000" dirty="0"/>
          </a:p>
        </p:txBody>
      </p:sp>
      <p:sp>
        <p:nvSpPr>
          <p:cNvPr id="3" name="Text 1"/>
          <p:cNvSpPr txBox="1"/>
          <p:nvPr/>
        </p:nvSpPr>
        <p:spPr>
          <a:xfrm>
            <a:off x="548640" y="1280160"/>
            <a:ext cx="11064240" cy="4206240"/>
          </a:xfrm>
          <a:prstGeom prst="rect">
            <a:avLst/>
          </a:prstGeom>
          <a:noFill/>
          <a:ln/>
        </p:spPr>
        <p:txBody>
          <a:bodyPr wrap="square" lIns="0" tIns="0" rIns="0" bIns="0" rtlCol="0" anchor="t"/>
          <a:lstStyle/>
          <a:p>
            <a:pPr marL="228600" indent="-228600">
              <a:spcAft>
                <a:spcPts val="600"/>
              </a:spcAft>
              <a:buSzPct val="100000"/>
              <a:buChar char="•"/>
            </a:pPr>
            <a:r>
              <a:rPr lang="en-US" sz="2000" b="1" dirty="0">
                <a:solidFill>
                  <a:srgbClr val="FF42A1"/>
                </a:solidFill>
                <a:latin typeface="Aptos" pitchFamily="34" charset="0"/>
                <a:ea typeface="Aptos" pitchFamily="34" charset="-122"/>
                <a:cs typeface="Aptos" pitchFamily="34" charset="-120"/>
              </a:rPr>
              <a:t>1. Know the whole sampling distribution.</a:t>
            </a:r>
            <a:r>
              <a:rPr lang="en-US" sz="2000" dirty="0">
                <a:solidFill>
                  <a:srgbClr val="3A3A3A"/>
                </a:solidFill>
                <a:latin typeface="Aptos" pitchFamily="34" charset="0"/>
                <a:ea typeface="Aptos" pitchFamily="34" charset="-122"/>
                <a:cs typeface="Aptos" pitchFamily="34" charset="-120"/>
              </a:rPr>
              <a:t> List every possible sample, compute x̄ for each, and take the variance of the x̄'s. For {1, 3, 5}: V[x̄] (sampling distribution variance) = 4/3, SE = √V[x̄] = 1.15. Only possible for tiny populations or simulations</a:t>
            </a:r>
          </a:p>
          <a:p>
            <a:pPr marL="685800" lvl="1" indent="-228600">
              <a:spcAft>
                <a:spcPts val="600"/>
              </a:spcAft>
              <a:buSzPct val="100000"/>
              <a:buFontTx/>
              <a:buChar char="•"/>
            </a:pPr>
            <a:r>
              <a:rPr lang="en-US" sz="2000" dirty="0">
                <a:solidFill>
                  <a:srgbClr val="3A3A3A"/>
                </a:solidFill>
                <a:latin typeface="Aptos" pitchFamily="34" charset="0"/>
                <a:ea typeface="Aptos" pitchFamily="34" charset="-122"/>
                <a:cs typeface="Aptos" pitchFamily="34" charset="-120"/>
              </a:rPr>
              <a:t>With real data: the </a:t>
            </a:r>
            <a:r>
              <a:rPr lang="en-US" sz="2000" b="1" dirty="0">
                <a:solidFill>
                  <a:srgbClr val="FF42A1"/>
                </a:solidFill>
                <a:latin typeface="Aptos" pitchFamily="34" charset="0"/>
                <a:ea typeface="Aptos" pitchFamily="34" charset="-122"/>
                <a:cs typeface="Aptos" pitchFamily="34" charset="-120"/>
              </a:rPr>
              <a:t>bootstrap</a:t>
            </a:r>
            <a:r>
              <a:rPr lang="en-US" sz="2000" dirty="0">
                <a:solidFill>
                  <a:srgbClr val="3A3A3A"/>
                </a:solidFill>
                <a:latin typeface="Aptos" pitchFamily="34" charset="0"/>
                <a:ea typeface="Aptos" pitchFamily="34" charset="-122"/>
                <a:cs typeface="Aptos" pitchFamily="34" charset="-120"/>
              </a:rPr>
              <a:t> is this done on our sample instead of the population</a:t>
            </a:r>
            <a:endParaRPr lang="en-US" sz="2000" dirty="0"/>
          </a:p>
          <a:p>
            <a:pPr marL="228600" indent="-228600">
              <a:spcAft>
                <a:spcPts val="600"/>
              </a:spcAft>
              <a:buSzPct val="100000"/>
              <a:buChar char="•"/>
            </a:pPr>
            <a:r>
              <a:rPr lang="en-US" sz="2000" b="1" dirty="0">
                <a:solidFill>
                  <a:srgbClr val="FF42A1"/>
                </a:solidFill>
                <a:latin typeface="Aptos" pitchFamily="34" charset="0"/>
                <a:ea typeface="Aptos" pitchFamily="34" charset="-122"/>
                <a:cs typeface="Aptos" pitchFamily="34" charset="-120"/>
              </a:rPr>
              <a:t>2. Use the formula.</a:t>
            </a:r>
            <a:r>
              <a:rPr lang="en-US" sz="2000" dirty="0">
                <a:solidFill>
                  <a:srgbClr val="3A3A3A"/>
                </a:solidFill>
                <a:latin typeface="Aptos" pitchFamily="34" charset="0"/>
                <a:ea typeface="Aptos" pitchFamily="34" charset="-122"/>
                <a:cs typeface="Aptos" pitchFamily="34" charset="-120"/>
              </a:rPr>
              <a:t> The sampling distribution's variance comes from the population's: V[x̄] = σ²/n, so SE = σ/√n. No list needed, but it needs σ, the population SD</a:t>
            </a:r>
            <a:endParaRPr lang="en-US" sz="2000" dirty="0"/>
          </a:p>
          <a:p>
            <a:pPr marL="685800" lvl="1"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se(x̄) = σ/√n is </a:t>
            </a:r>
            <a:r>
              <a:rPr lang="en-US" sz="2000" b="1" dirty="0">
                <a:solidFill>
                  <a:srgbClr val="FF42A1"/>
                </a:solidFill>
                <a:latin typeface="Aptos" pitchFamily="34" charset="0"/>
                <a:ea typeface="Aptos" pitchFamily="34" charset="-122"/>
                <a:cs typeface="Aptos" pitchFamily="34" charset="-120"/>
              </a:rPr>
              <a:t>exact but useless as written</a:t>
            </a:r>
            <a:r>
              <a:rPr lang="en-US" sz="2000" dirty="0">
                <a:solidFill>
                  <a:srgbClr val="3A3A3A"/>
                </a:solidFill>
                <a:latin typeface="Aptos" pitchFamily="34" charset="0"/>
                <a:ea typeface="Aptos" pitchFamily="34" charset="-122"/>
                <a:cs typeface="Aptos" pitchFamily="34" charset="-120"/>
              </a:rPr>
              <a:t>: σ is unknown. Every practical SE fills that gap the same way</a:t>
            </a:r>
          </a:p>
          <a:p>
            <a:pPr marL="685800" lvl="1" indent="-228600">
              <a:spcAft>
                <a:spcPts val="600"/>
              </a:spcAft>
              <a:buSzPct val="100000"/>
              <a:buFontTx/>
              <a:buChar char="•"/>
            </a:pPr>
            <a:r>
              <a:rPr lang="en-US" sz="2000" dirty="0">
                <a:solidFill>
                  <a:srgbClr val="3A3A3A"/>
                </a:solidFill>
                <a:latin typeface="Aptos" pitchFamily="34" charset="0"/>
                <a:ea typeface="Aptos" pitchFamily="34" charset="-122"/>
                <a:cs typeface="Aptos" pitchFamily="34" charset="-120"/>
              </a:rPr>
              <a:t>With real data: we know neither the sampling distribution nor </a:t>
            </a:r>
            <a:r>
              <a:rPr lang="en-US" sz="2000" dirty="0" err="1">
                <a:solidFill>
                  <a:srgbClr val="3A3A3A"/>
                </a:solidFill>
                <a:latin typeface="Aptos" pitchFamily="34" charset="0"/>
                <a:ea typeface="Aptos" pitchFamily="34" charset="-122"/>
                <a:cs typeface="Aptos" pitchFamily="34" charset="-120"/>
              </a:rPr>
              <a:t>σ</a:t>
            </a:r>
            <a:r>
              <a:rPr lang="en-US" sz="2000" dirty="0">
                <a:solidFill>
                  <a:srgbClr val="3A3A3A"/>
                </a:solidFill>
                <a:latin typeface="Aptos" pitchFamily="34" charset="0"/>
                <a:ea typeface="Aptos" pitchFamily="34" charset="-122"/>
                <a:cs typeface="Aptos" pitchFamily="34" charset="-120"/>
              </a:rPr>
              <a:t>. So we </a:t>
            </a:r>
            <a:r>
              <a:rPr lang="en-US" sz="2000" b="1" dirty="0">
                <a:solidFill>
                  <a:srgbClr val="FF42A1"/>
                </a:solidFill>
                <a:latin typeface="Aptos" pitchFamily="34" charset="0"/>
                <a:ea typeface="Aptos" pitchFamily="34" charset="-122"/>
                <a:cs typeface="Aptos" pitchFamily="34" charset="-120"/>
              </a:rPr>
              <a:t>plug in s</a:t>
            </a:r>
            <a:r>
              <a:rPr lang="en-US" sz="2000" dirty="0">
                <a:solidFill>
                  <a:srgbClr val="3A3A3A"/>
                </a:solidFill>
                <a:latin typeface="Aptos" pitchFamily="34" charset="0"/>
                <a:ea typeface="Aptos" pitchFamily="34" charset="-122"/>
                <a:cs typeface="Aptos" pitchFamily="34" charset="-120"/>
              </a:rPr>
              <a:t>, the SD of our one sample: estimated SE = s/√n</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For {1, 3, 5}: population σ² = 8/3, so σ = 1.63 and SE = σ/√2 = 1.15 ✓, the same answer as route 1</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12</a:t>
            </a:fld>
            <a:endParaRPr lang="en-US"/>
          </a:p>
        </p:txBody>
      </p:sp>
      <p:sp>
        <p:nvSpPr>
          <p:cNvPr id="40" name="Text 3"/>
          <p:cNvSpPr txBox="1"/>
          <p:nvPr/>
        </p:nvSpPr>
        <p:spPr>
          <a:xfrm>
            <a:off x="548640" y="5989320"/>
            <a:ext cx="11064240" cy="457200"/>
          </a:xfrm>
          <a:prstGeom prst="rect">
            <a:avLst/>
          </a:prstGeom>
          <a:noFill/>
          <a:ln/>
        </p:spPr>
        <p:txBody>
          <a:bodyPr wrap="square" lIns="0" tIns="0" rIns="0" bIns="0" rtlCol="0" anchor="ctr"/>
          <a:lstStyle/>
          <a:p>
            <a:pPr algn="ctr">
              <a:buNone/>
            </a:pPr>
            <a:r>
              <a:rPr lang="en-US" sz="2000" b="1" dirty="0">
                <a:solidFill>
                  <a:srgbClr val="FF42A1"/>
                </a:solidFill>
                <a:latin typeface="Aptos" pitchFamily="34" charset="0"/>
                <a:ea typeface="Aptos" pitchFamily="34" charset="-122"/>
                <a:cs typeface="Aptos" pitchFamily="34" charset="-120"/>
              </a:rPr>
              <a:t>real data: estimated SE = s/√n, or the bootstrap</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Estimating the Standard Error</a:t>
            </a:r>
            <a:endParaRPr lang="en-US" sz="3000" dirty="0"/>
          </a:p>
        </p:txBody>
      </p:sp>
      <p:sp>
        <p:nvSpPr>
          <p:cNvPr id="3" name="Text 1"/>
          <p:cNvSpPr txBox="1"/>
          <p:nvPr/>
        </p:nvSpPr>
        <p:spPr>
          <a:xfrm>
            <a:off x="548640" y="1280160"/>
            <a:ext cx="11064240" cy="891032"/>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Route 2 needs σ, which we don't know. We estimate it from our one sample with s</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From one sample, say (3, 5): x̄ = 4 and</a:t>
            </a:r>
            <a:endParaRPr lang="en-US" sz="2000" dirty="0"/>
          </a:p>
        </p:txBody>
      </p:sp>
      <p:pic>
        <p:nvPicPr>
          <p:cNvPr id="4" name="Image 0" descr="s2_example"/>
          <p:cNvPicPr>
            <a:picLocks noChangeAspect="1"/>
          </p:cNvPicPr>
          <p:nvPr/>
        </p:nvPicPr>
        <p:blipFill>
          <a:blip r:embed="rId3"/>
          <a:stretch>
            <a:fillRect/>
          </a:stretch>
        </p:blipFill>
        <p:spPr>
          <a:xfrm>
            <a:off x="914400" y="2216912"/>
            <a:ext cx="5804611" cy="533141"/>
          </a:xfrm>
          <a:prstGeom prst="rect">
            <a:avLst/>
          </a:prstGeom>
        </p:spPr>
      </p:pic>
      <p:sp>
        <p:nvSpPr>
          <p:cNvPr id="5" name="Text 2"/>
          <p:cNvSpPr txBox="1"/>
          <p:nvPr/>
        </p:nvSpPr>
        <p:spPr>
          <a:xfrm>
            <a:off x="548640" y="2932933"/>
            <a:ext cx="11064240" cy="808736"/>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Why n − 1 when calculating s</a:t>
            </a:r>
            <a:r>
              <a:rPr lang="en-US" sz="2000" baseline="30000" dirty="0">
                <a:solidFill>
                  <a:srgbClr val="3A3A3A"/>
                </a:solidFill>
                <a:latin typeface="Aptos" pitchFamily="34" charset="0"/>
                <a:ea typeface="Aptos" pitchFamily="34" charset="-122"/>
                <a:cs typeface="Aptos" pitchFamily="34" charset="-120"/>
              </a:rPr>
              <a:t>2</a:t>
            </a:r>
            <a:r>
              <a:rPr lang="en-US" sz="2000" dirty="0">
                <a:solidFill>
                  <a:srgbClr val="3A3A3A"/>
                </a:solidFill>
                <a:latin typeface="Aptos" pitchFamily="34" charset="0"/>
                <a:ea typeface="Aptos" pitchFamily="34" charset="-122"/>
                <a:cs typeface="Aptos" pitchFamily="34" charset="-120"/>
              </a:rPr>
              <a:t>, our estimate of σ</a:t>
            </a:r>
            <a:r>
              <a:rPr lang="en-US" sz="2000" baseline="30000" dirty="0">
                <a:solidFill>
                  <a:srgbClr val="3A3A3A"/>
                </a:solidFill>
                <a:latin typeface="Aptos" pitchFamily="34" charset="0"/>
                <a:ea typeface="Aptos" pitchFamily="34" charset="-122"/>
                <a:cs typeface="Aptos" pitchFamily="34" charset="-120"/>
              </a:rPr>
              <a:t>2 </a:t>
            </a:r>
            <a:r>
              <a:rPr lang="en-US" sz="2000" dirty="0">
                <a:solidFill>
                  <a:srgbClr val="3A3A3A"/>
                </a:solidFill>
                <a:latin typeface="Aptos" pitchFamily="34" charset="0"/>
                <a:ea typeface="Aptos" pitchFamily="34" charset="-122"/>
                <a:cs typeface="Aptos" pitchFamily="34" charset="-120"/>
              </a:rPr>
              <a:t>that comes from the sample? The deviations are measured from x̄, which was fit to the same data and sits </a:t>
            </a:r>
            <a:r>
              <a:rPr lang="en-US" sz="2000" b="1" dirty="0">
                <a:solidFill>
                  <a:srgbClr val="FF42A1"/>
                </a:solidFill>
                <a:latin typeface="Aptos" pitchFamily="34" charset="0"/>
                <a:ea typeface="Aptos" pitchFamily="34" charset="-122"/>
                <a:cs typeface="Aptos" pitchFamily="34" charset="-120"/>
              </a:rPr>
              <a:t>closer to them than μ does</a:t>
            </a:r>
            <a:r>
              <a:rPr lang="en-US" sz="2000" dirty="0">
                <a:solidFill>
                  <a:srgbClr val="3A3A3A"/>
                </a:solidFill>
                <a:latin typeface="Aptos" pitchFamily="34" charset="0"/>
                <a:ea typeface="Aptos" pitchFamily="34" charset="-122"/>
                <a:cs typeface="Aptos" pitchFamily="34" charset="-120"/>
              </a:rPr>
              <a:t>. From μ = 3 the squares would sum to 4, not 2:</a:t>
            </a:r>
            <a:endParaRPr lang="en-US" sz="2000" dirty="0"/>
          </a:p>
        </p:txBody>
      </p:sp>
      <p:sp>
        <p:nvSpPr>
          <p:cNvPr id="7" name="Text 3"/>
          <p:cNvSpPr txBox="1"/>
          <p:nvPr/>
        </p:nvSpPr>
        <p:spPr>
          <a:xfrm>
            <a:off x="548640" y="6272784"/>
            <a:ext cx="11064240" cy="365760"/>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Two denominators, two jobs: </a:t>
            </a:r>
            <a:r>
              <a:rPr lang="en-US" sz="2000" b="1" dirty="0">
                <a:solidFill>
                  <a:srgbClr val="FF42A1"/>
                </a:solidFill>
                <a:latin typeface="Aptos" pitchFamily="34" charset="0"/>
                <a:ea typeface="Aptos" pitchFamily="34" charset="-122"/>
                <a:cs typeface="Aptos" pitchFamily="34" charset="-120"/>
              </a:rPr>
              <a:t>n − 1</a:t>
            </a:r>
            <a:r>
              <a:rPr lang="en-US" sz="2000" dirty="0">
                <a:solidFill>
                  <a:srgbClr val="3A3A3A"/>
                </a:solidFill>
                <a:latin typeface="Aptos" pitchFamily="34" charset="0"/>
                <a:ea typeface="Aptos" pitchFamily="34" charset="-122"/>
                <a:cs typeface="Aptos" pitchFamily="34" charset="-120"/>
              </a:rPr>
              <a:t> estimates σ²; the </a:t>
            </a:r>
            <a:r>
              <a:rPr lang="en-US" sz="2000" b="1" dirty="0">
                <a:solidFill>
                  <a:srgbClr val="FF42A1"/>
                </a:solidFill>
                <a:latin typeface="Aptos" pitchFamily="34" charset="0"/>
                <a:ea typeface="Aptos" pitchFamily="34" charset="-122"/>
                <a:cs typeface="Aptos" pitchFamily="34" charset="-120"/>
              </a:rPr>
              <a:t>n</a:t>
            </a:r>
            <a:r>
              <a:rPr lang="en-US" sz="2000" dirty="0">
                <a:solidFill>
                  <a:srgbClr val="3A3A3A"/>
                </a:solidFill>
                <a:latin typeface="Aptos" pitchFamily="34" charset="0"/>
                <a:ea typeface="Aptos" pitchFamily="34" charset="-122"/>
                <a:cs typeface="Aptos" pitchFamily="34" charset="-120"/>
              </a:rPr>
              <a:t> in σ²/n comes from averaging</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13</a:t>
            </a:fld>
            <a:endParaRPr lang="en-US"/>
          </a:p>
        </p:txBody>
      </p:sp>
      <p:sp>
        <p:nvSpPr>
          <p:cNvPr id="41" name="Step 1"/>
          <p:cNvSpPr txBox="1"/>
          <p:nvPr/>
        </p:nvSpPr>
        <p:spPr>
          <a:xfrm>
            <a:off x="548640" y="3959352"/>
            <a:ext cx="3657600" cy="365760"/>
          </a:xfrm>
          <a:prstGeom prst="rect">
            <a:avLst/>
          </a:prstGeom>
          <a:noFill/>
          <a:ln/>
        </p:spPr>
        <p:txBody>
          <a:bodyPr wrap="square" lIns="0" tIns="0" rIns="0" bIns="0" rtlCol="0" anchor="ctr"/>
          <a:lstStyle/>
          <a:p>
            <a:pPr>
              <a:buNone/>
            </a:pPr>
            <a:r>
              <a:rPr lang="en-US" sz="1800" b="1" dirty="0">
                <a:solidFill>
                  <a:srgbClr val="FF42A1"/>
                </a:solidFill>
                <a:latin typeface="Aptos" pitchFamily="34" charset="0"/>
                <a:ea typeface="Aptos" pitchFamily="34" charset="-122"/>
                <a:cs typeface="Aptos" pitchFamily="34" charset="-120"/>
              </a:rPr>
              <a:t>1.</a:t>
            </a:r>
            <a:r>
              <a:rPr lang="en-US" sz="1800" dirty="0">
                <a:solidFill>
                  <a:srgbClr val="3A3A3A"/>
                </a:solidFill>
                <a:latin typeface="Aptos" pitchFamily="34" charset="0"/>
                <a:ea typeface="Aptos" pitchFamily="34" charset="-122"/>
                <a:cs typeface="Aptos" pitchFamily="34" charset="-120"/>
              </a:rPr>
              <a:t> Split each deviation:</a:t>
            </a:r>
            <a:endParaRPr lang="en-US" sz="1800" dirty="0"/>
          </a:p>
        </p:txBody>
      </p:sp>
      <p:pic>
        <p:nvPicPr>
          <p:cNvPr id="42" name="step1_eq" descr="step1_eq"/>
          <p:cNvPicPr>
            <a:picLocks noChangeAspect="1"/>
          </p:cNvPicPr>
          <p:nvPr/>
        </p:nvPicPr>
        <p:blipFill>
          <a:blip r:embed="rId4"/>
          <a:stretch>
            <a:fillRect/>
          </a:stretch>
        </p:blipFill>
        <p:spPr>
          <a:xfrm>
            <a:off x="4343400" y="3977640"/>
            <a:ext cx="3387852" cy="332965"/>
          </a:xfrm>
          <a:prstGeom prst="rect">
            <a:avLst/>
          </a:prstGeom>
        </p:spPr>
      </p:pic>
      <p:sp>
        <p:nvSpPr>
          <p:cNvPr id="43" name="Step 2"/>
          <p:cNvSpPr txBox="1"/>
          <p:nvPr/>
        </p:nvSpPr>
        <p:spPr>
          <a:xfrm>
            <a:off x="548640" y="4443984"/>
            <a:ext cx="3657600" cy="365760"/>
          </a:xfrm>
          <a:prstGeom prst="rect">
            <a:avLst/>
          </a:prstGeom>
          <a:noFill/>
          <a:ln/>
        </p:spPr>
        <p:txBody>
          <a:bodyPr wrap="square" lIns="0" tIns="0" rIns="0" bIns="0" rtlCol="0" anchor="ctr"/>
          <a:lstStyle/>
          <a:p>
            <a:pPr>
              <a:buNone/>
            </a:pPr>
            <a:r>
              <a:rPr lang="en-US" sz="1800" b="1" dirty="0">
                <a:solidFill>
                  <a:srgbClr val="FF42A1"/>
                </a:solidFill>
                <a:latin typeface="Aptos" pitchFamily="34" charset="0"/>
                <a:ea typeface="Aptos" pitchFamily="34" charset="-122"/>
                <a:cs typeface="Aptos" pitchFamily="34" charset="-120"/>
              </a:rPr>
              <a:t>2.</a:t>
            </a:r>
            <a:r>
              <a:rPr lang="en-US" sz="1800" dirty="0">
                <a:solidFill>
                  <a:srgbClr val="3A3A3A"/>
                </a:solidFill>
                <a:latin typeface="Aptos" pitchFamily="34" charset="0"/>
                <a:ea typeface="Aptos" pitchFamily="34" charset="-122"/>
                <a:cs typeface="Aptos" pitchFamily="34" charset="-120"/>
              </a:rPr>
              <a:t> Square and add up:</a:t>
            </a:r>
            <a:endParaRPr lang="en-US" sz="1800" dirty="0"/>
          </a:p>
        </p:txBody>
      </p:sp>
      <p:pic>
        <p:nvPicPr>
          <p:cNvPr id="44" name="step2_eq" descr="step2_eq"/>
          <p:cNvPicPr>
            <a:picLocks noChangeAspect="1"/>
          </p:cNvPicPr>
          <p:nvPr/>
        </p:nvPicPr>
        <p:blipFill>
          <a:blip r:embed="rId5"/>
          <a:stretch>
            <a:fillRect/>
          </a:stretch>
        </p:blipFill>
        <p:spPr>
          <a:xfrm>
            <a:off x="4343400" y="4453128"/>
            <a:ext cx="4572123" cy="350339"/>
          </a:xfrm>
          <a:prstGeom prst="rect">
            <a:avLst/>
          </a:prstGeom>
        </p:spPr>
      </p:pic>
      <p:sp>
        <p:nvSpPr>
          <p:cNvPr id="45" name="Step 2 note"/>
          <p:cNvSpPr txBox="1"/>
          <p:nvPr/>
        </p:nvSpPr>
        <p:spPr>
          <a:xfrm>
            <a:off x="868680" y="4864608"/>
            <a:ext cx="10744200" cy="292608"/>
          </a:xfrm>
          <a:prstGeom prst="rect">
            <a:avLst/>
          </a:prstGeom>
          <a:noFill/>
          <a:ln/>
        </p:spPr>
        <p:txBody>
          <a:bodyPr wrap="square" lIns="0" tIns="0" rIns="0" bIns="0" rtlCol="0" anchor="ctr"/>
          <a:lstStyle/>
          <a:p>
            <a:pPr>
              <a:buNone/>
            </a:pPr>
            <a:r>
              <a:rPr lang="en-US" sz="1600" dirty="0">
                <a:solidFill>
                  <a:srgbClr val="3A3A3A"/>
                </a:solidFill>
                <a:latin typeface="Aptos" pitchFamily="34" charset="0"/>
                <a:ea typeface="Aptos" pitchFamily="34" charset="-122"/>
                <a:cs typeface="Aptos" pitchFamily="34" charset="-120"/>
              </a:rPr>
              <a:t>Cross term is 0 (deviations from x̄ sum to 0). Spread around μ = spread around x̄ + a penalty. For (3, 5): 4 = 2 + 2</a:t>
            </a:r>
            <a:endParaRPr lang="en-US" sz="1600" dirty="0"/>
          </a:p>
        </p:txBody>
      </p:sp>
      <p:sp>
        <p:nvSpPr>
          <p:cNvPr id="46" name="Step 3"/>
          <p:cNvSpPr txBox="1"/>
          <p:nvPr/>
        </p:nvSpPr>
        <p:spPr>
          <a:xfrm>
            <a:off x="548640" y="5230368"/>
            <a:ext cx="3657600" cy="365760"/>
          </a:xfrm>
          <a:prstGeom prst="rect">
            <a:avLst/>
          </a:prstGeom>
          <a:noFill/>
          <a:ln/>
        </p:spPr>
        <p:txBody>
          <a:bodyPr wrap="square" lIns="0" tIns="0" rIns="0" bIns="0" rtlCol="0" anchor="ctr"/>
          <a:lstStyle/>
          <a:p>
            <a:pPr>
              <a:buNone/>
            </a:pPr>
            <a:r>
              <a:rPr lang="en-US" sz="1800" b="1" dirty="0">
                <a:solidFill>
                  <a:srgbClr val="FF42A1"/>
                </a:solidFill>
                <a:latin typeface="Aptos" pitchFamily="34" charset="0"/>
                <a:ea typeface="Aptos" pitchFamily="34" charset="-122"/>
                <a:cs typeface="Aptos" pitchFamily="34" charset="-120"/>
              </a:rPr>
              <a:t>3.</a:t>
            </a:r>
            <a:r>
              <a:rPr lang="en-US" sz="1800" dirty="0">
                <a:solidFill>
                  <a:srgbClr val="3A3A3A"/>
                </a:solidFill>
                <a:latin typeface="Aptos" pitchFamily="34" charset="0"/>
                <a:ea typeface="Aptos" pitchFamily="34" charset="-122"/>
                <a:cs typeface="Aptos" pitchFamily="34" charset="-120"/>
              </a:rPr>
              <a:t> Rearrange step 2:</a:t>
            </a:r>
            <a:endParaRPr lang="en-US" sz="1800" dirty="0"/>
          </a:p>
        </p:txBody>
      </p:sp>
      <p:pic>
        <p:nvPicPr>
          <p:cNvPr id="47" name="step3a_eq" descr="step3a_eq"/>
          <p:cNvPicPr>
            <a:picLocks noChangeAspect="1"/>
          </p:cNvPicPr>
          <p:nvPr/>
        </p:nvPicPr>
        <p:blipFill>
          <a:blip r:embed="rId6"/>
          <a:stretch>
            <a:fillRect/>
          </a:stretch>
        </p:blipFill>
        <p:spPr>
          <a:xfrm>
            <a:off x="4343400" y="5239512"/>
            <a:ext cx="4586630" cy="350339"/>
          </a:xfrm>
          <a:prstGeom prst="rect">
            <a:avLst/>
          </a:prstGeom>
        </p:spPr>
      </p:pic>
      <p:sp>
        <p:nvSpPr>
          <p:cNvPr id="48" name="Step 3b"/>
          <p:cNvSpPr txBox="1"/>
          <p:nvPr/>
        </p:nvSpPr>
        <p:spPr>
          <a:xfrm>
            <a:off x="548640" y="5705856"/>
            <a:ext cx="3657600" cy="365760"/>
          </a:xfrm>
          <a:prstGeom prst="rect">
            <a:avLst/>
          </a:prstGeom>
          <a:noFill/>
          <a:ln/>
        </p:spPr>
        <p:txBody>
          <a:bodyPr wrap="square" lIns="0" tIns="0" rIns="0" bIns="0" rtlCol="0" anchor="ctr"/>
          <a:lstStyle/>
          <a:p>
            <a:pPr>
              <a:buNone/>
            </a:pPr>
            <a:r>
              <a:rPr lang="en-US" sz="1800" dirty="0">
                <a:solidFill>
                  <a:srgbClr val="3A3A3A"/>
                </a:solidFill>
                <a:latin typeface="Aptos" pitchFamily="34" charset="0"/>
                <a:ea typeface="Aptos" pitchFamily="34" charset="-122"/>
                <a:cs typeface="Aptos" pitchFamily="34" charset="-120"/>
              </a:rPr>
              <a:t>    Average each piece:</a:t>
            </a:r>
            <a:endParaRPr lang="en-US" sz="1800" dirty="0"/>
          </a:p>
        </p:txBody>
      </p:sp>
      <p:pic>
        <p:nvPicPr>
          <p:cNvPr id="49" name="step3b_eq" descr="step3b_eq"/>
          <p:cNvPicPr>
            <a:picLocks noChangeAspect="1"/>
          </p:cNvPicPr>
          <p:nvPr/>
        </p:nvPicPr>
        <p:blipFill>
          <a:blip r:embed="rId7"/>
          <a:stretch>
            <a:fillRect/>
          </a:stretch>
        </p:blipFill>
        <p:spPr>
          <a:xfrm>
            <a:off x="4343400" y="5632704"/>
            <a:ext cx="7052767" cy="5157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41" grpId="0" animBg="1"/>
      <p:bldP spid="43" grpId="0" animBg="1"/>
      <p:bldP spid="45" grpId="0" animBg="1"/>
      <p:bldP spid="46" grpId="0" animBg="1"/>
      <p:bldP spid="48"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But the Estimated SE Is Still Biased Low</a:t>
            </a:r>
            <a:endParaRPr lang="en-US" sz="3000" dirty="0"/>
          </a:p>
        </p:txBody>
      </p:sp>
      <p:sp>
        <p:nvSpPr>
          <p:cNvPr id="3" name="Text 1"/>
          <p:cNvSpPr txBox="1"/>
          <p:nvPr/>
        </p:nvSpPr>
        <p:spPr>
          <a:xfrm>
            <a:off x="548640" y="1280160"/>
            <a:ext cx="11064240" cy="891032"/>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s² is unbiased for σ², but √s² is not unbiased for σ</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On the 9 samples, the estimated SE is |x₁ − x₂| / 2:</a:t>
            </a:r>
            <a:endParaRPr lang="en-US" sz="2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262632"/>
          <a:ext cx="7680960" cy="1544320"/>
        </p:xfrm>
        <a:graphic>
          <a:graphicData uri="http://schemas.openxmlformats.org/drawingml/2006/table">
            <a:tbl>
              <a:tblPr/>
              <a:tblGrid>
                <a:gridCol w="1828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3108960">
                  <a:extLst>
                    <a:ext uri="{9D8B030D-6E8A-4147-A177-3AD203B41FA5}">
                      <a16:colId xmlns:a16="http://schemas.microsoft.com/office/drawing/2014/main" val="20004"/>
                    </a:ext>
                  </a:extLst>
                </a:gridCol>
              </a:tblGrid>
              <a:tr h="386080">
                <a:tc>
                  <a:txBody>
                    <a:bodyPr/>
                    <a:lstStyle/>
                    <a:p>
                      <a:pPr marL="0" indent="0">
                        <a:buNone/>
                      </a:pPr>
                      <a:r>
                        <a:rPr lang="en-US" sz="1600" b="1" dirty="0">
                          <a:solidFill>
                            <a:srgbClr val="000000"/>
                          </a:solidFill>
                          <a:latin typeface="Aptos" pitchFamily="34" charset="0"/>
                          <a:ea typeface="Aptos" pitchFamily="34" charset="-122"/>
                          <a:cs typeface="Aptos" pitchFamily="34" charset="-120"/>
                        </a:rPr>
                        <a:t>|x₁ − x₂|</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0</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2</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4</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average</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samples (of 9)</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3</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4</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2</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s²</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0</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2</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8</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8/3 (unbiased)</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estimated SE</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0</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1</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2</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8/9 = 0.89, not 1.15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txBox="1"/>
          <p:nvPr/>
        </p:nvSpPr>
        <p:spPr>
          <a:xfrm>
            <a:off x="548640" y="3931920"/>
            <a:ext cx="11064240" cy="2011680"/>
          </a:xfrm>
          <a:prstGeom prst="rect">
            <a:avLst/>
          </a:prstGeom>
          <a:noFill/>
          <a:ln/>
        </p:spPr>
        <p:txBody>
          <a:bodyPr wrap="square" lIns="0" tIns="0" rIns="0" bIns="0" rtlCol="0" anchor="t"/>
          <a:lstStyle/>
          <a:p>
            <a:pPr marL="228600" indent="-228600">
              <a:spcAft>
                <a:spcPts val="600"/>
              </a:spcAft>
              <a:buSzPct val="100000"/>
              <a:buChar char="•"/>
            </a:pPr>
            <a:r>
              <a:rPr lang="en-US" sz="1600" b="1" dirty="0">
                <a:solidFill>
                  <a:srgbClr val="FF42A1"/>
                </a:solidFill>
                <a:latin typeface="Aptos" pitchFamily="34" charset="0"/>
                <a:ea typeface="Aptos" pitchFamily="34" charset="-122"/>
                <a:cs typeface="Aptos" pitchFamily="34" charset="-120"/>
              </a:rPr>
              <a:t>Why?</a:t>
            </a:r>
            <a:r>
              <a:rPr lang="en-US" sz="1600" dirty="0">
                <a:solidFill>
                  <a:srgbClr val="3A3A3A"/>
                </a:solidFill>
                <a:latin typeface="Aptos" pitchFamily="34" charset="0"/>
                <a:ea typeface="Aptos" pitchFamily="34" charset="-122"/>
                <a:cs typeface="Aptos" pitchFamily="34" charset="-120"/>
              </a:rPr>
              <a:t> The square root shrinks big numbers more than small ones. Average 0 and 16: the average is 8, and √8 = 2.83. Take roots first: √0 = 0 and √16 = 4, average 2. The root of the average is bigger than the average of the roots</a:t>
            </a:r>
            <a:endParaRPr lang="en-US" sz="1600" dirty="0"/>
          </a:p>
          <a:p>
            <a:pPr marL="228600" indent="-228600">
              <a:spcAft>
                <a:spcPts val="600"/>
              </a:spcAft>
              <a:buSzPct val="100000"/>
              <a:buChar char="•"/>
            </a:pPr>
            <a:r>
              <a:rPr lang="en-US" sz="1600" dirty="0">
                <a:solidFill>
                  <a:srgbClr val="3A3A3A"/>
                </a:solidFill>
                <a:latin typeface="Aptos" pitchFamily="34" charset="0"/>
                <a:ea typeface="Aptos" pitchFamily="34" charset="-122"/>
                <a:cs typeface="Aptos" pitchFamily="34" charset="-120"/>
              </a:rPr>
              <a:t>Here: the average estimated SE is 0.89, but √(average of s²/n) = √(4/3) = 1.15</a:t>
            </a:r>
            <a:endParaRPr lang="en-US" sz="1600" dirty="0"/>
          </a:p>
          <a:p>
            <a:pPr marL="228600" indent="-228600">
              <a:spcAft>
                <a:spcPts val="600"/>
              </a:spcAft>
              <a:buSzPct val="100000"/>
              <a:buChar char="•"/>
            </a:pPr>
            <a:r>
              <a:rPr lang="en-US" sz="1600" b="1" dirty="0">
                <a:solidFill>
                  <a:srgbClr val="FF42A1"/>
                </a:solidFill>
                <a:latin typeface="Aptos" pitchFamily="34" charset="0"/>
                <a:ea typeface="Aptos" pitchFamily="34" charset="-122"/>
                <a:cs typeface="Aptos" pitchFamily="34" charset="-120"/>
              </a:rPr>
              <a:t>How do we fix it?</a:t>
            </a:r>
            <a:r>
              <a:rPr lang="en-US" sz="1600" dirty="0">
                <a:solidFill>
                  <a:srgbClr val="3A3A3A"/>
                </a:solidFill>
                <a:latin typeface="Aptos" pitchFamily="34" charset="0"/>
                <a:ea typeface="Aptos" pitchFamily="34" charset="-122"/>
                <a:cs typeface="Aptos" pitchFamily="34" charset="-120"/>
              </a:rPr>
              <a:t> For the SE itself, usually we don't: the bias fades fast as n grows. For normal data, s averages 0.80σ at n = 2, 0.94σ at n = 5, 0.97σ at n = 10, 0.99σ at n = 30</a:t>
            </a:r>
            <a:endParaRPr lang="en-US" sz="1600" dirty="0"/>
          </a:p>
          <a:p>
            <a:pPr marL="228600" indent="-228600">
              <a:spcAft>
                <a:spcPts val="600"/>
              </a:spcAft>
              <a:buSzPct val="100000"/>
              <a:buChar char="•"/>
            </a:pPr>
            <a:r>
              <a:rPr lang="en-US" sz="1600" dirty="0">
                <a:solidFill>
                  <a:srgbClr val="3A3A3A"/>
                </a:solidFill>
                <a:latin typeface="Aptos" pitchFamily="34" charset="0"/>
                <a:ea typeface="Aptos" pitchFamily="34" charset="-122"/>
                <a:cs typeface="Aptos" pitchFamily="34" charset="-120"/>
              </a:rPr>
              <a:t>What we fix is the interval: the </a:t>
            </a:r>
            <a:r>
              <a:rPr lang="en-US" sz="1600" b="1" dirty="0">
                <a:solidFill>
                  <a:srgbClr val="FF42A1"/>
                </a:solidFill>
                <a:latin typeface="Aptos" pitchFamily="34" charset="0"/>
                <a:ea typeface="Aptos" pitchFamily="34" charset="-122"/>
                <a:cs typeface="Aptos" pitchFamily="34" charset="-120"/>
              </a:rPr>
              <a:t>t-distribution</a:t>
            </a:r>
            <a:r>
              <a:rPr lang="en-US" sz="1600" dirty="0">
                <a:solidFill>
                  <a:srgbClr val="3A3A3A"/>
                </a:solidFill>
                <a:latin typeface="Aptos" pitchFamily="34" charset="0"/>
                <a:ea typeface="Aptos" pitchFamily="34" charset="-122"/>
                <a:cs typeface="Aptos" pitchFamily="34" charset="-120"/>
              </a:rPr>
              <a:t> (critical value 2.78 instead of 1.96 at n = 5) is built to account for the SE being estimated from the same small sample</a:t>
            </a:r>
            <a:endParaRPr lang="en-US" sz="1600" dirty="0"/>
          </a:p>
        </p:txBody>
      </p:sp>
      <p:sp>
        <p:nvSpPr>
          <p:cNvPr id="6" name="Text 3"/>
          <p:cNvSpPr txBox="1"/>
          <p:nvPr/>
        </p:nvSpPr>
        <p:spPr>
          <a:xfrm>
            <a:off x="548640" y="5989320"/>
            <a:ext cx="11064240" cy="457200"/>
          </a:xfrm>
          <a:prstGeom prst="rect">
            <a:avLst/>
          </a:prstGeom>
          <a:noFill/>
          <a:ln/>
        </p:spPr>
        <p:txBody>
          <a:bodyPr wrap="square" lIns="0" tIns="0" rIns="0" bIns="0" rtlCol="0" anchor="ctr"/>
          <a:lstStyle/>
          <a:p>
            <a:pPr marL="0" indent="0" algn="ctr">
              <a:buNone/>
            </a:pPr>
            <a:r>
              <a:rPr lang="en-US" sz="2000" b="1" dirty="0">
                <a:solidFill>
                  <a:srgbClr val="FF42A1"/>
                </a:solidFill>
              </a:rPr>
              <a:t>n − 1 fixes the variance; the t-distribution fixes the interval</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Exercise</a:t>
            </a:r>
            <a:endParaRPr lang="en-US" sz="3000" dirty="0"/>
          </a:p>
        </p:txBody>
      </p:sp>
      <p:sp>
        <p:nvSpPr>
          <p:cNvPr id="3" name="Text 1"/>
          <p:cNvSpPr txBox="1"/>
          <p:nvPr/>
        </p:nvSpPr>
        <p:spPr>
          <a:xfrm>
            <a:off x="548640" y="1280160"/>
            <a:ext cx="11064240" cy="2166874"/>
          </a:xfrm>
          <a:prstGeom prst="rect">
            <a:avLst/>
          </a:prstGeom>
          <a:noFill/>
          <a:ln/>
        </p:spPr>
        <p:txBody>
          <a:bodyPr wrap="square" lIns="0" tIns="0" rIns="0" bIns="0" rtlCol="0" anchor="t"/>
          <a:lstStyle/>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Data: {2, 4, 5, 6, 8}</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Compute x̄, the sum of squared deviations, s², and the estimated SE of x̄</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What do you get if you divide by n instead of n − 1?</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Which one answers: "how spread out are these five numbers?" and which answers "how spread out is the population?"</a:t>
            </a:r>
            <a:endParaRPr lang="en-US" sz="2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D4E7C-E161-2913-3D35-FBA11874118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FF15973-003D-6CA3-9AEF-658302E7FBEA}"/>
              </a:ext>
            </a:extLst>
          </p:cNvPr>
          <p:cNvSpPr>
            <a:spLocks noGrp="1"/>
          </p:cNvSpPr>
          <p:nvPr>
            <p:ph type="title" idx="100" hasCustomPrompt="1"/>
          </p:nvPr>
        </p:nvSpPr>
        <p:spPr>
          <a:xfrm>
            <a:off x="731520" y="1645920"/>
            <a:ext cx="10698480" cy="3566160"/>
          </a:xfrm>
          <a:prstGeom prst="rect">
            <a:avLst/>
          </a:prstGeom>
          <a:noFill/>
          <a:ln/>
        </p:spPr>
        <p:txBody>
          <a:bodyPr wrap="square" lIns="0" tIns="0" rIns="0" bIns="0" rtlCol="0" anchor="ctr"/>
          <a:lstStyle/>
          <a:p>
            <a:pPr marL="0" indent="0" algn="ctr">
              <a:buNone/>
            </a:pPr>
            <a:r>
              <a:rPr lang="en-US" sz="6000" b="1" dirty="0">
                <a:solidFill>
                  <a:schemeClr val="tx1"/>
                </a:solidFill>
              </a:rPr>
              <a:t>Bootstrapping</a:t>
            </a:r>
            <a:endParaRPr lang="en-US" sz="6000" dirty="0"/>
          </a:p>
        </p:txBody>
      </p:sp>
      <p:sp>
        <p:nvSpPr>
          <p:cNvPr id="25" name="Slide Number Placeholder 0">
            <a:extLst>
              <a:ext uri="{FF2B5EF4-FFF2-40B4-BE49-F238E27FC236}">
                <a16:creationId xmlns:a16="http://schemas.microsoft.com/office/drawing/2014/main" id="{70115B84-F432-DA54-A891-F8F8B45DC6C1}"/>
              </a:ext>
            </a:extLst>
          </p:cNvPr>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16</a:t>
            </a:fld>
            <a:endParaRPr lang="en-US"/>
          </a:p>
        </p:txBody>
      </p:sp>
    </p:spTree>
    <p:extLst>
      <p:ext uri="{BB962C8B-B14F-4D97-AF65-F5344CB8AC3E}">
        <p14:creationId xmlns:p14="http://schemas.microsoft.com/office/powerpoint/2010/main" val="2399389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Review: Sampling Distribution vs. Bootstrap Distribution</a:t>
            </a:r>
            <a:endParaRPr lang="en-US" sz="3000" dirty="0"/>
          </a:p>
        </p:txBody>
      </p:sp>
      <p:sp>
        <p:nvSpPr>
          <p:cNvPr id="3" name="Text 1"/>
          <p:cNvSpPr txBox="1"/>
          <p:nvPr/>
        </p:nvSpPr>
        <p:spPr>
          <a:xfrm>
            <a:off x="548640" y="1280160"/>
            <a:ext cx="11064240" cy="808736"/>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The sampling distribution resamples from the </a:t>
            </a:r>
            <a:r>
              <a:rPr lang="en-US" sz="2000" b="1" dirty="0">
                <a:solidFill>
                  <a:srgbClr val="FF42A1"/>
                </a:solidFill>
                <a:latin typeface="Aptos" pitchFamily="34" charset="0"/>
                <a:ea typeface="Aptos" pitchFamily="34" charset="-122"/>
                <a:cs typeface="Aptos" pitchFamily="34" charset="-120"/>
              </a:rPr>
              <a:t>population</a:t>
            </a:r>
            <a:endParaRPr lang="en-US" sz="2000" b="1" dirty="0">
              <a:solidFill>
                <a:srgbClr val="3A3A3A"/>
              </a:solidFill>
              <a:latin typeface="Aptos" pitchFamily="34" charset="0"/>
              <a:ea typeface="Aptos" pitchFamily="34" charset="-122"/>
              <a:cs typeface="Aptos" pitchFamily="34" charset="-120"/>
            </a:endParaRPr>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The bootstrap resamples from </a:t>
            </a:r>
            <a:r>
              <a:rPr lang="en-US" sz="2000" b="1" dirty="0">
                <a:solidFill>
                  <a:srgbClr val="FF42A1"/>
                </a:solidFill>
                <a:latin typeface="Aptos" pitchFamily="34" charset="0"/>
                <a:ea typeface="Aptos" pitchFamily="34" charset="-122"/>
                <a:cs typeface="Aptos" pitchFamily="34" charset="-120"/>
              </a:rPr>
              <a:t>our sample</a:t>
            </a:r>
            <a:endParaRPr lang="en-US" sz="2000" dirty="0"/>
          </a:p>
        </p:txBody>
      </p:sp>
      <mc:AlternateContent xmlns:mc="http://schemas.openxmlformats.org/markup-compatibility/2006" xmlns:a14="http://schemas.microsoft.com/office/drawing/2010/main">
        <mc:Choice Requires="a14">
          <p:graphicFrame>
            <p:nvGraphicFramePr>
              <p:cNvPr id="12" name="Table 0"/>
              <p:cNvGraphicFramePr>
                <a:graphicFrameLocks noGrp="1"/>
              </p:cNvGraphicFramePr>
              <p:nvPr>
                <p:extLst>
                  <p:ext uri="{D42A27DB-BD31-4B8C-83A1-F6EECF244321}">
                    <p14:modId xmlns:p14="http://schemas.microsoft.com/office/powerpoint/2010/main" val="4156033154"/>
                  </p:ext>
                </p:extLst>
              </p:nvPr>
            </p:nvGraphicFramePr>
            <p:xfrm>
              <a:off x="548640" y="2134616"/>
              <a:ext cx="10058400" cy="1930400"/>
            </p:xfrm>
            <a:graphic>
              <a:graphicData uri="http://schemas.openxmlformats.org/drawingml/2006/table">
                <a:tbl>
                  <a:tblPr/>
                  <a:tblGrid>
                    <a:gridCol w="23774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86080">
                    <a:tc>
                      <a:txBody>
                        <a:bodyPr/>
                        <a:lstStyle/>
                        <a:p>
                          <a:pPr marL="0" indent="0">
                            <a:buNone/>
                          </a:pP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Sampling distribution</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Bootstrap distribution</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Samples come from</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the population F (unknown)</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our sample, treated as the population</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How many exist</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one</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one per dataset</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Centered at</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the true θ</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our estimate </a:t>
                          </a:r>
                          <a14:m>
                            <m:oMath xmlns:m="http://schemas.openxmlformats.org/officeDocument/2006/math">
                              <m:acc>
                                <m:accPr>
                                  <m:chr m:val="̂"/>
                                  <m:ctrlPr>
                                    <a:rPr lang="en-US" sz="1600" i="1" smtClean="0">
                                      <a:solidFill>
                                        <a:srgbClr val="3A3A3A"/>
                                      </a:solidFill>
                                      <a:latin typeface="Cambria Math" panose="02040503050406030204" pitchFamily="18" charset="0"/>
                                      <a:ea typeface="Cambria Math" panose="02040503050406030204" pitchFamily="18" charset="0"/>
                                    </a:rPr>
                                  </m:ctrlPr>
                                </m:accPr>
                                <m:e>
                                  <m:r>
                                    <a:rPr lang="en-US" sz="1600" i="1" smtClean="0">
                                      <a:solidFill>
                                        <a:srgbClr val="3A3A3A"/>
                                      </a:solidFill>
                                      <a:latin typeface="Cambria Math" panose="02040503050406030204" pitchFamily="18" charset="0"/>
                                      <a:ea typeface="Cambria Math" panose="02040503050406030204" pitchFamily="18" charset="0"/>
                                    </a:rPr>
                                    <m:t>𝜃</m:t>
                                  </m:r>
                                </m:e>
                              </m:acc>
                            </m:oMath>
                          </a14:m>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Spread</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the true SE</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an estimate of the SE</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12" name="Table 0"/>
              <p:cNvGraphicFramePr>
                <a:graphicFrameLocks noGrp="1"/>
              </p:cNvGraphicFramePr>
              <p:nvPr>
                <p:extLst>
                  <p:ext uri="{D42A27DB-BD31-4B8C-83A1-F6EECF244321}">
                    <p14:modId xmlns:p14="http://schemas.microsoft.com/office/powerpoint/2010/main" val="4156033154"/>
                  </p:ext>
                </p:extLst>
              </p:nvPr>
            </p:nvGraphicFramePr>
            <p:xfrm>
              <a:off x="548640" y="2134616"/>
              <a:ext cx="10058400" cy="1930400"/>
            </p:xfrm>
            <a:graphic>
              <a:graphicData uri="http://schemas.openxmlformats.org/drawingml/2006/table">
                <a:tbl>
                  <a:tblPr/>
                  <a:tblGrid>
                    <a:gridCol w="23774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86080">
                    <a:tc>
                      <a:txBody>
                        <a:bodyPr/>
                        <a:lstStyle/>
                        <a:p>
                          <a:pPr marL="0" indent="0">
                            <a:buNone/>
                          </a:pP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Sampling distribution</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Bootstrap distribution</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Samples come from</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the population F (unknown)</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our sample, treated as the population</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How many exist</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one</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one per dataset</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Centered at</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the true θ</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endParaRPr lang="en-US"/>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blipFill>
                          <a:blip r:embed="rId3"/>
                          <a:stretch>
                            <a:fillRect l="-150158" t="-306667" r="-315" b="-113333"/>
                          </a:stretch>
                        </a:blipFill>
                      </a:tcPr>
                    </a:tc>
                    <a:extLst>
                      <a:ext uri="{0D108BD9-81ED-4DB2-BD59-A6C34878D82A}">
                        <a16:rowId xmlns:a16="http://schemas.microsoft.com/office/drawing/2014/main" val="10003"/>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Spread</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the true SE</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an estimate of the SE</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sp>
            <p:nvSpPr>
              <p:cNvPr id="5" name="Text 2"/>
              <p:cNvSpPr txBox="1"/>
              <p:nvPr/>
            </p:nvSpPr>
            <p:spPr>
              <a:xfrm>
                <a:off x="548640" y="4339336"/>
                <a:ext cx="11064240" cy="491236"/>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The bet: </a:t>
                </a:r>
                <a14:m>
                  <m:oMath xmlns:m="http://schemas.openxmlformats.org/officeDocument/2006/math">
                    <m:acc>
                      <m:accPr>
                        <m:chr m:val="̂"/>
                        <m:ctrlPr>
                          <a:rPr lang="en-US" sz="2000" i="1" smtClean="0">
                            <a:solidFill>
                              <a:srgbClr val="3A3A3A"/>
                            </a:solidFill>
                            <a:latin typeface="Cambria Math" panose="02040503050406030204" pitchFamily="18" charset="0"/>
                            <a:ea typeface="Cambria Math" panose="02040503050406030204" pitchFamily="18" charset="0"/>
                          </a:rPr>
                        </m:ctrlPr>
                      </m:accPr>
                      <m:e>
                        <m:sSubSup>
                          <m:sSubSupPr>
                            <m:ctrlPr>
                              <a:rPr lang="en-US" sz="2000" i="1" smtClean="0">
                                <a:solidFill>
                                  <a:srgbClr val="3A3A3A"/>
                                </a:solidFill>
                                <a:latin typeface="Cambria Math" panose="02040503050406030204" pitchFamily="18" charset="0"/>
                                <a:ea typeface="Cambria Math" panose="02040503050406030204" pitchFamily="18" charset="0"/>
                              </a:rPr>
                            </m:ctrlPr>
                          </m:sSubSupPr>
                          <m:e>
                            <m:r>
                              <a:rPr lang="en-US" sz="2000" i="1" smtClean="0">
                                <a:solidFill>
                                  <a:srgbClr val="3A3A3A"/>
                                </a:solidFill>
                                <a:latin typeface="Cambria Math" panose="02040503050406030204" pitchFamily="18" charset="0"/>
                                <a:ea typeface="Cambria Math" panose="02040503050406030204" pitchFamily="18" charset="0"/>
                              </a:rPr>
                              <m:t>𝜃</m:t>
                            </m:r>
                          </m:e>
                          <m:sub>
                            <m:r>
                              <a:rPr lang="en-US" sz="2000" b="0" i="1" smtClean="0">
                                <a:solidFill>
                                  <a:srgbClr val="3A3A3A"/>
                                </a:solidFill>
                                <a:latin typeface="Cambria Math" panose="02040503050406030204" pitchFamily="18" charset="0"/>
                              </a:rPr>
                              <m:t>𝑅</m:t>
                            </m:r>
                          </m:sub>
                          <m:sup>
                            <m:r>
                              <a:rPr lang="en-US" sz="2000" b="0" i="1" smtClean="0">
                                <a:solidFill>
                                  <a:srgbClr val="3A3A3A"/>
                                </a:solidFill>
                                <a:latin typeface="Cambria Math" panose="02040503050406030204" pitchFamily="18" charset="0"/>
                              </a:rPr>
                              <m:t>∗</m:t>
                            </m:r>
                          </m:sup>
                        </m:sSubSup>
                      </m:e>
                    </m:acc>
                    <m:r>
                      <a:rPr lang="en-US" sz="2000" b="0" i="1" smtClean="0">
                        <a:solidFill>
                          <a:srgbClr val="3A3A3A"/>
                        </a:solidFill>
                        <a:latin typeface="Cambria Math" panose="02040503050406030204" pitchFamily="18" charset="0"/>
                      </a:rPr>
                      <m:t>−</m:t>
                    </m:r>
                    <m:acc>
                      <m:accPr>
                        <m:chr m:val="̂"/>
                        <m:ctrlPr>
                          <a:rPr lang="en-US" sz="2000" b="0" i="1" smtClean="0">
                            <a:solidFill>
                              <a:srgbClr val="3A3A3A"/>
                            </a:solidFill>
                            <a:latin typeface="Cambria Math" panose="02040503050406030204" pitchFamily="18" charset="0"/>
                            <a:ea typeface="Cambria Math" panose="02040503050406030204" pitchFamily="18" charset="0"/>
                          </a:rPr>
                        </m:ctrlPr>
                      </m:accPr>
                      <m:e>
                        <m:r>
                          <a:rPr lang="en-US" sz="2000" b="0" i="1" smtClean="0">
                            <a:solidFill>
                              <a:srgbClr val="3A3A3A"/>
                            </a:solidFill>
                            <a:latin typeface="Cambria Math" panose="02040503050406030204" pitchFamily="18" charset="0"/>
                            <a:ea typeface="Cambria Math" panose="02040503050406030204" pitchFamily="18" charset="0"/>
                          </a:rPr>
                          <m:t>𝜃</m:t>
                        </m:r>
                      </m:e>
                    </m:acc>
                  </m:oMath>
                </a14:m>
                <a:r>
                  <a:rPr lang="en-US" sz="2000" dirty="0">
                    <a:solidFill>
                      <a:srgbClr val="3A3A3A"/>
                    </a:solidFill>
                    <a:latin typeface="Aptos" pitchFamily="34" charset="0"/>
                    <a:ea typeface="Aptos" pitchFamily="34" charset="-122"/>
                    <a:cs typeface="Aptos" pitchFamily="34" charset="-120"/>
                  </a:rPr>
                  <a:t> behaves like </a:t>
                </a:r>
                <a14:m>
                  <m:oMath xmlns:m="http://schemas.openxmlformats.org/officeDocument/2006/math">
                    <m:acc>
                      <m:accPr>
                        <m:chr m:val="̂"/>
                        <m:ctrlPr>
                          <a:rPr lang="en-US" sz="2000" i="1" smtClean="0">
                            <a:solidFill>
                              <a:srgbClr val="3A3A3A"/>
                            </a:solidFill>
                            <a:latin typeface="Cambria Math" panose="02040503050406030204" pitchFamily="18" charset="0"/>
                            <a:ea typeface="Cambria Math" panose="02040503050406030204" pitchFamily="18" charset="0"/>
                          </a:rPr>
                        </m:ctrlPr>
                      </m:accPr>
                      <m:e>
                        <m:r>
                          <a:rPr lang="en-US" sz="2000" i="1" smtClean="0">
                            <a:solidFill>
                              <a:srgbClr val="3A3A3A"/>
                            </a:solidFill>
                            <a:latin typeface="Cambria Math" panose="02040503050406030204" pitchFamily="18" charset="0"/>
                            <a:ea typeface="Cambria Math" panose="02040503050406030204" pitchFamily="18" charset="0"/>
                          </a:rPr>
                          <m:t>𝜃</m:t>
                        </m:r>
                      </m:e>
                    </m:acc>
                    <m:r>
                      <a:rPr lang="en-US" sz="2000" i="1">
                        <a:solidFill>
                          <a:srgbClr val="3A3A3A"/>
                        </a:solidFill>
                        <a:latin typeface="Cambria Math" panose="02040503050406030204" pitchFamily="18" charset="0"/>
                      </a:rPr>
                      <m:t>−</m:t>
                    </m:r>
                    <m:r>
                      <a:rPr lang="en-US" sz="2000" i="1" smtClean="0">
                        <a:solidFill>
                          <a:srgbClr val="3A3A3A"/>
                        </a:solidFill>
                        <a:latin typeface="Cambria Math" panose="02040503050406030204" pitchFamily="18" charset="0"/>
                        <a:ea typeface="Cambria Math" panose="02040503050406030204" pitchFamily="18" charset="0"/>
                      </a:rPr>
                      <m:t>𝜃</m:t>
                    </m:r>
                  </m:oMath>
                </a14:m>
                <a:endParaRPr lang="en-US" sz="2000" dirty="0"/>
              </a:p>
            </p:txBody>
          </p:sp>
        </mc:Choice>
        <mc:Fallback xmlns="">
          <p:sp>
            <p:nvSpPr>
              <p:cNvPr id="5" name="Text 2"/>
              <p:cNvSpPr txBox="1">
                <a:spLocks noRot="1" noChangeAspect="1" noMove="1" noResize="1" noEditPoints="1" noAdjustHandles="1" noChangeArrowheads="1" noChangeShapeType="1" noTextEdit="1"/>
              </p:cNvSpPr>
              <p:nvPr/>
            </p:nvSpPr>
            <p:spPr>
              <a:xfrm>
                <a:off x="548640" y="4339336"/>
                <a:ext cx="11064240" cy="491236"/>
              </a:xfrm>
              <a:prstGeom prst="rect">
                <a:avLst/>
              </a:prstGeom>
              <a:blipFill>
                <a:blip r:embed="rId4"/>
                <a:stretch>
                  <a:fillRect l="-1376" t="-10000" b="-2500"/>
                </a:stretch>
              </a:blipFill>
              <a:ln/>
            </p:spPr>
            <p:txBody>
              <a:bodyPr/>
              <a:lstStyle/>
              <a:p>
                <a:r>
                  <a:rPr lang="en-US">
                    <a:noFill/>
                  </a:rPr>
                  <a:t> </a:t>
                </a:r>
              </a:p>
            </p:txBody>
          </p:sp>
        </mc:Fallback>
      </mc:AlternateContent>
      <p:sp>
        <p:nvSpPr>
          <p:cNvPr id="6" name="Text 3"/>
          <p:cNvSpPr txBox="1"/>
          <p:nvPr/>
        </p:nvSpPr>
        <p:spPr>
          <a:xfrm>
            <a:off x="548640" y="5989320"/>
            <a:ext cx="11064240" cy="457200"/>
          </a:xfrm>
          <a:prstGeom prst="rect">
            <a:avLst/>
          </a:prstGeom>
          <a:noFill/>
          <a:ln/>
        </p:spPr>
        <p:txBody>
          <a:bodyPr wrap="square" lIns="0" tIns="0" rIns="0" bIns="0" rtlCol="0" anchor="ctr"/>
          <a:lstStyle/>
          <a:p>
            <a:pPr marL="0" indent="0" algn="ctr">
              <a:buNone/>
            </a:pPr>
            <a:r>
              <a:rPr lang="en-US" sz="2000" b="1" dirty="0">
                <a:solidFill>
                  <a:srgbClr val="FF42A1"/>
                </a:solidFill>
              </a:rPr>
              <a:t>the bootstrap copies the spread and shape, never the location</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Three Students, One Population</a:t>
            </a:r>
            <a:endParaRPr lang="en-US" sz="3000" dirty="0"/>
          </a:p>
        </p:txBody>
      </p:sp>
      <p:sp>
        <p:nvSpPr>
          <p:cNvPr id="3" name="Text 1"/>
          <p:cNvSpPr txBox="1"/>
          <p:nvPr/>
        </p:nvSpPr>
        <p:spPr>
          <a:xfrm>
            <a:off x="548640" y="1280160"/>
            <a:ext cx="5852160" cy="1113282"/>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Population {1, 3, 5}, samples of size 3. True sampling distribution: centered at 3, SE = 0.94</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Each student bootstraps their own sample:</a:t>
            </a:r>
            <a:endParaRPr lang="en-US" sz="1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766560" y="1325880"/>
          <a:ext cx="4846320" cy="1544320"/>
        </p:xfrm>
        <a:graphic>
          <a:graphicData uri="http://schemas.openxmlformats.org/drawingml/2006/table">
            <a:tbl>
              <a:tblPr/>
              <a:tblGrid>
                <a:gridCol w="14630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86080">
                <a:tc>
                  <a:txBody>
                    <a:bodyPr/>
                    <a:lstStyle/>
                    <a:p>
                      <a:pPr marL="0" indent="0">
                        <a:buNone/>
                      </a:pPr>
                      <a:r>
                        <a:rPr lang="en-US" sz="1600" b="1" dirty="0">
                          <a:solidFill>
                            <a:srgbClr val="000000"/>
                          </a:solidFill>
                          <a:latin typeface="Aptos" pitchFamily="34" charset="0"/>
                          <a:ea typeface="Aptos" pitchFamily="34" charset="-122"/>
                          <a:cs typeface="Aptos" pitchFamily="34" charset="-120"/>
                        </a:rPr>
                        <a:t>sample</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bootstrap center</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bootstrap SE</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{1, 3, 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3</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0.94</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{3, 5, 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4.33</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0.54</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{3, 3, 3}</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3</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0</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5" name="Image 0" descr="/private/tmp/claude-502/-Users-xpz5km-Library-CloudStorage-Box-Box--Teaching-DS5030-Understanding-Uncertainty-Understanding-Uncertainty/19192ed6-4268-4d35-9086-608b2f1b36d6/scratchpad/hires/figs/c15_0.png"/>
          <p:cNvPicPr>
            <a:picLocks noChangeAspect="1"/>
          </p:cNvPicPr>
          <p:nvPr/>
        </p:nvPicPr>
        <p:blipFill>
          <a:blip r:embed="rId3"/>
          <a:stretch>
            <a:fillRect/>
          </a:stretch>
        </p:blipFill>
        <p:spPr>
          <a:xfrm>
            <a:off x="548640" y="3429000"/>
            <a:ext cx="11064240" cy="2018006"/>
          </a:xfrm>
          <a:prstGeom prst="rect">
            <a:avLst/>
          </a:prstGeom>
        </p:spPr>
      </p:pic>
      <p:sp>
        <p:nvSpPr>
          <p:cNvPr id="6" name="Text 2"/>
          <p:cNvSpPr txBox="1"/>
          <p:nvPr/>
        </p:nvSpPr>
        <p:spPr>
          <a:xfrm>
            <a:off x="548640" y="5532120"/>
            <a:ext cx="11064240" cy="685800"/>
          </a:xfrm>
          <a:prstGeom prst="rect">
            <a:avLst/>
          </a:prstGeom>
          <a:noFill/>
          <a:ln/>
        </p:spPr>
        <p:txBody>
          <a:bodyPr wrap="square" lIns="0" tIns="0" rIns="0" bIns="0" rtlCol="0" anchor="t"/>
          <a:lstStyle/>
          <a:p>
            <a:pPr marL="228600" indent="-228600">
              <a:spcAft>
                <a:spcPts val="600"/>
              </a:spcAft>
              <a:buSzPct val="100000"/>
              <a:buChar char="•"/>
            </a:pPr>
            <a:r>
              <a:rPr lang="en-US" sz="1600" b="1" dirty="0">
                <a:solidFill>
                  <a:srgbClr val="FF42A1"/>
                </a:solidFill>
                <a:latin typeface="Aptos" pitchFamily="34" charset="0"/>
                <a:ea typeface="Aptos" pitchFamily="34" charset="-122"/>
                <a:cs typeface="Aptos" pitchFamily="34" charset="-120"/>
              </a:rPr>
              <a:t>The point:</a:t>
            </a:r>
            <a:r>
              <a:rPr lang="en-US" sz="1600" dirty="0">
                <a:solidFill>
                  <a:srgbClr val="3A3A3A"/>
                </a:solidFill>
                <a:latin typeface="Aptos" pitchFamily="34" charset="0"/>
                <a:ea typeface="Aptos" pitchFamily="34" charset="-122"/>
                <a:cs typeface="Aptos" pitchFamily="34" charset="-120"/>
              </a:rPr>
              <a:t> each bootstrap is centered at that student's own x̄, not at μ (4.33 vs. 3), and its spread is only as good as their sample's ({3, 5, 5} too narrow, {3, 3, 3} zero)</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45920"/>
            <a:ext cx="10698480" cy="3566160"/>
          </a:xfrm>
          <a:prstGeom prst="rect">
            <a:avLst/>
          </a:prstGeom>
          <a:noFill/>
          <a:ln/>
        </p:spPr>
        <p:txBody>
          <a:bodyPr wrap="square" lIns="0" tIns="0" rIns="0" bIns="0" rtlCol="0" anchor="ctr"/>
          <a:lstStyle/>
          <a:p>
            <a:pPr marL="0" indent="0" algn="ctr">
              <a:buNone/>
            </a:pPr>
            <a:r>
              <a:rPr lang="en-US" sz="6000" b="1" dirty="0">
                <a:solidFill>
                  <a:schemeClr val="tx1"/>
                </a:solidFill>
              </a:rPr>
              <a:t>Bootstrapping</a:t>
            </a:r>
            <a:endParaRPr lang="en-US" sz="6000" dirty="0"/>
          </a:p>
          <a:p>
            <a:pPr marL="0" indent="0" algn="ctr">
              <a:buNone/>
            </a:pPr>
            <a:r>
              <a:rPr lang="en-US" sz="6000" b="1" dirty="0">
                <a:solidFill>
                  <a:schemeClr val="tx1"/>
                </a:solidFill>
              </a:rPr>
              <a:t>a regression</a:t>
            </a:r>
            <a:endParaRPr lang="en-US" sz="6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Hedonic Pricing: Ames, Iowa</a:t>
            </a:r>
            <a:endParaRPr lang="en-US" sz="3000" dirty="0"/>
          </a:p>
        </p:txBody>
      </p:sp>
      <p:sp>
        <p:nvSpPr>
          <p:cNvPr id="3" name="Text 1"/>
          <p:cNvSpPr txBox="1"/>
          <p:nvPr/>
        </p:nvSpPr>
        <p:spPr>
          <a:xfrm>
            <a:off x="548640" y="1280160"/>
            <a:ext cx="11064240" cy="2516124"/>
          </a:xfrm>
          <a:prstGeom prst="rect">
            <a:avLst/>
          </a:prstGeom>
          <a:noFill/>
          <a:ln/>
        </p:spPr>
        <p:txBody>
          <a:bodyPr wrap="square" lIns="0" tIns="0" rIns="0" bIns="0" rtlCol="0" anchor="t"/>
          <a:lstStyle/>
          <a:p>
            <a:pPr marL="228600" indent="-228600">
              <a:spcAft>
                <a:spcPts val="600"/>
              </a:spcAft>
              <a:buSzPct val="100000"/>
              <a:buFontTx/>
              <a:buChar char="•"/>
            </a:pPr>
            <a:r>
              <a:rPr lang="en-US" dirty="0"/>
              <a:t>You have covered OLS/linear regression in ML1, so we can play with it here</a:t>
            </a:r>
            <a:endParaRPr lang="en-US" sz="2200" dirty="0">
              <a:solidFill>
                <a:srgbClr val="3A3A3A"/>
              </a:solidFill>
              <a:latin typeface="Aptos" pitchFamily="34" charset="0"/>
              <a:ea typeface="Aptos" pitchFamily="34" charset="-122"/>
              <a:cs typeface="Aptos" pitchFamily="34" charset="-120"/>
            </a:endParaRPr>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2,930 house sales in Ames, Iowa</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Regress arcsinh(</a:t>
            </a:r>
            <a:r>
              <a:rPr lang="en-US" sz="2200" dirty="0">
                <a:solidFill>
                  <a:schemeClr val="accent1"/>
                </a:solidFill>
                <a:latin typeface="Aptos" pitchFamily="34" charset="0"/>
                <a:ea typeface="Aptos" pitchFamily="34" charset="-122"/>
                <a:cs typeface="Aptos" pitchFamily="34" charset="-120"/>
              </a:rPr>
              <a:t>price</a:t>
            </a:r>
            <a:r>
              <a:rPr lang="en-US" sz="2200" dirty="0">
                <a:solidFill>
                  <a:srgbClr val="3A3A3A"/>
                </a:solidFill>
                <a:latin typeface="Aptos" pitchFamily="34" charset="0"/>
                <a:ea typeface="Aptos" pitchFamily="34" charset="-122"/>
                <a:cs typeface="Aptos" pitchFamily="34" charset="-120"/>
              </a:rPr>
              <a:t>) on </a:t>
            </a:r>
            <a:r>
              <a:rPr lang="en-US" sz="2200" dirty="0">
                <a:solidFill>
                  <a:schemeClr val="accent1"/>
                </a:solidFill>
                <a:latin typeface="Aptos" pitchFamily="34" charset="0"/>
                <a:ea typeface="Aptos" pitchFamily="34" charset="-122"/>
                <a:cs typeface="Aptos" pitchFamily="34" charset="-120"/>
              </a:rPr>
              <a:t>total rooms</a:t>
            </a:r>
            <a:r>
              <a:rPr lang="en-US" sz="2200" dirty="0">
                <a:solidFill>
                  <a:srgbClr val="3A3A3A"/>
                </a:solidFill>
                <a:latin typeface="Aptos" pitchFamily="34" charset="0"/>
                <a:ea typeface="Aptos" pitchFamily="34" charset="-122"/>
                <a:cs typeface="Aptos" pitchFamily="34" charset="-120"/>
              </a:rPr>
              <a:t>, arcsinh(</a:t>
            </a:r>
            <a:r>
              <a:rPr lang="en-US" sz="2200" dirty="0">
                <a:solidFill>
                  <a:schemeClr val="accent1"/>
                </a:solidFill>
                <a:latin typeface="Aptos" pitchFamily="34" charset="0"/>
                <a:ea typeface="Aptos" pitchFamily="34" charset="-122"/>
                <a:cs typeface="Aptos" pitchFamily="34" charset="-120"/>
              </a:rPr>
              <a:t>age</a:t>
            </a:r>
            <a:r>
              <a:rPr lang="en-US" sz="2200" dirty="0">
                <a:solidFill>
                  <a:srgbClr val="3A3A3A"/>
                </a:solidFill>
                <a:latin typeface="Aptos" pitchFamily="34" charset="0"/>
                <a:ea typeface="Aptos" pitchFamily="34" charset="-122"/>
                <a:cs typeface="Aptos" pitchFamily="34" charset="-120"/>
              </a:rPr>
              <a:t>), arcsinh(</a:t>
            </a:r>
            <a:r>
              <a:rPr lang="en-US" sz="2200" dirty="0">
                <a:solidFill>
                  <a:schemeClr val="accent1"/>
                </a:solidFill>
                <a:latin typeface="Aptos" pitchFamily="34" charset="0"/>
                <a:ea typeface="Aptos" pitchFamily="34" charset="-122"/>
                <a:cs typeface="Aptos" pitchFamily="34" charset="-120"/>
              </a:rPr>
              <a:t>area</a:t>
            </a:r>
            <a:r>
              <a:rPr lang="en-US" sz="2200" dirty="0">
                <a:solidFill>
                  <a:srgbClr val="3A3A3A"/>
                </a:solidFill>
                <a:latin typeface="Aptos" pitchFamily="34" charset="0"/>
                <a:ea typeface="Aptos" pitchFamily="34" charset="-122"/>
                <a:cs typeface="Aptos" pitchFamily="34" charset="-120"/>
              </a:rPr>
              <a:t>), and </a:t>
            </a:r>
            <a:r>
              <a:rPr lang="en-US" sz="2200" dirty="0">
                <a:solidFill>
                  <a:schemeClr val="accent1"/>
                </a:solidFill>
                <a:latin typeface="Aptos" pitchFamily="34" charset="0"/>
                <a:ea typeface="Aptos" pitchFamily="34" charset="-122"/>
                <a:cs typeface="Aptos" pitchFamily="34" charset="-120"/>
              </a:rPr>
              <a:t>full-bath</a:t>
            </a:r>
            <a:r>
              <a:rPr lang="en-US" sz="2200" dirty="0">
                <a:solidFill>
                  <a:srgbClr val="3A3A3A"/>
                </a:solidFill>
                <a:latin typeface="Aptos" pitchFamily="34" charset="0"/>
                <a:ea typeface="Aptos" pitchFamily="34" charset="-122"/>
                <a:cs typeface="Aptos" pitchFamily="34" charset="-120"/>
              </a:rPr>
              <a:t> dummies, with an intercept</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Bootstrap: resample </a:t>
            </a:r>
            <a:r>
              <a:rPr lang="en-US" sz="2200" b="1" dirty="0">
                <a:solidFill>
                  <a:srgbClr val="FF42A1"/>
                </a:solidFill>
                <a:latin typeface="Aptos" pitchFamily="34" charset="0"/>
                <a:ea typeface="Aptos" pitchFamily="34" charset="-122"/>
                <a:cs typeface="Aptos" pitchFamily="34" charset="-120"/>
              </a:rPr>
              <a:t>whole rows</a:t>
            </a:r>
            <a:r>
              <a:rPr lang="en-US" sz="2200" dirty="0">
                <a:solidFill>
                  <a:srgbClr val="3A3A3A"/>
                </a:solidFill>
                <a:latin typeface="Aptos" pitchFamily="34" charset="0"/>
                <a:ea typeface="Aptos" pitchFamily="34" charset="-122"/>
                <a:cs typeface="Aptos" pitchFamily="34" charset="-120"/>
              </a:rPr>
              <a:t> R = 1,000 times and refit the regression each time</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Each refit gives one draw of every coefficient: an estimate of each coefficient's sampling distribution</a:t>
            </a:r>
            <a:endParaRPr lang="en-US" sz="2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787B-2787-0B10-2AF4-7067FED73999}"/>
              </a:ext>
            </a:extLst>
          </p:cNvPr>
          <p:cNvSpPr>
            <a:spLocks noGrp="1"/>
          </p:cNvSpPr>
          <p:nvPr>
            <p:ph type="title" idx="100"/>
          </p:nvPr>
        </p:nvSpPr>
        <p:spPr/>
        <p:txBody>
          <a:bodyPr/>
          <a:lstStyle/>
          <a:p>
            <a:r>
              <a:rPr lang="en-US" sz="2400" dirty="0">
                <a:solidFill>
                  <a:srgbClr val="3A3A3A"/>
                </a:solidFill>
                <a:latin typeface="Aptos" pitchFamily="34" charset="0"/>
                <a:ea typeface="Aptos" pitchFamily="34" charset="-122"/>
                <a:cs typeface="Aptos" pitchFamily="34" charset="-120"/>
              </a:rPr>
              <a:t>Regress </a:t>
            </a:r>
            <a:r>
              <a:rPr lang="en-US" sz="2400" dirty="0" err="1">
                <a:solidFill>
                  <a:srgbClr val="3A3A3A"/>
                </a:solidFill>
                <a:latin typeface="Aptos" pitchFamily="34" charset="0"/>
                <a:ea typeface="Aptos" pitchFamily="34" charset="-122"/>
                <a:cs typeface="Aptos" pitchFamily="34" charset="-120"/>
              </a:rPr>
              <a:t>arcsinh</a:t>
            </a:r>
            <a:r>
              <a:rPr lang="en-US" sz="2400" dirty="0">
                <a:solidFill>
                  <a:srgbClr val="3A3A3A"/>
                </a:solidFill>
                <a:latin typeface="Aptos" pitchFamily="34" charset="0"/>
                <a:ea typeface="Aptos" pitchFamily="34" charset="-122"/>
                <a:cs typeface="Aptos" pitchFamily="34" charset="-120"/>
              </a:rPr>
              <a:t>(price) on total rooms, </a:t>
            </a:r>
            <a:r>
              <a:rPr lang="en-US" sz="2400" dirty="0" err="1">
                <a:solidFill>
                  <a:srgbClr val="3A3A3A"/>
                </a:solidFill>
                <a:latin typeface="Aptos" pitchFamily="34" charset="0"/>
                <a:ea typeface="Aptos" pitchFamily="34" charset="-122"/>
                <a:cs typeface="Aptos" pitchFamily="34" charset="-120"/>
              </a:rPr>
              <a:t>arcsinh</a:t>
            </a:r>
            <a:r>
              <a:rPr lang="en-US" sz="2400" dirty="0">
                <a:solidFill>
                  <a:srgbClr val="3A3A3A"/>
                </a:solidFill>
                <a:latin typeface="Aptos" pitchFamily="34" charset="0"/>
                <a:ea typeface="Aptos" pitchFamily="34" charset="-122"/>
                <a:cs typeface="Aptos" pitchFamily="34" charset="-120"/>
              </a:rPr>
              <a:t>(</a:t>
            </a:r>
            <a:r>
              <a:rPr lang="en-US" sz="2400" dirty="0">
                <a:solidFill>
                  <a:schemeClr val="accent1"/>
                </a:solidFill>
                <a:latin typeface="Aptos" pitchFamily="34" charset="0"/>
                <a:ea typeface="Aptos" pitchFamily="34" charset="-122"/>
                <a:cs typeface="Aptos" pitchFamily="34" charset="-120"/>
              </a:rPr>
              <a:t>age</a:t>
            </a:r>
            <a:r>
              <a:rPr lang="en-US" sz="2400" dirty="0">
                <a:solidFill>
                  <a:srgbClr val="3A3A3A"/>
                </a:solidFill>
                <a:latin typeface="Aptos" pitchFamily="34" charset="0"/>
                <a:ea typeface="Aptos" pitchFamily="34" charset="-122"/>
                <a:cs typeface="Aptos" pitchFamily="34" charset="-120"/>
              </a:rPr>
              <a:t>), </a:t>
            </a:r>
            <a:r>
              <a:rPr lang="en-US" sz="2400" dirty="0" err="1">
                <a:solidFill>
                  <a:srgbClr val="3A3A3A"/>
                </a:solidFill>
                <a:latin typeface="Aptos" pitchFamily="34" charset="0"/>
                <a:ea typeface="Aptos" pitchFamily="34" charset="-122"/>
                <a:cs typeface="Aptos" pitchFamily="34" charset="-120"/>
              </a:rPr>
              <a:t>arcsinh</a:t>
            </a:r>
            <a:r>
              <a:rPr lang="en-US" sz="2400" dirty="0">
                <a:solidFill>
                  <a:srgbClr val="3A3A3A"/>
                </a:solidFill>
                <a:latin typeface="Aptos" pitchFamily="34" charset="0"/>
                <a:ea typeface="Aptos" pitchFamily="34" charset="-122"/>
                <a:cs typeface="Aptos" pitchFamily="34" charset="-120"/>
              </a:rPr>
              <a:t>(</a:t>
            </a:r>
            <a:r>
              <a:rPr lang="en-US" sz="2400" dirty="0">
                <a:solidFill>
                  <a:schemeClr val="accent1"/>
                </a:solidFill>
                <a:latin typeface="Aptos" pitchFamily="34" charset="0"/>
                <a:ea typeface="Aptos" pitchFamily="34" charset="-122"/>
                <a:cs typeface="Aptos" pitchFamily="34" charset="-120"/>
              </a:rPr>
              <a:t>area</a:t>
            </a:r>
            <a:r>
              <a:rPr lang="en-US" sz="2400" dirty="0">
                <a:solidFill>
                  <a:srgbClr val="3A3A3A"/>
                </a:solidFill>
                <a:latin typeface="Aptos" pitchFamily="34" charset="0"/>
                <a:ea typeface="Aptos" pitchFamily="34" charset="-122"/>
                <a:cs typeface="Aptos" pitchFamily="34" charset="-120"/>
              </a:rPr>
              <a:t>), and </a:t>
            </a:r>
            <a:r>
              <a:rPr lang="en-US" sz="2400" dirty="0">
                <a:solidFill>
                  <a:schemeClr val="accent1"/>
                </a:solidFill>
                <a:latin typeface="Aptos" pitchFamily="34" charset="0"/>
                <a:ea typeface="Aptos" pitchFamily="34" charset="-122"/>
                <a:cs typeface="Aptos" pitchFamily="34" charset="-120"/>
              </a:rPr>
              <a:t>full-bath</a:t>
            </a:r>
            <a:r>
              <a:rPr lang="en-US" sz="2400" dirty="0">
                <a:solidFill>
                  <a:srgbClr val="3A3A3A"/>
                </a:solidFill>
                <a:latin typeface="Aptos" pitchFamily="34" charset="0"/>
                <a:ea typeface="Aptos" pitchFamily="34" charset="-122"/>
                <a:cs typeface="Aptos" pitchFamily="34" charset="-120"/>
              </a:rPr>
              <a:t> dummies, with an intercept</a:t>
            </a:r>
            <a:br>
              <a:rPr lang="en-US" sz="2400" dirty="0"/>
            </a:br>
            <a:endParaRPr lang="en-US" sz="2400" dirty="0"/>
          </a:p>
        </p:txBody>
      </p:sp>
      <p:pic>
        <p:nvPicPr>
          <p:cNvPr id="4" name="Picture 3">
            <a:extLst>
              <a:ext uri="{FF2B5EF4-FFF2-40B4-BE49-F238E27FC236}">
                <a16:creationId xmlns:a16="http://schemas.microsoft.com/office/drawing/2014/main" id="{5E7995B3-90C4-548A-5D26-C50F3200138C}"/>
              </a:ext>
            </a:extLst>
          </p:cNvPr>
          <p:cNvPicPr>
            <a:picLocks noChangeAspect="1"/>
          </p:cNvPicPr>
          <p:nvPr/>
        </p:nvPicPr>
        <p:blipFill>
          <a:blip r:embed="rId2"/>
          <a:stretch>
            <a:fillRect/>
          </a:stretch>
        </p:blipFill>
        <p:spPr>
          <a:xfrm>
            <a:off x="279133" y="1164657"/>
            <a:ext cx="6315902" cy="4167739"/>
          </a:xfrm>
          <a:prstGeom prst="rect">
            <a:avLst/>
          </a:prstGeom>
        </p:spPr>
      </p:pic>
      <p:pic>
        <p:nvPicPr>
          <p:cNvPr id="3" name="Picture 2">
            <a:extLst>
              <a:ext uri="{FF2B5EF4-FFF2-40B4-BE49-F238E27FC236}">
                <a16:creationId xmlns:a16="http://schemas.microsoft.com/office/drawing/2014/main" id="{EAC61DEB-3A4B-2FA9-6DF5-5B0677906379}"/>
              </a:ext>
            </a:extLst>
          </p:cNvPr>
          <p:cNvPicPr>
            <a:picLocks noChangeAspect="1"/>
          </p:cNvPicPr>
          <p:nvPr/>
        </p:nvPicPr>
        <p:blipFill>
          <a:blip r:embed="rId3"/>
          <a:stretch>
            <a:fillRect/>
          </a:stretch>
        </p:blipFill>
        <p:spPr>
          <a:xfrm>
            <a:off x="6781464" y="1258759"/>
            <a:ext cx="4970981" cy="4805893"/>
          </a:xfrm>
          <a:prstGeom prst="rect">
            <a:avLst/>
          </a:prstGeom>
        </p:spPr>
      </p:pic>
      <p:pic>
        <p:nvPicPr>
          <p:cNvPr id="5" name="Picture 4">
            <a:extLst>
              <a:ext uri="{FF2B5EF4-FFF2-40B4-BE49-F238E27FC236}">
                <a16:creationId xmlns:a16="http://schemas.microsoft.com/office/drawing/2014/main" id="{F8A5801F-CD8C-1B4F-49DF-543AE9C84C83}"/>
              </a:ext>
            </a:extLst>
          </p:cNvPr>
          <p:cNvPicPr>
            <a:picLocks noChangeAspect="1"/>
          </p:cNvPicPr>
          <p:nvPr/>
        </p:nvPicPr>
        <p:blipFill>
          <a:blip r:embed="rId4"/>
          <a:stretch>
            <a:fillRect/>
          </a:stretch>
        </p:blipFill>
        <p:spPr>
          <a:xfrm>
            <a:off x="195580" y="5356793"/>
            <a:ext cx="3154012" cy="437599"/>
          </a:xfrm>
          <a:prstGeom prst="rect">
            <a:avLst/>
          </a:prstGeom>
        </p:spPr>
      </p:pic>
    </p:spTree>
    <p:extLst>
      <p:ext uri="{BB962C8B-B14F-4D97-AF65-F5344CB8AC3E}">
        <p14:creationId xmlns:p14="http://schemas.microsoft.com/office/powerpoint/2010/main" val="32557320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8D9C72-293E-B293-AD98-AEF2A97FE23A}"/>
              </a:ext>
            </a:extLst>
          </p:cNvPr>
          <p:cNvPicPr>
            <a:picLocks noChangeAspect="1"/>
          </p:cNvPicPr>
          <p:nvPr/>
        </p:nvPicPr>
        <p:blipFill>
          <a:blip r:embed="rId3"/>
          <a:stretch>
            <a:fillRect/>
          </a:stretch>
        </p:blipFill>
        <p:spPr>
          <a:xfrm>
            <a:off x="3960275" y="1097279"/>
            <a:ext cx="4051326" cy="2936835"/>
          </a:xfrm>
          <a:prstGeom prst="rect">
            <a:avLst/>
          </a:prstGeom>
        </p:spPr>
      </p:pic>
      <p:pic>
        <p:nvPicPr>
          <p:cNvPr id="5" name="Picture 4">
            <a:extLst>
              <a:ext uri="{FF2B5EF4-FFF2-40B4-BE49-F238E27FC236}">
                <a16:creationId xmlns:a16="http://schemas.microsoft.com/office/drawing/2014/main" id="{931182D2-B42E-1E87-55E6-3381D4172173}"/>
              </a:ext>
            </a:extLst>
          </p:cNvPr>
          <p:cNvPicPr>
            <a:picLocks noChangeAspect="1"/>
          </p:cNvPicPr>
          <p:nvPr/>
        </p:nvPicPr>
        <p:blipFill>
          <a:blip r:embed="rId4"/>
          <a:stretch>
            <a:fillRect/>
          </a:stretch>
        </p:blipFill>
        <p:spPr>
          <a:xfrm>
            <a:off x="7931262" y="1014362"/>
            <a:ext cx="4023047" cy="2949226"/>
          </a:xfrm>
          <a:prstGeom prst="rect">
            <a:avLst/>
          </a:prstGeom>
        </p:spPr>
      </p:pic>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a:solidFill>
                  <a:schemeClr val="tx1"/>
                </a:solidFill>
              </a:rPr>
              <a:t>Bootstrapped Coefficients</a:t>
            </a:r>
            <a:endParaRPr lang="en-US" sz="3000" dirty="0"/>
          </a:p>
        </p:txBody>
      </p:sp>
      <p:pic>
        <p:nvPicPr>
          <p:cNvPr id="3" name="Image 0" descr="/private/tmp/claude-502/-Users-xpz5km-Library-CloudStorage-Box-Box--Teaching-DS5030-Understanding-Uncertainty-Understanding-Uncertainty/19192ed6-4268-4d35-9086-608b2f1b36d6/scratchpad/hires/figs/c21_3.png"/>
          <p:cNvPicPr>
            <a:picLocks noChangeAspect="1"/>
          </p:cNvPicPr>
          <p:nvPr/>
        </p:nvPicPr>
        <p:blipFill>
          <a:blip r:embed="rId5"/>
          <a:stretch>
            <a:fillRect/>
          </a:stretch>
        </p:blipFill>
        <p:spPr>
          <a:xfrm>
            <a:off x="0" y="1097280"/>
            <a:ext cx="4023047" cy="2962175"/>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22</a:t>
            </a:fld>
            <a:endParaRPr lang="en-US"/>
          </a:p>
        </p:txBody>
      </p:sp>
      <p:pic>
        <p:nvPicPr>
          <p:cNvPr id="6" name="Picture 5">
            <a:extLst>
              <a:ext uri="{FF2B5EF4-FFF2-40B4-BE49-F238E27FC236}">
                <a16:creationId xmlns:a16="http://schemas.microsoft.com/office/drawing/2014/main" id="{B20D0A04-05E7-D77B-2A3B-551E20EB39CF}"/>
              </a:ext>
            </a:extLst>
          </p:cNvPr>
          <p:cNvPicPr>
            <a:picLocks noChangeAspect="1"/>
          </p:cNvPicPr>
          <p:nvPr/>
        </p:nvPicPr>
        <p:blipFill>
          <a:blip r:embed="rId6"/>
          <a:stretch>
            <a:fillRect/>
          </a:stretch>
        </p:blipFill>
        <p:spPr>
          <a:xfrm>
            <a:off x="144945" y="4007466"/>
            <a:ext cx="3815330" cy="2850534"/>
          </a:xfrm>
          <a:prstGeom prst="rect">
            <a:avLst/>
          </a:prstGeom>
        </p:spPr>
      </p:pic>
      <p:pic>
        <p:nvPicPr>
          <p:cNvPr id="7" name="Picture 6">
            <a:extLst>
              <a:ext uri="{FF2B5EF4-FFF2-40B4-BE49-F238E27FC236}">
                <a16:creationId xmlns:a16="http://schemas.microsoft.com/office/drawing/2014/main" id="{D647E2D8-E4ED-8307-0F98-07482BD62B8D}"/>
              </a:ext>
            </a:extLst>
          </p:cNvPr>
          <p:cNvPicPr>
            <a:picLocks noChangeAspect="1"/>
          </p:cNvPicPr>
          <p:nvPr/>
        </p:nvPicPr>
        <p:blipFill>
          <a:blip r:embed="rId7"/>
          <a:stretch>
            <a:fillRect/>
          </a:stretch>
        </p:blipFill>
        <p:spPr>
          <a:xfrm>
            <a:off x="4105220" y="3983493"/>
            <a:ext cx="3906381" cy="2874507"/>
          </a:xfrm>
          <a:prstGeom prst="rect">
            <a:avLst/>
          </a:prstGeom>
        </p:spPr>
      </p:pic>
      <p:pic>
        <p:nvPicPr>
          <p:cNvPr id="8" name="Picture 7">
            <a:extLst>
              <a:ext uri="{FF2B5EF4-FFF2-40B4-BE49-F238E27FC236}">
                <a16:creationId xmlns:a16="http://schemas.microsoft.com/office/drawing/2014/main" id="{12AEC5AA-ABC8-89A9-CC3A-01C2D9ACFC42}"/>
              </a:ext>
            </a:extLst>
          </p:cNvPr>
          <p:cNvPicPr>
            <a:picLocks noChangeAspect="1"/>
          </p:cNvPicPr>
          <p:nvPr/>
        </p:nvPicPr>
        <p:blipFill>
          <a:blip r:embed="rId8"/>
          <a:stretch>
            <a:fillRect/>
          </a:stretch>
        </p:blipFill>
        <p:spPr>
          <a:xfrm>
            <a:off x="8011601" y="4007465"/>
            <a:ext cx="3942708" cy="286876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Fitting the Bootstrapped Sampling Distribution</a:t>
            </a:r>
            <a:endParaRPr lang="en-US" sz="3000" dirty="0"/>
          </a:p>
        </p:txBody>
      </p:sp>
      <p:sp>
        <p:nvSpPr>
          <p:cNvPr id="3" name="Text 1"/>
          <p:cNvSpPr txBox="1"/>
          <p:nvPr/>
        </p:nvSpPr>
        <p:spPr>
          <a:xfrm>
            <a:off x="548640" y="1280160"/>
            <a:ext cx="11064240" cy="808736"/>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What if we overlay a normal with the </a:t>
            </a:r>
            <a:r>
              <a:rPr lang="en-US" sz="2000" b="1" dirty="0">
                <a:solidFill>
                  <a:srgbClr val="FF42A1"/>
                </a:solidFill>
                <a:latin typeface="Aptos" pitchFamily="34" charset="0"/>
                <a:ea typeface="Aptos" pitchFamily="34" charset="-122"/>
                <a:cs typeface="Aptos" pitchFamily="34" charset="-120"/>
              </a:rPr>
              <a:t>bootstrap mean</a:t>
            </a:r>
            <a:r>
              <a:rPr lang="en-US" sz="2000" dirty="0">
                <a:solidFill>
                  <a:srgbClr val="3A3A3A"/>
                </a:solidFill>
                <a:latin typeface="Aptos" pitchFamily="34" charset="0"/>
                <a:ea typeface="Aptos" pitchFamily="34" charset="-122"/>
                <a:cs typeface="Aptos" pitchFamily="34" charset="-120"/>
              </a:rPr>
              <a:t> and the standard deviation of the bootstrap sample (our estimate of the </a:t>
            </a:r>
            <a:r>
              <a:rPr lang="en-US" sz="2000" b="1" dirty="0">
                <a:solidFill>
                  <a:srgbClr val="FF42A1"/>
                </a:solidFill>
                <a:latin typeface="Aptos" pitchFamily="34" charset="0"/>
                <a:ea typeface="Aptos" pitchFamily="34" charset="-122"/>
                <a:cs typeface="Aptos" pitchFamily="34" charset="-120"/>
              </a:rPr>
              <a:t>standard error)</a:t>
            </a:r>
            <a:r>
              <a:rPr lang="en-US" sz="2000" dirty="0">
                <a:solidFill>
                  <a:srgbClr val="3A3A3A"/>
                </a:solidFill>
                <a:latin typeface="Aptos" pitchFamily="34" charset="0"/>
                <a:ea typeface="Aptos" pitchFamily="34" charset="-122"/>
                <a:cs typeface="Aptos" pitchFamily="34" charset="-120"/>
              </a:rPr>
              <a:t>?</a:t>
            </a:r>
            <a:endParaRPr lang="en-US" sz="2000" dirty="0"/>
          </a:p>
        </p:txBody>
      </p:sp>
      <p:pic>
        <p:nvPicPr>
          <p:cNvPr id="4" name="Image 0" descr="boot_se"/>
          <p:cNvPicPr>
            <a:picLocks noChangeAspect="1"/>
          </p:cNvPicPr>
          <p:nvPr/>
        </p:nvPicPr>
        <p:blipFill>
          <a:blip r:embed="rId3"/>
          <a:stretch>
            <a:fillRect/>
          </a:stretch>
        </p:blipFill>
        <p:spPr>
          <a:xfrm>
            <a:off x="914400" y="2134616"/>
            <a:ext cx="7179684" cy="626362"/>
          </a:xfrm>
          <a:prstGeom prst="rect">
            <a:avLst/>
          </a:prstGeom>
        </p:spPr>
      </p:pic>
      <p:pic>
        <p:nvPicPr>
          <p:cNvPr id="5" name="Image 1" descr="/private/tmp/claude-502/-Users-xpz5km-Library-CloudStorage-Box-Box--Teaching-DS5030-Understanding-Uncertainty-Understanding-Uncertainty/19192ed6-4268-4d35-9086-608b2f1b36d6/scratchpad/hires/figs/c23_3.png"/>
          <p:cNvPicPr>
            <a:picLocks noChangeAspect="1"/>
          </p:cNvPicPr>
          <p:nvPr/>
        </p:nvPicPr>
        <p:blipFill>
          <a:blip r:embed="rId4"/>
          <a:stretch>
            <a:fillRect/>
          </a:stretch>
        </p:blipFill>
        <p:spPr>
          <a:xfrm>
            <a:off x="0" y="3037041"/>
            <a:ext cx="8398042" cy="2753351"/>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23</a:t>
            </a:fld>
            <a:endParaRPr lang="en-US"/>
          </a:p>
        </p:txBody>
      </p:sp>
      <p:pic>
        <p:nvPicPr>
          <p:cNvPr id="7" name="Picture 6">
            <a:extLst>
              <a:ext uri="{FF2B5EF4-FFF2-40B4-BE49-F238E27FC236}">
                <a16:creationId xmlns:a16="http://schemas.microsoft.com/office/drawing/2014/main" id="{B047738D-526C-A74C-A568-89AD55E81705}"/>
              </a:ext>
            </a:extLst>
          </p:cNvPr>
          <p:cNvPicPr>
            <a:picLocks noChangeAspect="1"/>
          </p:cNvPicPr>
          <p:nvPr/>
        </p:nvPicPr>
        <p:blipFill>
          <a:blip r:embed="rId5"/>
          <a:stretch>
            <a:fillRect/>
          </a:stretch>
        </p:blipFill>
        <p:spPr>
          <a:xfrm>
            <a:off x="8398042" y="1877937"/>
            <a:ext cx="3629860" cy="1139719"/>
          </a:xfrm>
          <a:prstGeom prst="rect">
            <a:avLst/>
          </a:prstGeom>
        </p:spPr>
      </p:pic>
      <p:pic>
        <p:nvPicPr>
          <p:cNvPr id="8" name="Picture 7">
            <a:extLst>
              <a:ext uri="{FF2B5EF4-FFF2-40B4-BE49-F238E27FC236}">
                <a16:creationId xmlns:a16="http://schemas.microsoft.com/office/drawing/2014/main" id="{11792F60-B8DB-F161-DD2B-1DE76E7C7902}"/>
              </a:ext>
            </a:extLst>
          </p:cNvPr>
          <p:cNvPicPr>
            <a:picLocks noChangeAspect="1"/>
          </p:cNvPicPr>
          <p:nvPr/>
        </p:nvPicPr>
        <p:blipFill>
          <a:blip r:embed="rId6"/>
          <a:stretch>
            <a:fillRect/>
          </a:stretch>
        </p:blipFill>
        <p:spPr>
          <a:xfrm>
            <a:off x="8398041" y="4631733"/>
            <a:ext cx="3629861" cy="1158659"/>
          </a:xfrm>
          <a:prstGeom prst="rect">
            <a:avLst/>
          </a:prstGeom>
        </p:spPr>
      </p:pic>
      <p:pic>
        <p:nvPicPr>
          <p:cNvPr id="9" name="Picture 8">
            <a:extLst>
              <a:ext uri="{FF2B5EF4-FFF2-40B4-BE49-F238E27FC236}">
                <a16:creationId xmlns:a16="http://schemas.microsoft.com/office/drawing/2014/main" id="{B1DAC3C2-4548-3573-8C04-CACC42704F50}"/>
              </a:ext>
            </a:extLst>
          </p:cNvPr>
          <p:cNvPicPr>
            <a:picLocks noChangeAspect="1"/>
          </p:cNvPicPr>
          <p:nvPr/>
        </p:nvPicPr>
        <p:blipFill>
          <a:blip r:embed="rId7"/>
          <a:stretch>
            <a:fillRect/>
          </a:stretch>
        </p:blipFill>
        <p:spPr>
          <a:xfrm>
            <a:off x="8398040" y="3352125"/>
            <a:ext cx="3629859" cy="114157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z-Score Normalization</a:t>
            </a:r>
            <a:endParaRPr lang="en-US" sz="3000" dirty="0"/>
          </a:p>
        </p:txBody>
      </p:sp>
      <p:sp>
        <p:nvSpPr>
          <p:cNvPr id="3" name="Text 1"/>
          <p:cNvSpPr txBox="1"/>
          <p:nvPr/>
        </p:nvSpPr>
        <p:spPr>
          <a:xfrm>
            <a:off x="548640" y="1280160"/>
            <a:ext cx="5669280" cy="808736"/>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Let's go a step further and z-score normalize our estimates:</a:t>
            </a:r>
            <a:endParaRPr lang="en-US" sz="2000" dirty="0"/>
          </a:p>
        </p:txBody>
      </p:sp>
      <p:pic>
        <p:nvPicPr>
          <p:cNvPr id="4" name="Image 0" descr="zb"/>
          <p:cNvPicPr>
            <a:picLocks noChangeAspect="1"/>
          </p:cNvPicPr>
          <p:nvPr/>
        </p:nvPicPr>
        <p:blipFill>
          <a:blip r:embed="rId3"/>
          <a:stretch>
            <a:fillRect/>
          </a:stretch>
        </p:blipFill>
        <p:spPr>
          <a:xfrm>
            <a:off x="6583680" y="1234440"/>
            <a:ext cx="1471816" cy="692295"/>
          </a:xfrm>
          <a:prstGeom prst="rect">
            <a:avLst/>
          </a:prstGeom>
        </p:spPr>
      </p:pic>
      <p:sp>
        <p:nvSpPr>
          <p:cNvPr id="5" name="Text 2"/>
          <p:cNvSpPr txBox="1"/>
          <p:nvPr/>
        </p:nvSpPr>
        <p:spPr>
          <a:xfrm>
            <a:off x="548640" y="2088896"/>
            <a:ext cx="11064240" cy="808736"/>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Are the Z_b values approximately standard normal? Look at what happens to the confidence intervals</a:t>
            </a:r>
            <a:endParaRPr lang="en-US" sz="2000" dirty="0"/>
          </a:p>
        </p:txBody>
      </p:sp>
      <p:pic>
        <p:nvPicPr>
          <p:cNvPr id="6" name="Image 1" descr="/private/tmp/claude-502/-Users-xpz5km-Library-CloudStorage-Box-Box--Teaching-DS5030-Understanding-Uncertainty-Understanding-Uncertainty/19192ed6-4268-4d35-9086-608b2f1b36d6/scratchpad/hires/figs/c25_3.png"/>
          <p:cNvPicPr>
            <a:picLocks noChangeAspect="1"/>
          </p:cNvPicPr>
          <p:nvPr/>
        </p:nvPicPr>
        <p:blipFill>
          <a:blip r:embed="rId4"/>
          <a:stretch>
            <a:fillRect/>
          </a:stretch>
        </p:blipFill>
        <p:spPr>
          <a:xfrm>
            <a:off x="1097280" y="2943352"/>
            <a:ext cx="9966960" cy="3267731"/>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Raw vs. z-Scored</a:t>
            </a:r>
            <a:endParaRPr lang="en-US" sz="3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25</a:t>
            </a:fld>
            <a:endParaRPr lang="en-US"/>
          </a:p>
        </p:txBody>
      </p:sp>
      <p:pic>
        <p:nvPicPr>
          <p:cNvPr id="26" name="Full.Bath_1 raw"/>
          <p:cNvPicPr>
            <a:picLocks noChangeAspect="1"/>
          </p:cNvPicPr>
          <p:nvPr/>
        </p:nvPicPr>
        <p:blipFill>
          <a:blip r:embed="rId2"/>
          <a:stretch>
            <a:fillRect/>
          </a:stretch>
        </p:blipFill>
        <p:spPr>
          <a:xfrm>
            <a:off x="3246120" y="960120"/>
            <a:ext cx="8138160" cy="2667128"/>
          </a:xfrm>
          <a:prstGeom prst="rect">
            <a:avLst/>
          </a:prstGeom>
        </p:spPr>
      </p:pic>
      <p:pic>
        <p:nvPicPr>
          <p:cNvPr id="27" name="Full.Bath_1 z"/>
          <p:cNvPicPr>
            <a:picLocks noChangeAspect="1"/>
          </p:cNvPicPr>
          <p:nvPr/>
        </p:nvPicPr>
        <p:blipFill>
          <a:blip r:embed="rId3"/>
          <a:stretch>
            <a:fillRect/>
          </a:stretch>
        </p:blipFill>
        <p:spPr>
          <a:xfrm>
            <a:off x="3246120" y="3736976"/>
            <a:ext cx="8138160" cy="2667128"/>
          </a:xfrm>
          <a:prstGeom prst="rect">
            <a:avLst/>
          </a:prstGeom>
        </p:spPr>
      </p:pic>
      <p:sp>
        <p:nvSpPr>
          <p:cNvPr id="28" name="Label 28"/>
          <p:cNvSpPr txBox="1"/>
          <p:nvPr/>
        </p:nvSpPr>
        <p:spPr>
          <a:xfrm>
            <a:off x="548640" y="960120"/>
            <a:ext cx="2560320" cy="2667128"/>
          </a:xfrm>
          <a:prstGeom prst="rect">
            <a:avLst/>
          </a:prstGeom>
          <a:noFill/>
        </p:spPr>
        <p:txBody>
          <a:bodyPr wrap="square" lIns="0" tIns="0" rIns="0" bIns="0" anchor="ctr"/>
          <a:lstStyle/>
          <a:p>
            <a:pPr>
              <a:buNone/>
            </a:pPr>
            <a:r>
              <a:rPr lang="en-US" sz="2000" b="1" dirty="0">
                <a:solidFill>
                  <a:srgbClr val="FF42A1"/>
                </a:solidFill>
                <a:latin typeface="Aptos" pitchFamily="34" charset="0"/>
                <a:ea typeface="Aptos" pitchFamily="34" charset="-122"/>
                <a:cs typeface="Aptos" pitchFamily="34" charset="-120"/>
              </a:rPr>
              <a:t>Bootstrap coefficients</a:t>
            </a:r>
            <a:endParaRPr lang="en-US" sz="2000" dirty="0"/>
          </a:p>
          <a:p>
            <a:pPr>
              <a:buNone/>
            </a:pPr>
            <a:r>
              <a:rPr lang="en-US" sz="1600" dirty="0">
                <a:solidFill>
                  <a:srgbClr val="3A3A3A"/>
                </a:solidFill>
                <a:latin typeface="Aptos" pitchFamily="34" charset="0"/>
                <a:ea typeface="Aptos" pitchFamily="34" charset="-122"/>
                <a:cs typeface="Aptos" pitchFamily="34" charset="-120"/>
              </a:rPr>
              <a:t>Full.Bath_1</a:t>
            </a:r>
            <a:endParaRPr lang="en-US" sz="1600" dirty="0"/>
          </a:p>
        </p:txBody>
      </p:sp>
      <p:sp>
        <p:nvSpPr>
          <p:cNvPr id="29" name="Label 29"/>
          <p:cNvSpPr txBox="1"/>
          <p:nvPr/>
        </p:nvSpPr>
        <p:spPr>
          <a:xfrm>
            <a:off x="548640" y="3736976"/>
            <a:ext cx="2560320" cy="2667128"/>
          </a:xfrm>
          <a:prstGeom prst="rect">
            <a:avLst/>
          </a:prstGeom>
          <a:noFill/>
        </p:spPr>
        <p:txBody>
          <a:bodyPr wrap="square" lIns="0" tIns="0" rIns="0" bIns="0" anchor="ctr"/>
          <a:lstStyle/>
          <a:p>
            <a:pPr>
              <a:buNone/>
            </a:pPr>
            <a:r>
              <a:rPr lang="en-US" sz="2000" b="1" dirty="0">
                <a:solidFill>
                  <a:srgbClr val="FF42A1"/>
                </a:solidFill>
                <a:latin typeface="Aptos" pitchFamily="34" charset="0"/>
                <a:ea typeface="Aptos" pitchFamily="34" charset="-122"/>
                <a:cs typeface="Aptos" pitchFamily="34" charset="-120"/>
              </a:rPr>
              <a:t>z-scored</a:t>
            </a:r>
            <a:endParaRPr lang="en-US" sz="2000" dirty="0"/>
          </a:p>
          <a:p>
            <a:pPr>
              <a:buNone/>
            </a:pPr>
            <a:r>
              <a:rPr lang="en-US" sz="1600" dirty="0">
                <a:solidFill>
                  <a:srgbClr val="3A3A3A"/>
                </a:solidFill>
                <a:latin typeface="Aptos" pitchFamily="34" charset="0"/>
                <a:ea typeface="Aptos" pitchFamily="34" charset="-122"/>
                <a:cs typeface="Aptos" pitchFamily="34" charset="-120"/>
              </a:rPr>
              <a:t>(b − mean) / SE</a:t>
            </a:r>
            <a:endParaRPr lang="en-US" sz="1600" dirty="0"/>
          </a:p>
        </p:txBody>
      </p:sp>
    </p:spTree>
    <p:extLst>
      <p:ext uri="{BB962C8B-B14F-4D97-AF65-F5344CB8AC3E}">
        <p14:creationId xmlns:p14="http://schemas.microsoft.com/office/powerpoint/2010/main" val="293831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Raw vs. z-Scored</a:t>
            </a:r>
            <a:endParaRPr lang="en-US" sz="3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26</a:t>
            </a:fld>
            <a:endParaRPr lang="en-US"/>
          </a:p>
        </p:txBody>
      </p:sp>
      <p:pic>
        <p:nvPicPr>
          <p:cNvPr id="26" name="Full.Bath_2 raw"/>
          <p:cNvPicPr>
            <a:picLocks noChangeAspect="1"/>
          </p:cNvPicPr>
          <p:nvPr/>
        </p:nvPicPr>
        <p:blipFill>
          <a:blip r:embed="rId2"/>
          <a:stretch>
            <a:fillRect/>
          </a:stretch>
        </p:blipFill>
        <p:spPr>
          <a:xfrm>
            <a:off x="3246120" y="960120"/>
            <a:ext cx="8138160" cy="2667128"/>
          </a:xfrm>
          <a:prstGeom prst="rect">
            <a:avLst/>
          </a:prstGeom>
        </p:spPr>
      </p:pic>
      <p:pic>
        <p:nvPicPr>
          <p:cNvPr id="27" name="Full.Bath_2 z"/>
          <p:cNvPicPr>
            <a:picLocks noChangeAspect="1"/>
          </p:cNvPicPr>
          <p:nvPr/>
        </p:nvPicPr>
        <p:blipFill>
          <a:blip r:embed="rId3"/>
          <a:stretch>
            <a:fillRect/>
          </a:stretch>
        </p:blipFill>
        <p:spPr>
          <a:xfrm>
            <a:off x="3246120" y="3736976"/>
            <a:ext cx="8138160" cy="2667128"/>
          </a:xfrm>
          <a:prstGeom prst="rect">
            <a:avLst/>
          </a:prstGeom>
        </p:spPr>
      </p:pic>
      <p:sp>
        <p:nvSpPr>
          <p:cNvPr id="28" name="Label 28"/>
          <p:cNvSpPr txBox="1"/>
          <p:nvPr/>
        </p:nvSpPr>
        <p:spPr>
          <a:xfrm>
            <a:off x="548640" y="960120"/>
            <a:ext cx="2560320" cy="2667128"/>
          </a:xfrm>
          <a:prstGeom prst="rect">
            <a:avLst/>
          </a:prstGeom>
          <a:noFill/>
        </p:spPr>
        <p:txBody>
          <a:bodyPr wrap="square" lIns="0" tIns="0" rIns="0" bIns="0" anchor="ctr"/>
          <a:lstStyle/>
          <a:p>
            <a:pPr>
              <a:buNone/>
            </a:pPr>
            <a:r>
              <a:rPr lang="en-US" sz="2000" b="1" dirty="0">
                <a:solidFill>
                  <a:srgbClr val="FF42A1"/>
                </a:solidFill>
                <a:latin typeface="Aptos" pitchFamily="34" charset="0"/>
                <a:ea typeface="Aptos" pitchFamily="34" charset="-122"/>
                <a:cs typeface="Aptos" pitchFamily="34" charset="-120"/>
              </a:rPr>
              <a:t>Bootstrap coefficients</a:t>
            </a:r>
            <a:endParaRPr lang="en-US" sz="2000" dirty="0"/>
          </a:p>
          <a:p>
            <a:pPr>
              <a:buNone/>
            </a:pPr>
            <a:r>
              <a:rPr lang="en-US" sz="1600" dirty="0">
                <a:solidFill>
                  <a:srgbClr val="3A3A3A"/>
                </a:solidFill>
                <a:latin typeface="Aptos" pitchFamily="34" charset="0"/>
                <a:ea typeface="Aptos" pitchFamily="34" charset="-122"/>
                <a:cs typeface="Aptos" pitchFamily="34" charset="-120"/>
              </a:rPr>
              <a:t>Full.Bath_2</a:t>
            </a:r>
            <a:endParaRPr lang="en-US" sz="1600" dirty="0"/>
          </a:p>
        </p:txBody>
      </p:sp>
      <p:sp>
        <p:nvSpPr>
          <p:cNvPr id="29" name="Label 29"/>
          <p:cNvSpPr txBox="1"/>
          <p:nvPr/>
        </p:nvSpPr>
        <p:spPr>
          <a:xfrm>
            <a:off x="548640" y="3736976"/>
            <a:ext cx="2560320" cy="2667128"/>
          </a:xfrm>
          <a:prstGeom prst="rect">
            <a:avLst/>
          </a:prstGeom>
          <a:noFill/>
        </p:spPr>
        <p:txBody>
          <a:bodyPr wrap="square" lIns="0" tIns="0" rIns="0" bIns="0" anchor="ctr"/>
          <a:lstStyle/>
          <a:p>
            <a:pPr>
              <a:buNone/>
            </a:pPr>
            <a:r>
              <a:rPr lang="en-US" sz="2000" b="1" dirty="0">
                <a:solidFill>
                  <a:srgbClr val="FF42A1"/>
                </a:solidFill>
                <a:latin typeface="Aptos" pitchFamily="34" charset="0"/>
                <a:ea typeface="Aptos" pitchFamily="34" charset="-122"/>
                <a:cs typeface="Aptos" pitchFamily="34" charset="-120"/>
              </a:rPr>
              <a:t>z-scored</a:t>
            </a:r>
            <a:endParaRPr lang="en-US" sz="2000" dirty="0"/>
          </a:p>
          <a:p>
            <a:pPr>
              <a:buNone/>
            </a:pPr>
            <a:r>
              <a:rPr lang="en-US" sz="1600" dirty="0">
                <a:solidFill>
                  <a:srgbClr val="3A3A3A"/>
                </a:solidFill>
                <a:latin typeface="Aptos" pitchFamily="34" charset="0"/>
                <a:ea typeface="Aptos" pitchFamily="34" charset="-122"/>
                <a:cs typeface="Aptos" pitchFamily="34" charset="-120"/>
              </a:rPr>
              <a:t>(b − mean) / SE</a:t>
            </a:r>
            <a:endParaRPr lang="en-US" sz="1600" dirty="0"/>
          </a:p>
        </p:txBody>
      </p:sp>
    </p:spTree>
    <p:extLst>
      <p:ext uri="{BB962C8B-B14F-4D97-AF65-F5344CB8AC3E}">
        <p14:creationId xmlns:p14="http://schemas.microsoft.com/office/powerpoint/2010/main" val="22296076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Raw vs. z-Scored</a:t>
            </a:r>
            <a:endParaRPr lang="en-US" sz="3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27</a:t>
            </a:fld>
            <a:endParaRPr lang="en-US"/>
          </a:p>
        </p:txBody>
      </p:sp>
      <p:pic>
        <p:nvPicPr>
          <p:cNvPr id="26" name="Full.Bath_3 raw"/>
          <p:cNvPicPr>
            <a:picLocks noChangeAspect="1"/>
          </p:cNvPicPr>
          <p:nvPr/>
        </p:nvPicPr>
        <p:blipFill>
          <a:blip r:embed="rId2"/>
          <a:stretch>
            <a:fillRect/>
          </a:stretch>
        </p:blipFill>
        <p:spPr>
          <a:xfrm>
            <a:off x="3246120" y="960120"/>
            <a:ext cx="8138160" cy="2667128"/>
          </a:xfrm>
          <a:prstGeom prst="rect">
            <a:avLst/>
          </a:prstGeom>
        </p:spPr>
      </p:pic>
      <p:pic>
        <p:nvPicPr>
          <p:cNvPr id="27" name="Full.Bath_3 z"/>
          <p:cNvPicPr>
            <a:picLocks noChangeAspect="1"/>
          </p:cNvPicPr>
          <p:nvPr/>
        </p:nvPicPr>
        <p:blipFill>
          <a:blip r:embed="rId3"/>
          <a:stretch>
            <a:fillRect/>
          </a:stretch>
        </p:blipFill>
        <p:spPr>
          <a:xfrm>
            <a:off x="3246120" y="3736976"/>
            <a:ext cx="8138160" cy="2667128"/>
          </a:xfrm>
          <a:prstGeom prst="rect">
            <a:avLst/>
          </a:prstGeom>
        </p:spPr>
      </p:pic>
      <p:sp>
        <p:nvSpPr>
          <p:cNvPr id="28" name="Label 28"/>
          <p:cNvSpPr txBox="1"/>
          <p:nvPr/>
        </p:nvSpPr>
        <p:spPr>
          <a:xfrm>
            <a:off x="548640" y="960120"/>
            <a:ext cx="2560320" cy="2667128"/>
          </a:xfrm>
          <a:prstGeom prst="rect">
            <a:avLst/>
          </a:prstGeom>
          <a:noFill/>
        </p:spPr>
        <p:txBody>
          <a:bodyPr wrap="square" lIns="0" tIns="0" rIns="0" bIns="0" anchor="ctr"/>
          <a:lstStyle/>
          <a:p>
            <a:pPr>
              <a:buNone/>
            </a:pPr>
            <a:r>
              <a:rPr lang="en-US" sz="2000" b="1" dirty="0">
                <a:solidFill>
                  <a:srgbClr val="FF42A1"/>
                </a:solidFill>
                <a:latin typeface="Aptos" pitchFamily="34" charset="0"/>
                <a:ea typeface="Aptos" pitchFamily="34" charset="-122"/>
                <a:cs typeface="Aptos" pitchFamily="34" charset="-120"/>
              </a:rPr>
              <a:t>Bootstrap coefficients</a:t>
            </a:r>
            <a:endParaRPr lang="en-US" sz="2000" dirty="0"/>
          </a:p>
          <a:p>
            <a:pPr>
              <a:buNone/>
            </a:pPr>
            <a:r>
              <a:rPr lang="en-US" sz="1600" dirty="0">
                <a:solidFill>
                  <a:srgbClr val="3A3A3A"/>
                </a:solidFill>
                <a:latin typeface="Aptos" pitchFamily="34" charset="0"/>
                <a:ea typeface="Aptos" pitchFamily="34" charset="-122"/>
                <a:cs typeface="Aptos" pitchFamily="34" charset="-120"/>
              </a:rPr>
              <a:t>Full.Bath_3</a:t>
            </a:r>
            <a:endParaRPr lang="en-US" sz="1600" dirty="0"/>
          </a:p>
        </p:txBody>
      </p:sp>
      <p:sp>
        <p:nvSpPr>
          <p:cNvPr id="29" name="Label 29"/>
          <p:cNvSpPr txBox="1"/>
          <p:nvPr/>
        </p:nvSpPr>
        <p:spPr>
          <a:xfrm>
            <a:off x="548640" y="3736976"/>
            <a:ext cx="2560320" cy="2667128"/>
          </a:xfrm>
          <a:prstGeom prst="rect">
            <a:avLst/>
          </a:prstGeom>
          <a:noFill/>
        </p:spPr>
        <p:txBody>
          <a:bodyPr wrap="square" lIns="0" tIns="0" rIns="0" bIns="0" anchor="ctr"/>
          <a:lstStyle/>
          <a:p>
            <a:pPr>
              <a:buNone/>
            </a:pPr>
            <a:r>
              <a:rPr lang="en-US" sz="2000" b="1" dirty="0">
                <a:solidFill>
                  <a:srgbClr val="FF42A1"/>
                </a:solidFill>
                <a:latin typeface="Aptos" pitchFamily="34" charset="0"/>
                <a:ea typeface="Aptos" pitchFamily="34" charset="-122"/>
                <a:cs typeface="Aptos" pitchFamily="34" charset="-120"/>
              </a:rPr>
              <a:t>z-scored</a:t>
            </a:r>
            <a:endParaRPr lang="en-US" sz="2000" dirty="0"/>
          </a:p>
          <a:p>
            <a:pPr>
              <a:buNone/>
            </a:pPr>
            <a:r>
              <a:rPr lang="en-US" sz="1600" dirty="0">
                <a:solidFill>
                  <a:srgbClr val="3A3A3A"/>
                </a:solidFill>
                <a:latin typeface="Aptos" pitchFamily="34" charset="0"/>
                <a:ea typeface="Aptos" pitchFamily="34" charset="-122"/>
                <a:cs typeface="Aptos" pitchFamily="34" charset="-120"/>
              </a:rPr>
              <a:t>(b − mean) / SE</a:t>
            </a:r>
            <a:endParaRPr lang="en-US" sz="1600" dirty="0"/>
          </a:p>
        </p:txBody>
      </p:sp>
    </p:spTree>
    <p:extLst>
      <p:ext uri="{BB962C8B-B14F-4D97-AF65-F5344CB8AC3E}">
        <p14:creationId xmlns:p14="http://schemas.microsoft.com/office/powerpoint/2010/main" val="15995516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Raw vs. z-Scored</a:t>
            </a:r>
            <a:endParaRPr lang="en-US" sz="3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28</a:t>
            </a:fld>
            <a:endParaRPr lang="en-US"/>
          </a:p>
        </p:txBody>
      </p:sp>
      <p:pic>
        <p:nvPicPr>
          <p:cNvPr id="26" name="Full.Bath_4 raw"/>
          <p:cNvPicPr>
            <a:picLocks noChangeAspect="1"/>
          </p:cNvPicPr>
          <p:nvPr/>
        </p:nvPicPr>
        <p:blipFill>
          <a:blip r:embed="rId2"/>
          <a:stretch>
            <a:fillRect/>
          </a:stretch>
        </p:blipFill>
        <p:spPr>
          <a:xfrm>
            <a:off x="3246120" y="960120"/>
            <a:ext cx="8138160" cy="2667128"/>
          </a:xfrm>
          <a:prstGeom prst="rect">
            <a:avLst/>
          </a:prstGeom>
        </p:spPr>
      </p:pic>
      <p:pic>
        <p:nvPicPr>
          <p:cNvPr id="27" name="Full.Bath_4 z"/>
          <p:cNvPicPr>
            <a:picLocks noChangeAspect="1"/>
          </p:cNvPicPr>
          <p:nvPr/>
        </p:nvPicPr>
        <p:blipFill>
          <a:blip r:embed="rId3"/>
          <a:stretch>
            <a:fillRect/>
          </a:stretch>
        </p:blipFill>
        <p:spPr>
          <a:xfrm>
            <a:off x="3246120" y="3736976"/>
            <a:ext cx="8138160" cy="2667128"/>
          </a:xfrm>
          <a:prstGeom prst="rect">
            <a:avLst/>
          </a:prstGeom>
        </p:spPr>
      </p:pic>
      <p:sp>
        <p:nvSpPr>
          <p:cNvPr id="28" name="Label 28"/>
          <p:cNvSpPr txBox="1"/>
          <p:nvPr/>
        </p:nvSpPr>
        <p:spPr>
          <a:xfrm>
            <a:off x="548640" y="960120"/>
            <a:ext cx="2560320" cy="2667128"/>
          </a:xfrm>
          <a:prstGeom prst="rect">
            <a:avLst/>
          </a:prstGeom>
          <a:noFill/>
        </p:spPr>
        <p:txBody>
          <a:bodyPr wrap="square" lIns="0" tIns="0" rIns="0" bIns="0" anchor="ctr"/>
          <a:lstStyle/>
          <a:p>
            <a:pPr>
              <a:buNone/>
            </a:pPr>
            <a:r>
              <a:rPr lang="en-US" sz="2000" b="1" dirty="0">
                <a:solidFill>
                  <a:srgbClr val="FF42A1"/>
                </a:solidFill>
                <a:latin typeface="Aptos" pitchFamily="34" charset="0"/>
                <a:ea typeface="Aptos" pitchFamily="34" charset="-122"/>
                <a:cs typeface="Aptos" pitchFamily="34" charset="-120"/>
              </a:rPr>
              <a:t>Bootstrap coefficients</a:t>
            </a:r>
            <a:endParaRPr lang="en-US" sz="2000" dirty="0"/>
          </a:p>
          <a:p>
            <a:pPr>
              <a:buNone/>
            </a:pPr>
            <a:r>
              <a:rPr lang="en-US" sz="1600" dirty="0">
                <a:solidFill>
                  <a:srgbClr val="3A3A3A"/>
                </a:solidFill>
                <a:latin typeface="Aptos" pitchFamily="34" charset="0"/>
                <a:ea typeface="Aptos" pitchFamily="34" charset="-122"/>
                <a:cs typeface="Aptos" pitchFamily="34" charset="-120"/>
              </a:rPr>
              <a:t>Full.Bath_4</a:t>
            </a:r>
            <a:endParaRPr lang="en-US" sz="1600" dirty="0"/>
          </a:p>
        </p:txBody>
      </p:sp>
      <p:sp>
        <p:nvSpPr>
          <p:cNvPr id="29" name="Label 29"/>
          <p:cNvSpPr txBox="1"/>
          <p:nvPr/>
        </p:nvSpPr>
        <p:spPr>
          <a:xfrm>
            <a:off x="548640" y="3736976"/>
            <a:ext cx="2560320" cy="2667128"/>
          </a:xfrm>
          <a:prstGeom prst="rect">
            <a:avLst/>
          </a:prstGeom>
          <a:noFill/>
        </p:spPr>
        <p:txBody>
          <a:bodyPr wrap="square" lIns="0" tIns="0" rIns="0" bIns="0" anchor="ctr"/>
          <a:lstStyle/>
          <a:p>
            <a:pPr>
              <a:buNone/>
            </a:pPr>
            <a:r>
              <a:rPr lang="en-US" sz="2000" b="1" dirty="0">
                <a:solidFill>
                  <a:srgbClr val="FF42A1"/>
                </a:solidFill>
                <a:latin typeface="Aptos" pitchFamily="34" charset="0"/>
                <a:ea typeface="Aptos" pitchFamily="34" charset="-122"/>
                <a:cs typeface="Aptos" pitchFamily="34" charset="-120"/>
              </a:rPr>
              <a:t>z-scored</a:t>
            </a:r>
            <a:endParaRPr lang="en-US" sz="2000" dirty="0"/>
          </a:p>
          <a:p>
            <a:pPr>
              <a:buNone/>
            </a:pPr>
            <a:r>
              <a:rPr lang="en-US" sz="1600" dirty="0">
                <a:solidFill>
                  <a:srgbClr val="3A3A3A"/>
                </a:solidFill>
                <a:latin typeface="Aptos" pitchFamily="34" charset="0"/>
                <a:ea typeface="Aptos" pitchFamily="34" charset="-122"/>
                <a:cs typeface="Aptos" pitchFamily="34" charset="-120"/>
              </a:rPr>
              <a:t>(b − mean) / SE</a:t>
            </a:r>
            <a:endParaRPr lang="en-US" sz="1600" dirty="0"/>
          </a:p>
        </p:txBody>
      </p:sp>
    </p:spTree>
    <p:extLst>
      <p:ext uri="{BB962C8B-B14F-4D97-AF65-F5344CB8AC3E}">
        <p14:creationId xmlns:p14="http://schemas.microsoft.com/office/powerpoint/2010/main" val="32940937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Raw vs. z-Scored</a:t>
            </a:r>
            <a:endParaRPr lang="en-US" sz="3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29</a:t>
            </a:fld>
            <a:endParaRPr lang="en-US"/>
          </a:p>
        </p:txBody>
      </p:sp>
      <p:pic>
        <p:nvPicPr>
          <p:cNvPr id="26" name="TotRms.AbvGrd raw"/>
          <p:cNvPicPr>
            <a:picLocks noChangeAspect="1"/>
          </p:cNvPicPr>
          <p:nvPr/>
        </p:nvPicPr>
        <p:blipFill>
          <a:blip r:embed="rId2"/>
          <a:stretch>
            <a:fillRect/>
          </a:stretch>
        </p:blipFill>
        <p:spPr>
          <a:xfrm>
            <a:off x="3246120" y="960120"/>
            <a:ext cx="8138160" cy="2667128"/>
          </a:xfrm>
          <a:prstGeom prst="rect">
            <a:avLst/>
          </a:prstGeom>
        </p:spPr>
      </p:pic>
      <p:pic>
        <p:nvPicPr>
          <p:cNvPr id="27" name="TotRms.AbvGrd z"/>
          <p:cNvPicPr>
            <a:picLocks noChangeAspect="1"/>
          </p:cNvPicPr>
          <p:nvPr/>
        </p:nvPicPr>
        <p:blipFill>
          <a:blip r:embed="rId3"/>
          <a:stretch>
            <a:fillRect/>
          </a:stretch>
        </p:blipFill>
        <p:spPr>
          <a:xfrm>
            <a:off x="3246120" y="3736976"/>
            <a:ext cx="8138160" cy="2667128"/>
          </a:xfrm>
          <a:prstGeom prst="rect">
            <a:avLst/>
          </a:prstGeom>
        </p:spPr>
      </p:pic>
      <p:sp>
        <p:nvSpPr>
          <p:cNvPr id="28" name="Label 28"/>
          <p:cNvSpPr txBox="1"/>
          <p:nvPr/>
        </p:nvSpPr>
        <p:spPr>
          <a:xfrm>
            <a:off x="548640" y="960120"/>
            <a:ext cx="2560320" cy="2667128"/>
          </a:xfrm>
          <a:prstGeom prst="rect">
            <a:avLst/>
          </a:prstGeom>
          <a:noFill/>
        </p:spPr>
        <p:txBody>
          <a:bodyPr wrap="square" lIns="0" tIns="0" rIns="0" bIns="0" anchor="ctr"/>
          <a:lstStyle/>
          <a:p>
            <a:pPr>
              <a:buNone/>
            </a:pPr>
            <a:r>
              <a:rPr lang="en-US" sz="2000" b="1" dirty="0">
                <a:solidFill>
                  <a:srgbClr val="FF42A1"/>
                </a:solidFill>
                <a:latin typeface="Aptos" pitchFamily="34" charset="0"/>
                <a:ea typeface="Aptos" pitchFamily="34" charset="-122"/>
                <a:cs typeface="Aptos" pitchFamily="34" charset="-120"/>
              </a:rPr>
              <a:t>Bootstrap coefficients</a:t>
            </a:r>
            <a:endParaRPr lang="en-US" sz="2000" dirty="0"/>
          </a:p>
          <a:p>
            <a:pPr>
              <a:buNone/>
            </a:pPr>
            <a:r>
              <a:rPr lang="en-US" sz="1600" dirty="0">
                <a:solidFill>
                  <a:srgbClr val="3A3A3A"/>
                </a:solidFill>
                <a:latin typeface="Aptos" pitchFamily="34" charset="0"/>
                <a:ea typeface="Aptos" pitchFamily="34" charset="-122"/>
                <a:cs typeface="Aptos" pitchFamily="34" charset="-120"/>
              </a:rPr>
              <a:t>TotRms.AbvGrd</a:t>
            </a:r>
            <a:endParaRPr lang="en-US" sz="1600" dirty="0"/>
          </a:p>
        </p:txBody>
      </p:sp>
      <p:sp>
        <p:nvSpPr>
          <p:cNvPr id="29" name="Label 29"/>
          <p:cNvSpPr txBox="1"/>
          <p:nvPr/>
        </p:nvSpPr>
        <p:spPr>
          <a:xfrm>
            <a:off x="548640" y="3736976"/>
            <a:ext cx="2560320" cy="2667128"/>
          </a:xfrm>
          <a:prstGeom prst="rect">
            <a:avLst/>
          </a:prstGeom>
          <a:noFill/>
        </p:spPr>
        <p:txBody>
          <a:bodyPr wrap="square" lIns="0" tIns="0" rIns="0" bIns="0" anchor="ctr"/>
          <a:lstStyle/>
          <a:p>
            <a:pPr>
              <a:buNone/>
            </a:pPr>
            <a:r>
              <a:rPr lang="en-US" sz="2000" b="1" dirty="0">
                <a:solidFill>
                  <a:srgbClr val="FF42A1"/>
                </a:solidFill>
                <a:latin typeface="Aptos" pitchFamily="34" charset="0"/>
                <a:ea typeface="Aptos" pitchFamily="34" charset="-122"/>
                <a:cs typeface="Aptos" pitchFamily="34" charset="-120"/>
              </a:rPr>
              <a:t>z-scored</a:t>
            </a:r>
            <a:endParaRPr lang="en-US" sz="2000" dirty="0"/>
          </a:p>
          <a:p>
            <a:pPr>
              <a:buNone/>
            </a:pPr>
            <a:r>
              <a:rPr lang="en-US" sz="1600" dirty="0">
                <a:solidFill>
                  <a:srgbClr val="3A3A3A"/>
                </a:solidFill>
                <a:latin typeface="Aptos" pitchFamily="34" charset="0"/>
                <a:ea typeface="Aptos" pitchFamily="34" charset="-122"/>
                <a:cs typeface="Aptos" pitchFamily="34" charset="-120"/>
              </a:rPr>
              <a:t>(b − mean) / SE</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Raw vs. z-Scored</a:t>
            </a:r>
            <a:endParaRPr lang="en-US" sz="3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30</a:t>
            </a:fld>
            <a:endParaRPr lang="en-US"/>
          </a:p>
        </p:txBody>
      </p:sp>
      <p:pic>
        <p:nvPicPr>
          <p:cNvPr id="26" name="age raw"/>
          <p:cNvPicPr>
            <a:picLocks noChangeAspect="1"/>
          </p:cNvPicPr>
          <p:nvPr/>
        </p:nvPicPr>
        <p:blipFill>
          <a:blip r:embed="rId2"/>
          <a:stretch>
            <a:fillRect/>
          </a:stretch>
        </p:blipFill>
        <p:spPr>
          <a:xfrm>
            <a:off x="3246120" y="960120"/>
            <a:ext cx="8138160" cy="2667128"/>
          </a:xfrm>
          <a:prstGeom prst="rect">
            <a:avLst/>
          </a:prstGeom>
        </p:spPr>
      </p:pic>
      <p:pic>
        <p:nvPicPr>
          <p:cNvPr id="27" name="age z"/>
          <p:cNvPicPr>
            <a:picLocks noChangeAspect="1"/>
          </p:cNvPicPr>
          <p:nvPr/>
        </p:nvPicPr>
        <p:blipFill>
          <a:blip r:embed="rId3"/>
          <a:stretch>
            <a:fillRect/>
          </a:stretch>
        </p:blipFill>
        <p:spPr>
          <a:xfrm>
            <a:off x="3246120" y="3736976"/>
            <a:ext cx="8138160" cy="2667128"/>
          </a:xfrm>
          <a:prstGeom prst="rect">
            <a:avLst/>
          </a:prstGeom>
        </p:spPr>
      </p:pic>
      <p:sp>
        <p:nvSpPr>
          <p:cNvPr id="28" name="Label 28"/>
          <p:cNvSpPr txBox="1"/>
          <p:nvPr/>
        </p:nvSpPr>
        <p:spPr>
          <a:xfrm>
            <a:off x="548640" y="960120"/>
            <a:ext cx="2560320" cy="2667128"/>
          </a:xfrm>
          <a:prstGeom prst="rect">
            <a:avLst/>
          </a:prstGeom>
          <a:noFill/>
        </p:spPr>
        <p:txBody>
          <a:bodyPr wrap="square" lIns="0" tIns="0" rIns="0" bIns="0" anchor="ctr"/>
          <a:lstStyle/>
          <a:p>
            <a:pPr>
              <a:buNone/>
            </a:pPr>
            <a:r>
              <a:rPr lang="en-US" sz="2000" b="1" dirty="0">
                <a:solidFill>
                  <a:srgbClr val="FF42A1"/>
                </a:solidFill>
                <a:latin typeface="Aptos" pitchFamily="34" charset="0"/>
                <a:ea typeface="Aptos" pitchFamily="34" charset="-122"/>
                <a:cs typeface="Aptos" pitchFamily="34" charset="-120"/>
              </a:rPr>
              <a:t>Bootstrap coefficients</a:t>
            </a:r>
            <a:endParaRPr lang="en-US" sz="2000" dirty="0"/>
          </a:p>
          <a:p>
            <a:pPr>
              <a:buNone/>
            </a:pPr>
            <a:r>
              <a:rPr lang="en-US" sz="1600" dirty="0">
                <a:solidFill>
                  <a:srgbClr val="3A3A3A"/>
                </a:solidFill>
                <a:latin typeface="Aptos" pitchFamily="34" charset="0"/>
                <a:ea typeface="Aptos" pitchFamily="34" charset="-122"/>
                <a:cs typeface="Aptos" pitchFamily="34" charset="-120"/>
              </a:rPr>
              <a:t>age</a:t>
            </a:r>
            <a:endParaRPr lang="en-US" sz="1600" dirty="0"/>
          </a:p>
        </p:txBody>
      </p:sp>
      <p:sp>
        <p:nvSpPr>
          <p:cNvPr id="29" name="Label 29"/>
          <p:cNvSpPr txBox="1"/>
          <p:nvPr/>
        </p:nvSpPr>
        <p:spPr>
          <a:xfrm>
            <a:off x="548640" y="3736976"/>
            <a:ext cx="2560320" cy="2667128"/>
          </a:xfrm>
          <a:prstGeom prst="rect">
            <a:avLst/>
          </a:prstGeom>
          <a:noFill/>
        </p:spPr>
        <p:txBody>
          <a:bodyPr wrap="square" lIns="0" tIns="0" rIns="0" bIns="0" anchor="ctr"/>
          <a:lstStyle/>
          <a:p>
            <a:pPr>
              <a:buNone/>
            </a:pPr>
            <a:r>
              <a:rPr lang="en-US" sz="2000" b="1" dirty="0">
                <a:solidFill>
                  <a:srgbClr val="FF42A1"/>
                </a:solidFill>
                <a:latin typeface="Aptos" pitchFamily="34" charset="0"/>
                <a:ea typeface="Aptos" pitchFamily="34" charset="-122"/>
                <a:cs typeface="Aptos" pitchFamily="34" charset="-120"/>
              </a:rPr>
              <a:t>z-scored</a:t>
            </a:r>
            <a:endParaRPr lang="en-US" sz="2000" dirty="0"/>
          </a:p>
          <a:p>
            <a:pPr>
              <a:buNone/>
            </a:pPr>
            <a:r>
              <a:rPr lang="en-US" sz="1600" dirty="0">
                <a:solidFill>
                  <a:srgbClr val="3A3A3A"/>
                </a:solidFill>
                <a:latin typeface="Aptos" pitchFamily="34" charset="0"/>
                <a:ea typeface="Aptos" pitchFamily="34" charset="-122"/>
                <a:cs typeface="Aptos" pitchFamily="34" charset="-120"/>
              </a:rPr>
              <a:t>(b − mean) / SE</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Raw vs. z-Scored</a:t>
            </a:r>
            <a:endParaRPr lang="en-US" sz="3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31</a:t>
            </a:fld>
            <a:endParaRPr lang="en-US"/>
          </a:p>
        </p:txBody>
      </p:sp>
      <p:pic>
        <p:nvPicPr>
          <p:cNvPr id="26" name="area raw"/>
          <p:cNvPicPr>
            <a:picLocks noChangeAspect="1"/>
          </p:cNvPicPr>
          <p:nvPr/>
        </p:nvPicPr>
        <p:blipFill>
          <a:blip r:embed="rId2"/>
          <a:stretch>
            <a:fillRect/>
          </a:stretch>
        </p:blipFill>
        <p:spPr>
          <a:xfrm>
            <a:off x="3246120" y="960120"/>
            <a:ext cx="8138160" cy="2667128"/>
          </a:xfrm>
          <a:prstGeom prst="rect">
            <a:avLst/>
          </a:prstGeom>
        </p:spPr>
      </p:pic>
      <p:pic>
        <p:nvPicPr>
          <p:cNvPr id="27" name="area z"/>
          <p:cNvPicPr>
            <a:picLocks noChangeAspect="1"/>
          </p:cNvPicPr>
          <p:nvPr/>
        </p:nvPicPr>
        <p:blipFill>
          <a:blip r:embed="rId3"/>
          <a:stretch>
            <a:fillRect/>
          </a:stretch>
        </p:blipFill>
        <p:spPr>
          <a:xfrm>
            <a:off x="3246120" y="3736976"/>
            <a:ext cx="8138160" cy="2667128"/>
          </a:xfrm>
          <a:prstGeom prst="rect">
            <a:avLst/>
          </a:prstGeom>
        </p:spPr>
      </p:pic>
      <p:sp>
        <p:nvSpPr>
          <p:cNvPr id="28" name="Label 28"/>
          <p:cNvSpPr txBox="1"/>
          <p:nvPr/>
        </p:nvSpPr>
        <p:spPr>
          <a:xfrm>
            <a:off x="548640" y="960120"/>
            <a:ext cx="2560320" cy="2667128"/>
          </a:xfrm>
          <a:prstGeom prst="rect">
            <a:avLst/>
          </a:prstGeom>
          <a:noFill/>
        </p:spPr>
        <p:txBody>
          <a:bodyPr wrap="square" lIns="0" tIns="0" rIns="0" bIns="0" anchor="ctr"/>
          <a:lstStyle/>
          <a:p>
            <a:pPr>
              <a:buNone/>
            </a:pPr>
            <a:r>
              <a:rPr lang="en-US" sz="2000" b="1" dirty="0">
                <a:solidFill>
                  <a:srgbClr val="FF42A1"/>
                </a:solidFill>
                <a:latin typeface="Aptos" pitchFamily="34" charset="0"/>
                <a:ea typeface="Aptos" pitchFamily="34" charset="-122"/>
                <a:cs typeface="Aptos" pitchFamily="34" charset="-120"/>
              </a:rPr>
              <a:t>Bootstrap coefficients</a:t>
            </a:r>
            <a:endParaRPr lang="en-US" sz="2000" dirty="0"/>
          </a:p>
          <a:p>
            <a:pPr>
              <a:buNone/>
            </a:pPr>
            <a:r>
              <a:rPr lang="en-US" sz="1600" dirty="0">
                <a:solidFill>
                  <a:srgbClr val="3A3A3A"/>
                </a:solidFill>
                <a:latin typeface="Aptos" pitchFamily="34" charset="0"/>
                <a:ea typeface="Aptos" pitchFamily="34" charset="-122"/>
                <a:cs typeface="Aptos" pitchFamily="34" charset="-120"/>
              </a:rPr>
              <a:t>area</a:t>
            </a:r>
            <a:endParaRPr lang="en-US" sz="1600" dirty="0"/>
          </a:p>
        </p:txBody>
      </p:sp>
      <p:sp>
        <p:nvSpPr>
          <p:cNvPr id="29" name="Label 29"/>
          <p:cNvSpPr txBox="1"/>
          <p:nvPr/>
        </p:nvSpPr>
        <p:spPr>
          <a:xfrm>
            <a:off x="548640" y="3736976"/>
            <a:ext cx="2560320" cy="2667128"/>
          </a:xfrm>
          <a:prstGeom prst="rect">
            <a:avLst/>
          </a:prstGeom>
          <a:noFill/>
        </p:spPr>
        <p:txBody>
          <a:bodyPr wrap="square" lIns="0" tIns="0" rIns="0" bIns="0" anchor="ctr"/>
          <a:lstStyle/>
          <a:p>
            <a:pPr>
              <a:buNone/>
            </a:pPr>
            <a:r>
              <a:rPr lang="en-US" sz="2000" b="1" dirty="0">
                <a:solidFill>
                  <a:srgbClr val="FF42A1"/>
                </a:solidFill>
                <a:latin typeface="Aptos" pitchFamily="34" charset="0"/>
                <a:ea typeface="Aptos" pitchFamily="34" charset="-122"/>
                <a:cs typeface="Aptos" pitchFamily="34" charset="-120"/>
              </a:rPr>
              <a:t>z-scored</a:t>
            </a:r>
            <a:endParaRPr lang="en-US" sz="2000" dirty="0"/>
          </a:p>
          <a:p>
            <a:pPr>
              <a:buNone/>
            </a:pPr>
            <a:r>
              <a:rPr lang="en-US" sz="1600" dirty="0">
                <a:solidFill>
                  <a:srgbClr val="3A3A3A"/>
                </a:solidFill>
                <a:latin typeface="Aptos" pitchFamily="34" charset="0"/>
                <a:ea typeface="Aptos" pitchFamily="34" charset="-122"/>
                <a:cs typeface="Aptos" pitchFamily="34" charset="-120"/>
              </a:rPr>
              <a:t>(b − mean) / SE</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But Wait</a:t>
            </a:r>
            <a:endParaRPr lang="en-US" sz="3000" dirty="0"/>
          </a:p>
        </p:txBody>
      </p:sp>
      <p:sp>
        <p:nvSpPr>
          <p:cNvPr id="3" name="Text 1"/>
          <p:cNvSpPr txBox="1"/>
          <p:nvPr/>
        </p:nvSpPr>
        <p:spPr>
          <a:xfrm>
            <a:off x="548640" y="1280160"/>
            <a:ext cx="11064240" cy="2084578"/>
          </a:xfrm>
          <a:prstGeom prst="rect">
            <a:avLst/>
          </a:prstGeom>
          <a:noFill/>
          <a:ln/>
        </p:spPr>
        <p:txBody>
          <a:bodyPr wrap="square" lIns="0" tIns="0" rIns="0" bIns="0" rtlCol="0" anchor="t"/>
          <a:lstStyle/>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After z-score normalizing, we got roughly </a:t>
            </a:r>
            <a:r>
              <a:rPr lang="en-US" sz="2200" b="1" dirty="0">
                <a:solidFill>
                  <a:srgbClr val="FF42A1"/>
                </a:solidFill>
                <a:latin typeface="Aptos" pitchFamily="34" charset="0"/>
                <a:ea typeface="Aptos" pitchFamily="34" charset="-122"/>
                <a:cs typeface="Aptos" pitchFamily="34" charset="-120"/>
              </a:rPr>
              <a:t>the same picture, over and over</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If we get basically the same picture every time, and the bootstrap ECDF and the standard Normal align almost perfectly, then can't we just approximate the sampling distribution of Z-scores by a standard Normal?</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This is the basic logic behind classical asymptotic inferential statistics</a:t>
            </a:r>
            <a:endParaRPr lang="en-US" sz="2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32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Checkpoint: Discuss with someone sitting next to you</a:t>
            </a:r>
            <a:endParaRPr lang="en-US" sz="3000" dirty="0"/>
          </a:p>
        </p:txBody>
      </p:sp>
      <p:sp>
        <p:nvSpPr>
          <p:cNvPr id="3" name="Text 1"/>
          <p:cNvSpPr txBox="1"/>
          <p:nvPr/>
        </p:nvSpPr>
        <p:spPr>
          <a:xfrm>
            <a:off x="548640" y="1280160"/>
            <a:ext cx="11064240" cy="4754880"/>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A colleague bootstraps the mean of 25 house prices: the bootstrap distribution is centered at $182k with SD $9k. They write "house prices are $182k ± $9k." What's wrong? About how spread out are the prices themselves?</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With 100 houses instead of 25, about what SD would their bootstrap distribution have?</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Why do we resample whole rows (price and area together) instead of resampling price and area separately?</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Predict: every z-scored coefficient looked standard normal. Would the bootstrap still give that picture for (a) the maximum price, (b) the coefficient on a house style that only 8 houses in the data have, (c) the same regression fit to just 5 houses?</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Checkpoint Answers</a:t>
            </a:r>
            <a:endParaRPr lang="en-US" sz="3000" dirty="0"/>
          </a:p>
        </p:txBody>
      </p:sp>
      <p:sp>
        <p:nvSpPr>
          <p:cNvPr id="3" name="Text 1"/>
          <p:cNvSpPr txBox="1"/>
          <p:nvPr/>
        </p:nvSpPr>
        <p:spPr>
          <a:xfrm>
            <a:off x="548640" y="1280160"/>
            <a:ext cx="11064240" cy="4937760"/>
          </a:xfrm>
          <a:prstGeom prst="rect">
            <a:avLst/>
          </a:prstGeom>
          <a:noFill/>
          <a:ln/>
        </p:spPr>
        <p:txBody>
          <a:bodyPr wrap="square" lIns="0" tIns="0" rIns="0" bIns="0" rtlCol="0" anchor="t"/>
          <a:lstStyle/>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Houses: ±$9k is the SE of the average, not the spread of prices. Price SD ≈ 9 × √25 = $45k</a:t>
            </a:r>
            <a:endParaRPr lang="en-US" sz="1700" dirty="0"/>
          </a:p>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100 houses: SE ≈ 45/√100 = $4.5k. Four times the data halves the SE</a:t>
            </a:r>
            <a:endParaRPr lang="en-US" sz="1700" dirty="0"/>
          </a:p>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Rows: resampling separately breaks the pairing, so the bootstrap slopes center near 0. It simulates a world where area doesn't predict price</a:t>
            </a:r>
            <a:endParaRPr lang="en-US" sz="1700" dirty="0"/>
          </a:p>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(a) No: a resample can never exceed the largest house, so the bootstrap max piles up at one value. (b) Lumpy: only 8 houses drive that coefficient. (c) Lumpy and skewed: 5 rows allow very few distinct resamples. That's the next section: why the bell curve shows up, and when it doesn't</a:t>
            </a:r>
            <a:endParaRPr lang="en-US" sz="17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Checkpoint: At the Boards</a:t>
            </a:r>
            <a:endParaRPr lang="en-US" sz="3000" dirty="0"/>
          </a:p>
        </p:txBody>
      </p:sp>
      <p:sp>
        <p:nvSpPr>
          <p:cNvPr id="3" name="Text 1"/>
          <p:cNvSpPr txBox="1"/>
          <p:nvPr/>
        </p:nvSpPr>
        <p:spPr>
          <a:xfrm>
            <a:off x="548640" y="1280160"/>
            <a:ext cx="11064240" cy="4754880"/>
          </a:xfrm>
          <a:prstGeom prst="rect">
            <a:avLst/>
          </a:prstGeom>
          <a:noFill/>
          <a:ln/>
        </p:spPr>
        <p:txBody>
          <a:bodyPr wrap="square" lIns="0" tIns="0" rIns="0" bIns="0" rtlCol="0" anchor="t"/>
          <a:lstStyle/>
          <a:p>
            <a:pPr marL="228600" indent="-228600">
              <a:spcAft>
                <a:spcPts val="600"/>
              </a:spcAft>
              <a:buSzPct val="100000"/>
              <a:buChar char="•"/>
            </a:pPr>
            <a:r>
              <a:rPr lang="en-US" sz="2000" b="1" dirty="0">
                <a:solidFill>
                  <a:srgbClr val="FF42A1"/>
                </a:solidFill>
                <a:latin typeface="Aptos" pitchFamily="34" charset="0"/>
                <a:ea typeface="Aptos" pitchFamily="34" charset="-122"/>
                <a:cs typeface="Aptos" pitchFamily="34" charset="-120"/>
              </a:rPr>
              <a:t>Think</a:t>
            </a:r>
            <a:r>
              <a:rPr lang="en-US" sz="2000" dirty="0">
                <a:solidFill>
                  <a:srgbClr val="3A3A3A"/>
                </a:solidFill>
                <a:latin typeface="Aptos" pitchFamily="34" charset="0"/>
                <a:ea typeface="Aptos" pitchFamily="34" charset="-122"/>
                <a:cs typeface="Aptos" pitchFamily="34" charset="-120"/>
              </a:rPr>
              <a:t> (2 min, alone) → </a:t>
            </a:r>
            <a:r>
              <a:rPr lang="en-US" sz="2000" b="1" dirty="0">
                <a:solidFill>
                  <a:srgbClr val="FF42A1"/>
                </a:solidFill>
                <a:latin typeface="Aptos" pitchFamily="34" charset="0"/>
                <a:ea typeface="Aptos" pitchFamily="34" charset="-122"/>
                <a:cs typeface="Aptos" pitchFamily="34" charset="-120"/>
              </a:rPr>
              <a:t>Pair</a:t>
            </a:r>
            <a:r>
              <a:rPr lang="en-US" sz="2000" dirty="0">
                <a:solidFill>
                  <a:srgbClr val="3A3A3A"/>
                </a:solidFill>
                <a:latin typeface="Aptos" pitchFamily="34" charset="0"/>
                <a:ea typeface="Aptos" pitchFamily="34" charset="-122"/>
                <a:cs typeface="Aptos" pitchFamily="34" charset="-120"/>
              </a:rPr>
              <a:t> (3 min) → </a:t>
            </a:r>
            <a:r>
              <a:rPr lang="en-US" sz="2000" b="1" dirty="0">
                <a:solidFill>
                  <a:srgbClr val="FF42A1"/>
                </a:solidFill>
                <a:latin typeface="Aptos" pitchFamily="34" charset="0"/>
                <a:ea typeface="Aptos" pitchFamily="34" charset="-122"/>
                <a:cs typeface="Aptos" pitchFamily="34" charset="-120"/>
              </a:rPr>
              <a:t>Share</a:t>
            </a:r>
            <a:r>
              <a:rPr lang="en-US" sz="2000" dirty="0">
                <a:solidFill>
                  <a:srgbClr val="3A3A3A"/>
                </a:solidFill>
                <a:latin typeface="Aptos" pitchFamily="34" charset="0"/>
                <a:ea typeface="Aptos" pitchFamily="34" charset="-122"/>
                <a:cs typeface="Aptos" pitchFamily="34" charset="-120"/>
              </a:rPr>
              <a:t> at the boards</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Population {0, 4}. Draw n = 2 with replacement</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1. List every possible sample and its x̄. What are μ, σ², V[x̄], and the true SE?</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2. Your sample is (0, 4). Compute s² and the estimated SE. Now your sample is (4, 4). Same questions</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3. Neither estimate equals the true SE. Is either one a mistake?</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4. Average s² over all four samples, then average the estimated SE. What do you notice?</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45920"/>
            <a:ext cx="10698480" cy="3566160"/>
          </a:xfrm>
          <a:prstGeom prst="rect">
            <a:avLst/>
          </a:prstGeom>
          <a:noFill/>
          <a:ln/>
        </p:spPr>
        <p:txBody>
          <a:bodyPr wrap="square" lIns="0" tIns="0" rIns="0" bIns="0" rtlCol="0" anchor="ctr"/>
          <a:lstStyle/>
          <a:p>
            <a:pPr marL="0" indent="0" algn="ctr">
              <a:buNone/>
            </a:pPr>
            <a:r>
              <a:rPr lang="en-US" sz="6000" b="1" dirty="0">
                <a:solidFill>
                  <a:schemeClr val="tx1"/>
                </a:solidFill>
              </a:rPr>
              <a:t>Why it works:</a:t>
            </a:r>
            <a:endParaRPr lang="en-US" sz="6000" dirty="0"/>
          </a:p>
          <a:p>
            <a:pPr marL="0" indent="0" algn="ctr">
              <a:buNone/>
            </a:pPr>
            <a:r>
              <a:rPr lang="en-US" sz="6000" b="1" dirty="0">
                <a:solidFill>
                  <a:schemeClr val="tx1"/>
                </a:solidFill>
              </a:rPr>
              <a:t>the CLT</a:t>
            </a:r>
            <a:endParaRPr lang="en-US" sz="6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The Law of Large Numbers</a:t>
            </a:r>
            <a:endParaRPr lang="en-US" sz="3000" dirty="0"/>
          </a:p>
        </p:txBody>
      </p:sp>
      <p:sp>
        <p:nvSpPr>
          <p:cNvPr id="3" name="Text 1"/>
          <p:cNvSpPr txBox="1"/>
          <p:nvPr/>
        </p:nvSpPr>
        <p:spPr>
          <a:xfrm>
            <a:off x="548640" y="1280160"/>
            <a:ext cx="11064240" cy="491236"/>
          </a:xfrm>
          <a:prstGeom prst="rect">
            <a:avLst/>
          </a:prstGeom>
          <a:noFill/>
          <a:ln/>
        </p:spPr>
        <p:txBody>
          <a:bodyPr wrap="square" lIns="0" tIns="0" rIns="0" bIns="0" rtlCol="0" anchor="t"/>
          <a:lstStyle/>
          <a:p>
            <a:pPr marL="228600" indent="-228600">
              <a:spcAft>
                <a:spcPts val="600"/>
              </a:spcAft>
              <a:buSzPct val="100000"/>
              <a:buChar char="•"/>
            </a:pPr>
            <a:r>
              <a:rPr lang="en-US" sz="2000" b="1" dirty="0">
                <a:solidFill>
                  <a:srgbClr val="FF42A1"/>
                </a:solidFill>
                <a:latin typeface="Aptos" pitchFamily="34" charset="0"/>
                <a:ea typeface="Aptos" pitchFamily="34" charset="-122"/>
                <a:cs typeface="Aptos" pitchFamily="34" charset="-120"/>
              </a:rPr>
              <a:t>Law of Large Numbers</a:t>
            </a:r>
            <a:r>
              <a:rPr lang="en-US" sz="2000" dirty="0">
                <a:solidFill>
                  <a:srgbClr val="3A3A3A"/>
                </a:solidFill>
                <a:latin typeface="Aptos" pitchFamily="34" charset="0"/>
                <a:ea typeface="Aptos" pitchFamily="34" charset="-122"/>
                <a:cs typeface="Aptos" pitchFamily="34" charset="-120"/>
              </a:rPr>
              <a:t>: if X₁, …, Xₙ are IID with mean μ, then for any ε &gt; 0</a:t>
            </a:r>
            <a:endParaRPr lang="en-US" sz="2000" dirty="0"/>
          </a:p>
        </p:txBody>
      </p:sp>
      <p:pic>
        <p:nvPicPr>
          <p:cNvPr id="4" name="Image 0" descr="lln"/>
          <p:cNvPicPr>
            <a:picLocks noChangeAspect="1"/>
          </p:cNvPicPr>
          <p:nvPr/>
        </p:nvPicPr>
        <p:blipFill>
          <a:blip r:embed="rId3"/>
          <a:stretch>
            <a:fillRect/>
          </a:stretch>
        </p:blipFill>
        <p:spPr>
          <a:xfrm>
            <a:off x="914400" y="1817116"/>
            <a:ext cx="3518888" cy="489133"/>
          </a:xfrm>
          <a:prstGeom prst="rect">
            <a:avLst/>
          </a:prstGeom>
        </p:spPr>
      </p:pic>
      <p:sp>
        <p:nvSpPr>
          <p:cNvPr id="5" name="Text 2"/>
          <p:cNvSpPr txBox="1"/>
          <p:nvPr/>
        </p:nvSpPr>
        <p:spPr>
          <a:xfrm>
            <a:off x="548640" y="2489129"/>
            <a:ext cx="5760720" cy="1399032"/>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This is </a:t>
            </a:r>
            <a:r>
              <a:rPr lang="en-US" sz="1800" b="1" dirty="0">
                <a:solidFill>
                  <a:srgbClr val="FF42A1"/>
                </a:solidFill>
                <a:latin typeface="Aptos" pitchFamily="34" charset="0"/>
                <a:ea typeface="Aptos" pitchFamily="34" charset="-122"/>
                <a:cs typeface="Aptos" pitchFamily="34" charset="-120"/>
              </a:rPr>
              <a:t>consistency</a:t>
            </a:r>
            <a:r>
              <a:rPr lang="en-US" sz="1800" dirty="0">
                <a:solidFill>
                  <a:srgbClr val="3A3A3A"/>
                </a:solidFill>
                <a:latin typeface="Aptos" pitchFamily="34" charset="0"/>
                <a:ea typeface="Aptos" pitchFamily="34" charset="-122"/>
                <a:cs typeface="Aptos" pitchFamily="34" charset="-120"/>
              </a:rPr>
              <a:t>: one long sample's average approaches μ</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It is not unbiasedness. E[x̄] = μ is true for every n, even n = 1</a:t>
            </a:r>
            <a:endParaRPr lang="en-US" sz="1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75120" y="2788920"/>
          <a:ext cx="4937760" cy="1447800"/>
        </p:xfrm>
        <a:graphic>
          <a:graphicData uri="http://schemas.openxmlformats.org/drawingml/2006/table">
            <a:tbl>
              <a:tblPr/>
              <a:tblGrid>
                <a:gridCol w="23774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61950">
                <a:tc>
                  <a:txBody>
                    <a:bodyPr/>
                    <a:lstStyle/>
                    <a:p>
                      <a:pPr marL="0" indent="0">
                        <a:buNone/>
                      </a:pPr>
                      <a:r>
                        <a:rPr lang="en-US" sz="1500" b="1" dirty="0">
                          <a:solidFill>
                            <a:srgbClr val="000000"/>
                          </a:solidFill>
                          <a:latin typeface="Aptos" pitchFamily="34" charset="0"/>
                          <a:ea typeface="Aptos" pitchFamily="34" charset="-122"/>
                          <a:cs typeface="Aptos" pitchFamily="34" charset="-120"/>
                        </a:rPr>
                        <a:t>Estimator</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500" b="1" dirty="0">
                          <a:solidFill>
                            <a:srgbClr val="000000"/>
                          </a:solidFill>
                          <a:latin typeface="Aptos" pitchFamily="34" charset="0"/>
                          <a:ea typeface="Aptos" pitchFamily="34" charset="-122"/>
                          <a:cs typeface="Aptos" pitchFamily="34" charset="-120"/>
                        </a:rPr>
                        <a:t>Unbiased?</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500" b="1" dirty="0">
                          <a:solidFill>
                            <a:srgbClr val="000000"/>
                          </a:solidFill>
                          <a:latin typeface="Aptos" pitchFamily="34" charset="0"/>
                          <a:ea typeface="Aptos" pitchFamily="34" charset="-122"/>
                          <a:cs typeface="Aptos" pitchFamily="34" charset="-120"/>
                        </a:rPr>
                        <a:t>Consistent?</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1950">
                <a:tc>
                  <a:txBody>
                    <a:bodyPr/>
                    <a:lstStyle/>
                    <a:p>
                      <a:pPr marL="0" indent="0">
                        <a:buNone/>
                      </a:pPr>
                      <a:r>
                        <a:rPr lang="en-US" sz="1500" dirty="0">
                          <a:solidFill>
                            <a:srgbClr val="3A3A3A"/>
                          </a:solidFill>
                          <a:latin typeface="Aptos" pitchFamily="34" charset="0"/>
                          <a:ea typeface="Aptos" pitchFamily="34" charset="-122"/>
                          <a:cs typeface="Aptos" pitchFamily="34" charset="-120"/>
                        </a:rPr>
                        <a:t>x̄</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yes</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yes</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61950">
                <a:tc>
                  <a:txBody>
                    <a:bodyPr/>
                    <a:lstStyle/>
                    <a:p>
                      <a:pPr marL="0" indent="0">
                        <a:buNone/>
                      </a:pPr>
                      <a:r>
                        <a:rPr lang="en-US" sz="1500" dirty="0">
                          <a:solidFill>
                            <a:srgbClr val="3A3A3A"/>
                          </a:solidFill>
                          <a:latin typeface="Aptos" pitchFamily="34" charset="0"/>
                          <a:ea typeface="Aptos" pitchFamily="34" charset="-122"/>
                          <a:cs typeface="Aptos" pitchFamily="34" charset="-120"/>
                        </a:rPr>
                        <a:t>X₁ (first observation only)</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yes</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no</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61950">
                <a:tc>
                  <a:txBody>
                    <a:bodyPr/>
                    <a:lstStyle/>
                    <a:p>
                      <a:pPr marL="0" indent="0">
                        <a:buNone/>
                      </a:pPr>
                      <a:r>
                        <a:rPr lang="en-US" sz="1500" dirty="0">
                          <a:solidFill>
                            <a:srgbClr val="3A3A3A"/>
                          </a:solidFill>
                          <a:latin typeface="Aptos" pitchFamily="34" charset="0"/>
                          <a:ea typeface="Aptos" pitchFamily="34" charset="-122"/>
                          <a:cs typeface="Aptos" pitchFamily="34" charset="-120"/>
                        </a:rPr>
                        <a:t>x̄ + 1/n</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no</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yes</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3"/>
          <p:cNvSpPr txBox="1"/>
          <p:nvPr/>
        </p:nvSpPr>
        <p:spPr>
          <a:xfrm>
            <a:off x="548640" y="4983480"/>
            <a:ext cx="11064240" cy="459486"/>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Unbiased plus variance going to zero gives consistency:</a:t>
            </a:r>
            <a:endParaRPr lang="en-US" sz="1800" dirty="0"/>
          </a:p>
        </p:txBody>
      </p:sp>
      <p:pic>
        <p:nvPicPr>
          <p:cNvPr id="8" name="Image 1" descr="cheb"/>
          <p:cNvPicPr>
            <a:picLocks noChangeAspect="1"/>
          </p:cNvPicPr>
          <p:nvPr/>
        </p:nvPicPr>
        <p:blipFill>
          <a:blip r:embed="rId4"/>
          <a:stretch>
            <a:fillRect/>
          </a:stretch>
        </p:blipFill>
        <p:spPr>
          <a:xfrm>
            <a:off x="914400" y="5440680"/>
            <a:ext cx="4082839" cy="479511"/>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37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Two Kinds of Getting Close</a:t>
            </a:r>
            <a:endParaRPr lang="en-US" sz="3000" dirty="0"/>
          </a:p>
        </p:txBody>
      </p:sp>
      <p:sp>
        <p:nvSpPr>
          <p:cNvPr id="3" name="Text 1"/>
          <p:cNvSpPr txBox="1"/>
          <p:nvPr/>
        </p:nvSpPr>
        <p:spPr>
          <a:xfrm>
            <a:off x="548640" y="1280160"/>
            <a:ext cx="11064240" cy="2865374"/>
          </a:xfrm>
          <a:prstGeom prst="rect">
            <a:avLst/>
          </a:prstGeom>
          <a:noFill/>
          <a:ln/>
        </p:spPr>
        <p:txBody>
          <a:bodyPr wrap="square" lIns="0" tIns="0" rIns="0" bIns="0" rtlCol="0" anchor="t"/>
          <a:lstStyle/>
          <a:p>
            <a:pPr marL="228600" indent="-228600">
              <a:spcAft>
                <a:spcPts val="600"/>
              </a:spcAft>
              <a:buSzPct val="100000"/>
              <a:buChar char="•"/>
            </a:pPr>
            <a:r>
              <a:rPr lang="en-US" sz="2200" b="1" dirty="0">
                <a:solidFill>
                  <a:srgbClr val="FF42A1"/>
                </a:solidFill>
                <a:latin typeface="Aptos" pitchFamily="34" charset="0"/>
                <a:ea typeface="Aptos" pitchFamily="34" charset="-122"/>
                <a:cs typeface="Aptos" pitchFamily="34" charset="-120"/>
              </a:rPr>
              <a:t>In probability</a:t>
            </a:r>
            <a:r>
              <a:rPr lang="en-US" sz="2200" dirty="0">
                <a:solidFill>
                  <a:srgbClr val="3A3A3A"/>
                </a:solidFill>
                <a:latin typeface="Aptos" pitchFamily="34" charset="0"/>
                <a:ea typeface="Aptos" pitchFamily="34" charset="-122"/>
                <a:cs typeface="Aptos" pitchFamily="34" charset="-120"/>
              </a:rPr>
              <a:t>: the values get close. Pr[|Xₙ − X| &gt; ε] → 0. This is the LLN</a:t>
            </a:r>
            <a:endParaRPr lang="en-US" sz="2200" dirty="0"/>
          </a:p>
          <a:p>
            <a:pPr marL="228600" indent="-228600">
              <a:spcAft>
                <a:spcPts val="600"/>
              </a:spcAft>
              <a:buSzPct val="100000"/>
              <a:buChar char="•"/>
            </a:pPr>
            <a:r>
              <a:rPr lang="en-US" sz="2200" b="1" dirty="0">
                <a:solidFill>
                  <a:srgbClr val="FF42A1"/>
                </a:solidFill>
                <a:latin typeface="Aptos" pitchFamily="34" charset="0"/>
                <a:ea typeface="Aptos" pitchFamily="34" charset="-122"/>
                <a:cs typeface="Aptos" pitchFamily="34" charset="-120"/>
              </a:rPr>
              <a:t>In distribution</a:t>
            </a:r>
            <a:r>
              <a:rPr lang="en-US" sz="2200" dirty="0">
                <a:solidFill>
                  <a:srgbClr val="3A3A3A"/>
                </a:solidFill>
                <a:latin typeface="Aptos" pitchFamily="34" charset="0"/>
                <a:ea typeface="Aptos" pitchFamily="34" charset="-122"/>
                <a:cs typeface="Aptos" pitchFamily="34" charset="-120"/>
              </a:rPr>
              <a:t>: only the histogram (CDF) gets close. Pr[Xₙ ≤ z] → Pr[X ≤ z]. This is the CLT</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Example: if X ~ N(0, 1) and Xₙ = −X, then Xₙ has exactly the right distribution but is never close to X</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Probability implies distribution, but not the other way around (unless the limit is a constant)</a:t>
            </a:r>
            <a:endParaRPr lang="en-US" sz="2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38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The Central Limit Theorem</a:t>
            </a:r>
            <a:endParaRPr lang="en-US" sz="3000" dirty="0"/>
          </a:p>
        </p:txBody>
      </p:sp>
      <p:sp>
        <p:nvSpPr>
          <p:cNvPr id="3" name="Text 1"/>
          <p:cNvSpPr txBox="1"/>
          <p:nvPr/>
        </p:nvSpPr>
        <p:spPr>
          <a:xfrm>
            <a:off x="548640" y="1280160"/>
            <a:ext cx="11064240" cy="1208532"/>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Why is this happening?</a:t>
            </a:r>
            <a:endParaRPr lang="en-US" sz="2000" dirty="0"/>
          </a:p>
          <a:p>
            <a:pPr marL="228600" indent="-228600">
              <a:spcAft>
                <a:spcPts val="600"/>
              </a:spcAft>
              <a:buSzPct val="100000"/>
              <a:buChar char="•"/>
            </a:pPr>
            <a:r>
              <a:rPr lang="en-US" sz="2000" b="1" dirty="0">
                <a:solidFill>
                  <a:srgbClr val="FF42A1"/>
                </a:solidFill>
                <a:latin typeface="Aptos" pitchFamily="34" charset="0"/>
                <a:ea typeface="Aptos" pitchFamily="34" charset="-122"/>
                <a:cs typeface="Aptos" pitchFamily="34" charset="-120"/>
              </a:rPr>
              <a:t>Central Limit Theorem</a:t>
            </a:r>
            <a:r>
              <a:rPr lang="en-US" sz="2000" dirty="0">
                <a:solidFill>
                  <a:srgbClr val="3A3A3A"/>
                </a:solidFill>
                <a:latin typeface="Aptos" pitchFamily="34" charset="0"/>
                <a:ea typeface="Aptos" pitchFamily="34" charset="-122"/>
                <a:cs typeface="Aptos" pitchFamily="34" charset="-120"/>
              </a:rPr>
              <a:t>: let X₁, …, Xₙ be IID random variables, each with mean μ and variance σ². Then as n goes to infinity,</a:t>
            </a:r>
            <a:endParaRPr lang="en-US" sz="2000" dirty="0"/>
          </a:p>
        </p:txBody>
      </p:sp>
      <p:pic>
        <p:nvPicPr>
          <p:cNvPr id="4" name="Image 0" descr="clt"/>
          <p:cNvPicPr>
            <a:picLocks noChangeAspect="1"/>
          </p:cNvPicPr>
          <p:nvPr/>
        </p:nvPicPr>
        <p:blipFill>
          <a:blip r:embed="rId3"/>
          <a:stretch>
            <a:fillRect/>
          </a:stretch>
        </p:blipFill>
        <p:spPr>
          <a:xfrm>
            <a:off x="914400" y="2534412"/>
            <a:ext cx="2660447" cy="668740"/>
          </a:xfrm>
          <a:prstGeom prst="rect">
            <a:avLst/>
          </a:prstGeom>
        </p:spPr>
      </p:pic>
      <p:sp>
        <p:nvSpPr>
          <p:cNvPr id="5" name="Text 2"/>
          <p:cNvSpPr txBox="1"/>
          <p:nvPr/>
        </p:nvSpPr>
        <p:spPr>
          <a:xfrm>
            <a:off x="548640" y="3431752"/>
            <a:ext cx="11064240" cy="1767078"/>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This is what we observed above: for a big enough sample, that quantity is roughly normal</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We replace x̄ by our parameter estimate, and σ/√n by the standard error of the parameter, the SD of the sampling distribution (do not divide by √n again; it's baked into the bootstrap estimate)</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For many of the quantities we study, there is a sum of IID random variables happening somewhere, to which the CLT applies</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39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0">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What the CLT Does Not Say</a:t>
            </a:r>
            <a:endParaRPr lang="en-US" sz="3000" dirty="0"/>
          </a:p>
        </p:txBody>
      </p:sp>
      <p:sp>
        <p:nvSpPr>
          <p:cNvPr id="3" name="Text 1"/>
          <p:cNvSpPr txBox="1"/>
          <p:nvPr/>
        </p:nvSpPr>
        <p:spPr>
          <a:xfrm>
            <a:off x="548640" y="1280160"/>
            <a:ext cx="11064240" cy="1767078"/>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The CLT says </a:t>
            </a:r>
            <a:r>
              <a:rPr lang="en-US" sz="1800" b="1" dirty="0">
                <a:solidFill>
                  <a:srgbClr val="FF42A1"/>
                </a:solidFill>
                <a:latin typeface="Aptos" pitchFamily="34" charset="0"/>
                <a:ea typeface="Aptos" pitchFamily="34" charset="-122"/>
                <a:cs typeface="Aptos" pitchFamily="34" charset="-120"/>
              </a:rPr>
              <a:t>probability statements</a:t>
            </a:r>
            <a:r>
              <a:rPr lang="en-US" sz="1800" dirty="0">
                <a:solidFill>
                  <a:srgbClr val="3A3A3A"/>
                </a:solidFill>
                <a:latin typeface="Aptos" pitchFamily="34" charset="0"/>
                <a:ea typeface="Aptos" pitchFamily="34" charset="-122"/>
                <a:cs typeface="Aptos" pitchFamily="34" charset="-120"/>
              </a:rPr>
              <a:t> about x̄ can be computed as if it were normal. It does not say x̄ is normal</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10 coin flips: x̄ can only be 0, 0.1, …, 1, and Pr[x̄ = 0.5] = 252/1024 = 0.246. A normal gives 0 to any single point</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For an interval it works: Pr[0.45 &lt; x̄ &lt; 0.55] ≈ 0.248 (exact: 0.246)</a:t>
            </a:r>
            <a:endParaRPr lang="en-US" sz="1800" dirty="0"/>
          </a:p>
        </p:txBody>
      </p:sp>
      <p:pic>
        <p:nvPicPr>
          <p:cNvPr id="4" name="Image 0" descr="/private/tmp/claude-502/-Users-xpz5km-Library-CloudStorage-Box-Box--Teaching-DS5030-Understanding-Uncertainty-Understanding-Uncertainty/19192ed6-4268-4d35-9086-608b2f1b36d6/scratchpad/hires/figs/c32_0.png"/>
          <p:cNvPicPr>
            <a:picLocks noChangeAspect="1"/>
          </p:cNvPicPr>
          <p:nvPr/>
        </p:nvPicPr>
        <p:blipFill>
          <a:blip r:embed="rId3"/>
          <a:stretch>
            <a:fillRect/>
          </a:stretch>
        </p:blipFill>
        <p:spPr>
          <a:xfrm>
            <a:off x="1097280" y="3092958"/>
            <a:ext cx="9966960" cy="3267731"/>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Why We Can Plug In s for σ</a:t>
            </a:r>
            <a:endParaRPr lang="en-US" sz="3000" dirty="0"/>
          </a:p>
        </p:txBody>
      </p:sp>
      <p:sp>
        <p:nvSpPr>
          <p:cNvPr id="3" name="Text 1"/>
          <p:cNvSpPr txBox="1"/>
          <p:nvPr/>
        </p:nvSpPr>
        <p:spPr>
          <a:xfrm>
            <a:off x="548640" y="1280160"/>
            <a:ext cx="11064240" cy="491236"/>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The CLT is stated with the true σ. In practice we divide by an estimate. Write</a:t>
            </a:r>
            <a:endParaRPr lang="en-US" sz="2000" dirty="0"/>
          </a:p>
        </p:txBody>
      </p:sp>
      <p:pic>
        <p:nvPicPr>
          <p:cNvPr id="4" name="Image 0" descr="slutsky"/>
          <p:cNvPicPr>
            <a:picLocks noChangeAspect="1"/>
          </p:cNvPicPr>
          <p:nvPr/>
        </p:nvPicPr>
        <p:blipFill>
          <a:blip r:embed="rId3"/>
          <a:stretch>
            <a:fillRect/>
          </a:stretch>
        </p:blipFill>
        <p:spPr>
          <a:xfrm>
            <a:off x="1097280" y="1862836"/>
            <a:ext cx="4975561" cy="1514246"/>
          </a:xfrm>
          <a:prstGeom prst="rect">
            <a:avLst/>
          </a:prstGeom>
        </p:spPr>
      </p:pic>
      <p:sp>
        <p:nvSpPr>
          <p:cNvPr id="5" name="Text 2"/>
          <p:cNvSpPr txBox="1"/>
          <p:nvPr/>
        </p:nvSpPr>
        <p:spPr>
          <a:xfrm>
            <a:off x="548640" y="3605682"/>
            <a:ext cx="11064240" cy="1608328"/>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The first piece goes to N(0, 1) by the CLT; the second goes to 1 by the LLN. </a:t>
            </a:r>
            <a:r>
              <a:rPr lang="en-US" sz="2000" b="1" dirty="0">
                <a:solidFill>
                  <a:srgbClr val="FF42A1"/>
                </a:solidFill>
                <a:latin typeface="Aptos" pitchFamily="34" charset="0"/>
                <a:ea typeface="Aptos" pitchFamily="34" charset="-122"/>
                <a:cs typeface="Aptos" pitchFamily="34" charset="-120"/>
              </a:rPr>
              <a:t>Slutsky's theorem</a:t>
            </a:r>
            <a:r>
              <a:rPr lang="en-US" sz="2000" dirty="0">
                <a:solidFill>
                  <a:srgbClr val="3A3A3A"/>
                </a:solidFill>
                <a:latin typeface="Aptos" pitchFamily="34" charset="0"/>
                <a:ea typeface="Aptos" pitchFamily="34" charset="-122"/>
                <a:cs typeface="Aptos" pitchFamily="34" charset="-120"/>
              </a:rPr>
              <a:t> says the product goes to N(0, 1)</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This licenses every "estimate ± 1.96 SE" interval</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It says nothing about how fast s gets close to σ: that's the small-sample problem</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Example: A Rare Event</a:t>
            </a:r>
            <a:endParaRPr lang="en-US" sz="3000" dirty="0"/>
          </a:p>
        </p:txBody>
      </p:sp>
      <p:sp>
        <p:nvSpPr>
          <p:cNvPr id="3" name="Text 1"/>
          <p:cNvSpPr txBox="1"/>
          <p:nvPr/>
        </p:nvSpPr>
        <p:spPr>
          <a:xfrm>
            <a:off x="548640" y="1280160"/>
            <a:ext cx="11064240" cy="1481328"/>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p = 0.01, n = 100. Expected number of successes: 1. Pr[no successes] = 0.99¹⁰⁰ = 0.37</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Then </a:t>
            </a:r>
            <a:r>
              <a:rPr lang="en-US" sz="1800" dirty="0">
                <a:solidFill>
                  <a:srgbClr val="3A3A3A"/>
                </a:solidFill>
                <a:latin typeface="Cambria Math" panose="02040503050406030204" pitchFamily="18" charset="0"/>
                <a:ea typeface="Aptos" pitchFamily="34" charset="-122"/>
                <a:cs typeface="Aptos" pitchFamily="34" charset="-120"/>
              </a:rPr>
              <a:t>p̂</a:t>
            </a:r>
            <a:r>
              <a:rPr lang="en-US" sz="1800" dirty="0">
                <a:solidFill>
                  <a:srgbClr val="3A3A3A"/>
                </a:solidFill>
                <a:latin typeface="Aptos" pitchFamily="34" charset="0"/>
                <a:ea typeface="Aptos" pitchFamily="34" charset="-122"/>
                <a:cs typeface="Aptos" pitchFamily="34" charset="-120"/>
              </a:rPr>
              <a:t> = 0, estimated SE = 0, and the "95% CI" is [0, 0]. The normal approximation even says Pr[</a:t>
            </a:r>
            <a:r>
              <a:rPr lang="en-US" sz="1800" dirty="0">
                <a:solidFill>
                  <a:srgbClr val="3A3A3A"/>
                </a:solidFill>
                <a:latin typeface="Cambria Math" panose="02040503050406030204" pitchFamily="18" charset="0"/>
                <a:ea typeface="Aptos" pitchFamily="34" charset="-122"/>
                <a:cs typeface="Aptos" pitchFamily="34" charset="-120"/>
              </a:rPr>
              <a:t>p̂</a:t>
            </a:r>
            <a:r>
              <a:rPr lang="en-US" sz="1800" dirty="0">
                <a:solidFill>
                  <a:srgbClr val="3A3A3A"/>
                </a:solidFill>
                <a:latin typeface="Aptos" pitchFamily="34" charset="0"/>
                <a:ea typeface="Aptos" pitchFamily="34" charset="-122"/>
                <a:cs typeface="Aptos" pitchFamily="34" charset="-120"/>
              </a:rPr>
              <a:t> &lt; 0] ≈ 0.16</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Right: the running mean of Cauchy data never settles</a:t>
            </a:r>
            <a:endParaRPr lang="en-US" sz="1800" dirty="0"/>
          </a:p>
        </p:txBody>
      </p:sp>
      <p:pic>
        <p:nvPicPr>
          <p:cNvPr id="4" name="Image 0" descr="/private/tmp/claude-502/-Users-xpz5km-Library-CloudStorage-Box-Box--Teaching-DS5030-Understanding-Uncertainty-Understanding-Uncertainty/19192ed6-4268-4d35-9086-608b2f1b36d6/scratchpad/hires/figs/c36_0.png"/>
          <p:cNvPicPr>
            <a:picLocks noChangeAspect="1"/>
          </p:cNvPicPr>
          <p:nvPr/>
        </p:nvPicPr>
        <p:blipFill>
          <a:blip r:embed="rId3"/>
          <a:stretch>
            <a:fillRect/>
          </a:stretch>
        </p:blipFill>
        <p:spPr>
          <a:xfrm>
            <a:off x="1097280" y="2807208"/>
            <a:ext cx="9966960" cy="3267731"/>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45920"/>
            <a:ext cx="10698480" cy="3566160"/>
          </a:xfrm>
          <a:prstGeom prst="rect">
            <a:avLst/>
          </a:prstGeom>
          <a:noFill/>
          <a:ln/>
        </p:spPr>
        <p:txBody>
          <a:bodyPr wrap="square" lIns="0" tIns="0" rIns="0" bIns="0" rtlCol="0" anchor="ctr"/>
          <a:lstStyle/>
          <a:p>
            <a:pPr marL="0" indent="0" algn="ctr">
              <a:buNone/>
            </a:pPr>
            <a:r>
              <a:rPr lang="en-US" sz="6000" b="1" dirty="0">
                <a:solidFill>
                  <a:schemeClr val="tx1"/>
                </a:solidFill>
              </a:rPr>
              <a:t>Confidence intervals</a:t>
            </a:r>
            <a:endParaRPr lang="en-US" sz="6000" dirty="0"/>
          </a:p>
          <a:p>
            <a:pPr marL="0" indent="0" algn="ctr">
              <a:buNone/>
            </a:pPr>
            <a:r>
              <a:rPr lang="en-US" sz="6000" b="1" dirty="0">
                <a:solidFill>
                  <a:schemeClr val="tx1"/>
                </a:solidFill>
              </a:rPr>
              <a:t>and tests</a:t>
            </a:r>
            <a:endParaRPr lang="en-US" sz="6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Just Memorize These</a:t>
            </a:r>
            <a:endParaRPr lang="en-US" sz="3000" dirty="0"/>
          </a:p>
        </p:txBody>
      </p:sp>
      <p:sp>
        <p:nvSpPr>
          <p:cNvPr id="3" name="Text 1"/>
          <p:cNvSpPr txBox="1"/>
          <p:nvPr/>
        </p:nvSpPr>
        <p:spPr>
          <a:xfrm>
            <a:off x="548640" y="1280160"/>
            <a:ext cx="5760720" cy="1030986"/>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Instead of taking the quantiles of our bootstrap sample, take the quantiles of the standard Normal, then invert the z-score normalization</a:t>
            </a:r>
            <a:endParaRPr lang="en-US" sz="1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2356866"/>
          <a:ext cx="5486400" cy="1544320"/>
        </p:xfrm>
        <a:graphic>
          <a:graphicData uri="http://schemas.openxmlformats.org/drawingml/2006/table">
            <a:tbl>
              <a:tblPr/>
              <a:tblGrid>
                <a:gridCol w="1463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86080">
                <a:tc>
                  <a:txBody>
                    <a:bodyPr/>
                    <a:lstStyle/>
                    <a:p>
                      <a:pPr marL="0" indent="0">
                        <a:buNone/>
                      </a:pPr>
                      <a:r>
                        <a:rPr lang="en-US" sz="1600" b="1" dirty="0">
                          <a:solidFill>
                            <a:srgbClr val="000000"/>
                          </a:solidFill>
                          <a:latin typeface="Aptos" pitchFamily="34" charset="0"/>
                          <a:ea typeface="Aptos" pitchFamily="34" charset="-122"/>
                          <a:cs typeface="Aptos" pitchFamily="34" charset="-120"/>
                        </a:rPr>
                        <a:t>Confidence</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Lower</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Upper</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Level (α)</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90%</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−1.645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+1.645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.10</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95%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−1.960</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+1.960</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.05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99%</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−2.576</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+2.576</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.01</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txBox="1"/>
          <p:nvPr/>
        </p:nvSpPr>
        <p:spPr>
          <a:xfrm>
            <a:off x="548640" y="4129786"/>
            <a:ext cx="5760720" cy="459486"/>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So the 90% CI comes from this bound:</a:t>
            </a:r>
            <a:endParaRPr lang="en-US" sz="1800" dirty="0"/>
          </a:p>
        </p:txBody>
      </p:sp>
      <p:pic>
        <p:nvPicPr>
          <p:cNvPr id="6" name="Image 0" descr="memorize1"/>
          <p:cNvPicPr>
            <a:picLocks noChangeAspect="1"/>
          </p:cNvPicPr>
          <p:nvPr/>
        </p:nvPicPr>
        <p:blipFill>
          <a:blip r:embed="rId3"/>
          <a:stretch>
            <a:fillRect/>
          </a:stretch>
        </p:blipFill>
        <p:spPr>
          <a:xfrm>
            <a:off x="914400" y="4634992"/>
            <a:ext cx="2008480" cy="669844"/>
          </a:xfrm>
          <a:prstGeom prst="rect">
            <a:avLst/>
          </a:prstGeom>
        </p:spPr>
      </p:pic>
      <p:pic>
        <p:nvPicPr>
          <p:cNvPr id="7" name="Image 1" descr="memorize2"/>
          <p:cNvPicPr>
            <a:picLocks noChangeAspect="1"/>
          </p:cNvPicPr>
          <p:nvPr/>
        </p:nvPicPr>
        <p:blipFill>
          <a:blip r:embed="rId4"/>
          <a:stretch>
            <a:fillRect/>
          </a:stretch>
        </p:blipFill>
        <p:spPr>
          <a:xfrm>
            <a:off x="914400" y="5441996"/>
            <a:ext cx="5476472" cy="411160"/>
          </a:xfrm>
          <a:prstGeom prst="rect">
            <a:avLst/>
          </a:prstGeom>
        </p:spPr>
      </p:pic>
      <p:pic>
        <p:nvPicPr>
          <p:cNvPr id="8" name="Image 2" descr="/private/tmp/claude-502/-Users-xpz5km-Library-CloudStorage-Box-Box--Teaching-DS5030-Understanding-Uncertainty-Understanding-Uncertainty/19192ed6-4268-4d35-9086-608b2f1b36d6/scratchpad/hires/figs/c39_0.png"/>
          <p:cNvPicPr>
            <a:picLocks noChangeAspect="1"/>
          </p:cNvPicPr>
          <p:nvPr/>
        </p:nvPicPr>
        <p:blipFill>
          <a:blip r:embed="rId5"/>
          <a:stretch>
            <a:fillRect/>
          </a:stretch>
        </p:blipFill>
        <p:spPr>
          <a:xfrm>
            <a:off x="6492240" y="1463040"/>
            <a:ext cx="5212080" cy="1708161"/>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Constructing Confidence Intervals</a:t>
            </a:r>
            <a:endParaRPr lang="en-US" sz="3000" dirty="0"/>
          </a:p>
        </p:txBody>
      </p:sp>
      <p:pic>
        <p:nvPicPr>
          <p:cNvPr id="3" name="Image 0" descr="ci90"/>
          <p:cNvPicPr>
            <a:picLocks noChangeAspect="1"/>
          </p:cNvPicPr>
          <p:nvPr/>
        </p:nvPicPr>
        <p:blipFill>
          <a:blip r:embed="rId3"/>
          <a:stretch>
            <a:fillRect/>
          </a:stretch>
        </p:blipFill>
        <p:spPr>
          <a:xfrm>
            <a:off x="914400" y="1463040"/>
            <a:ext cx="7426117" cy="566791"/>
          </a:xfrm>
          <a:prstGeom prst="rect">
            <a:avLst/>
          </a:prstGeom>
        </p:spPr>
      </p:pic>
      <p:pic>
        <p:nvPicPr>
          <p:cNvPr id="4" name="Image 1" descr="ci95"/>
          <p:cNvPicPr>
            <a:picLocks noChangeAspect="1"/>
          </p:cNvPicPr>
          <p:nvPr/>
        </p:nvPicPr>
        <p:blipFill>
          <a:blip r:embed="rId4"/>
          <a:stretch>
            <a:fillRect/>
          </a:stretch>
        </p:blipFill>
        <p:spPr>
          <a:xfrm>
            <a:off x="914400" y="2441311"/>
            <a:ext cx="7426117" cy="566791"/>
          </a:xfrm>
          <a:prstGeom prst="rect">
            <a:avLst/>
          </a:prstGeom>
        </p:spPr>
      </p:pic>
      <p:pic>
        <p:nvPicPr>
          <p:cNvPr id="5" name="Image 2" descr="ci99"/>
          <p:cNvPicPr>
            <a:picLocks noChangeAspect="1"/>
          </p:cNvPicPr>
          <p:nvPr/>
        </p:nvPicPr>
        <p:blipFill>
          <a:blip r:embed="rId5"/>
          <a:stretch>
            <a:fillRect/>
          </a:stretch>
        </p:blipFill>
        <p:spPr>
          <a:xfrm>
            <a:off x="914400" y="3419582"/>
            <a:ext cx="7426117" cy="566791"/>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Thought Experiment: Would the CLT </a:t>
            </a:r>
            <a:r>
              <a:rPr lang="en-US" dirty="0"/>
              <a:t>work in each case</a:t>
            </a:r>
            <a:r>
              <a:rPr lang="en-US" sz="3000" b="1" dirty="0">
                <a:solidFill>
                  <a:schemeClr val="tx1"/>
                </a:solidFill>
              </a:rPr>
              <a:t>?</a:t>
            </a:r>
            <a:endParaRPr lang="en-US" sz="3000" dirty="0"/>
          </a:p>
        </p:txBody>
      </p:sp>
      <p:sp>
        <p:nvSpPr>
          <p:cNvPr id="3" name="Text 1"/>
          <p:cNvSpPr txBox="1"/>
          <p:nvPr/>
        </p:nvSpPr>
        <p:spPr>
          <a:xfrm>
            <a:off x="548640" y="1280160"/>
            <a:ext cx="11064240" cy="4846320"/>
          </a:xfrm>
          <a:prstGeom prst="rect">
            <a:avLst/>
          </a:prstGeom>
          <a:noFill/>
          <a:ln/>
        </p:spPr>
        <p:txBody>
          <a:bodyPr wrap="square" lIns="0" tIns="0" rIns="0" bIns="0" rtlCol="0" anchor="t"/>
          <a:lstStyle/>
          <a:p>
            <a:pPr>
              <a:spcAft>
                <a:spcPts val="600"/>
              </a:spcAft>
              <a:buSzPct val="100000"/>
            </a:pPr>
            <a:r>
              <a:rPr lang="en-US" sz="2000" dirty="0">
                <a:solidFill>
                  <a:srgbClr val="3A3A3A"/>
                </a:solidFill>
                <a:latin typeface="Aptos" pitchFamily="34" charset="0"/>
                <a:ea typeface="Aptos" pitchFamily="34" charset="-122"/>
                <a:cs typeface="Aptos" pitchFamily="34" charset="-120"/>
              </a:rPr>
              <a:t> For each one: does "estimate ± 1.96 SE" work? If not, what breaks down each time?</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1. You survey 100 students that come in 10 friend groups whose members answer the same way</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2. You average the profit ratio (this year's profit ÷ last year's) across 100 stores, where many stores roughly broke even last year</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3. A condition affects 1 in 100 people. You test 100 people and find 0 cases</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4. You bootstrap the largest sale price in the Ames data</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5. You poll 10,000 people, but only those who answer a landline at 2 pm</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46</a:t>
            </a:fld>
            <a:endParaRPr lang="en-US"/>
          </a:p>
        </p:txBody>
      </p:sp>
    </p:spTree>
    <p:extLst>
      <p:ext uri="{BB962C8B-B14F-4D97-AF65-F5344CB8AC3E}">
        <p14:creationId xmlns:p14="http://schemas.microsoft.com/office/powerpoint/2010/main" val="16967038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Thought Experiment: Answers</a:t>
            </a:r>
            <a:endParaRPr lang="en-US" sz="3000" dirty="0"/>
          </a:p>
        </p:txBody>
      </p:sp>
      <p:sp>
        <p:nvSpPr>
          <p:cNvPr id="3" name="Text 1"/>
          <p:cNvSpPr txBox="1"/>
          <p:nvPr/>
        </p:nvSpPr>
        <p:spPr>
          <a:xfrm>
            <a:off x="548640" y="1280160"/>
            <a:ext cx="11064240" cy="4846320"/>
          </a:xfrm>
          <a:prstGeom prst="rect">
            <a:avLst/>
          </a:prstGeom>
          <a:noFill/>
          <a:ln/>
        </p:spPr>
        <p:txBody>
          <a:bodyPr wrap="square" lIns="0" tIns="0" rIns="0" bIns="0" rtlCol="0" anchor="t"/>
          <a:lstStyle/>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1. </a:t>
            </a:r>
            <a:r>
              <a:rPr lang="en-US" sz="1700" b="1" dirty="0">
                <a:solidFill>
                  <a:srgbClr val="FF42A1"/>
                </a:solidFill>
                <a:latin typeface="Aptos" pitchFamily="34" charset="0"/>
                <a:ea typeface="Aptos" pitchFamily="34" charset="-122"/>
                <a:cs typeface="Aptos" pitchFamily="34" charset="-120"/>
              </a:rPr>
              <a:t>Dependence.</a:t>
            </a:r>
            <a:r>
              <a:rPr lang="en-US" sz="1700" dirty="0">
                <a:solidFill>
                  <a:srgbClr val="3A3A3A"/>
                </a:solidFill>
                <a:latin typeface="Aptos" pitchFamily="34" charset="0"/>
                <a:ea typeface="Aptos" pitchFamily="34" charset="-122"/>
                <a:cs typeface="Aptos" pitchFamily="34" charset="-120"/>
              </a:rPr>
              <a:t> The 100 answers carry about 10 independent pieces of information, so s/√100 is too small</a:t>
            </a:r>
            <a:endParaRPr lang="en-US" sz="1700" dirty="0"/>
          </a:p>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2. </a:t>
            </a:r>
            <a:r>
              <a:rPr lang="en-US" sz="1700" b="1" dirty="0">
                <a:solidFill>
                  <a:srgbClr val="FF42A1"/>
                </a:solidFill>
                <a:latin typeface="Aptos" pitchFamily="34" charset="0"/>
                <a:ea typeface="Aptos" pitchFamily="34" charset="-122"/>
                <a:cs typeface="Aptos" pitchFamily="34" charset="-120"/>
              </a:rPr>
              <a:t>Infinite variance.</a:t>
            </a:r>
            <a:r>
              <a:rPr lang="en-US" sz="1700" dirty="0">
                <a:solidFill>
                  <a:srgbClr val="3A3A3A"/>
                </a:solidFill>
                <a:latin typeface="Aptos" pitchFamily="34" charset="0"/>
                <a:ea typeface="Aptos" pitchFamily="34" charset="-122"/>
                <a:cs typeface="Aptos" pitchFamily="34" charset="-120"/>
              </a:rPr>
              <a:t> A store that broke even has a denominator near 0, so one ratio can be enormous, of either sign. Ratios like this have Cauchy-type tails: the mean of 100 is as spread out as a single ratio</a:t>
            </a:r>
            <a:endParaRPr lang="en-US" sz="1700" dirty="0"/>
          </a:p>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3. </a:t>
            </a:r>
            <a:r>
              <a:rPr lang="en-US" sz="1700" b="1" dirty="0">
                <a:solidFill>
                  <a:srgbClr val="FF42A1"/>
                </a:solidFill>
                <a:latin typeface="Aptos" pitchFamily="34" charset="0"/>
                <a:ea typeface="Aptos" pitchFamily="34" charset="-122"/>
                <a:cs typeface="Aptos" pitchFamily="34" charset="-120"/>
              </a:rPr>
              <a:t>Too little data for the skew.</a:t>
            </a:r>
            <a:r>
              <a:rPr lang="en-US" sz="1700" dirty="0">
                <a:solidFill>
                  <a:srgbClr val="3A3A3A"/>
                </a:solidFill>
                <a:latin typeface="Aptos" pitchFamily="34" charset="0"/>
                <a:ea typeface="Aptos" pitchFamily="34" charset="-122"/>
                <a:cs typeface="Aptos" pitchFamily="34" charset="-120"/>
              </a:rPr>
              <a:t> Pr[0 cases] = 0.99¹⁰⁰ = 0.37. Then </a:t>
            </a:r>
            <a:r>
              <a:rPr lang="en-US" sz="1700" dirty="0">
                <a:solidFill>
                  <a:srgbClr val="3A3A3A"/>
                </a:solidFill>
                <a:latin typeface="Cambria Math" panose="02040503050406030204" pitchFamily="18" charset="0"/>
                <a:ea typeface="Aptos" pitchFamily="34" charset="-122"/>
                <a:cs typeface="Aptos" pitchFamily="34" charset="-120"/>
              </a:rPr>
              <a:t>p̂</a:t>
            </a:r>
            <a:r>
              <a:rPr lang="en-US" sz="1700" dirty="0">
                <a:solidFill>
                  <a:srgbClr val="3A3A3A"/>
                </a:solidFill>
                <a:latin typeface="Aptos" pitchFamily="34" charset="0"/>
                <a:ea typeface="Aptos" pitchFamily="34" charset="-122"/>
                <a:cs typeface="Aptos" pitchFamily="34" charset="-120"/>
              </a:rPr>
              <a:t> = 0, SE = 0, and the "95% CI" is [0, 0]</a:t>
            </a:r>
            <a:endParaRPr lang="en-US" sz="1700" dirty="0"/>
          </a:p>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4. </a:t>
            </a:r>
            <a:r>
              <a:rPr lang="en-US" sz="1700" b="1" dirty="0">
                <a:solidFill>
                  <a:srgbClr val="FF42A1"/>
                </a:solidFill>
                <a:latin typeface="Aptos" pitchFamily="34" charset="0"/>
                <a:ea typeface="Aptos" pitchFamily="34" charset="-122"/>
                <a:cs typeface="Aptos" pitchFamily="34" charset="-120"/>
              </a:rPr>
              <a:t>Not a sum.</a:t>
            </a:r>
            <a:r>
              <a:rPr lang="en-US" sz="1700" dirty="0">
                <a:solidFill>
                  <a:srgbClr val="3A3A3A"/>
                </a:solidFill>
                <a:latin typeface="Aptos" pitchFamily="34" charset="0"/>
                <a:ea typeface="Aptos" pitchFamily="34" charset="-122"/>
                <a:cs typeface="Aptos" pitchFamily="34" charset="-120"/>
              </a:rPr>
              <a:t> The max is not an average of many pieces. A resample can never exceed the sample's largest price, so the bootstrap max piles up at one value</a:t>
            </a:r>
            <a:endParaRPr lang="en-US" sz="1700" dirty="0"/>
          </a:p>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5. </a:t>
            </a:r>
            <a:r>
              <a:rPr lang="en-US" sz="1700" b="1" dirty="0">
                <a:solidFill>
                  <a:srgbClr val="FF42A1"/>
                </a:solidFill>
                <a:latin typeface="Aptos" pitchFamily="34" charset="0"/>
                <a:ea typeface="Aptos" pitchFamily="34" charset="-122"/>
                <a:cs typeface="Aptos" pitchFamily="34" charset="-120"/>
              </a:rPr>
              <a:t>Wrong target.</a:t>
            </a:r>
            <a:r>
              <a:rPr lang="en-US" sz="1700" dirty="0">
                <a:solidFill>
                  <a:srgbClr val="3A3A3A"/>
                </a:solidFill>
                <a:latin typeface="Aptos" pitchFamily="34" charset="0"/>
                <a:ea typeface="Aptos" pitchFamily="34" charset="-122"/>
                <a:cs typeface="Aptos" pitchFamily="34" charset="-120"/>
              </a:rPr>
              <a:t> The CLT still holds: x̄ is normal around the mean of landline-at-2-pm answerers. The interval is precise about the wrong number, and more data only makes it more confidently wrong</a:t>
            </a:r>
            <a:endParaRPr lang="en-US" sz="1700" dirty="0"/>
          </a:p>
          <a:p>
            <a:pPr>
              <a:buNone/>
            </a:pPr>
            <a:r>
              <a:rPr lang="en-US" sz="1800" b="1" dirty="0">
                <a:solidFill>
                  <a:srgbClr val="FF42A1"/>
                </a:solidFill>
                <a:latin typeface="Aptos" pitchFamily="34" charset="0"/>
                <a:ea typeface="Aptos" pitchFamily="34" charset="-122"/>
                <a:cs typeface="Aptos" pitchFamily="34" charset="-120"/>
              </a:rPr>
              <a:t>Estimate ± 1.96 SE can fail because the CLT fails (2, 4), the SE is wrong (1, 3), or the target is wrong (5)</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47</a:t>
            </a:fld>
            <a:endParaRPr lang="en-US"/>
          </a:p>
        </p:txBody>
      </p:sp>
    </p:spTree>
    <p:extLst>
      <p:ext uri="{BB962C8B-B14F-4D97-AF65-F5344CB8AC3E}">
        <p14:creationId xmlns:p14="http://schemas.microsoft.com/office/powerpoint/2010/main" val="30667631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Example</a:t>
            </a:r>
            <a:endParaRPr lang="en-US" sz="3000" dirty="0"/>
          </a:p>
        </p:txBody>
      </p:sp>
      <p:sp>
        <p:nvSpPr>
          <p:cNvPr id="3" name="Text 1"/>
          <p:cNvSpPr txBox="1"/>
          <p:nvPr/>
        </p:nvSpPr>
        <p:spPr>
          <a:xfrm>
            <a:off x="548640" y="1280160"/>
            <a:ext cx="11064240" cy="2947670"/>
          </a:xfrm>
          <a:prstGeom prst="rect">
            <a:avLst/>
          </a:prstGeom>
          <a:noFill/>
          <a:ln/>
        </p:spPr>
        <p:txBody>
          <a:bodyPr wrap="square" lIns="0" tIns="0" rIns="0" bIns="0" rtlCol="0" anchor="t"/>
          <a:lstStyle/>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You run a regression and get a coefficient of 5 with a standard error of 2 for a key coefficient</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90% CI: (5 − 1.645 × 2, 5 + 1.645 × 2) = (1.71, 8.29)</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95% CI: (5 − 1.960 × 2, 5 + 1.960 × 2) = (1.08, 8.92)</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99% CI: (5 − 2.576 × 2, 5 + 2.576 × 2) = (−0.15, 10.15)</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For which levels of confidence is a statistically significant difference from 0 detected?</a:t>
            </a:r>
            <a:endParaRPr lang="en-US" sz="2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Exercise on the board</a:t>
            </a:r>
            <a:endParaRPr lang="en-US" sz="3000" dirty="0"/>
          </a:p>
        </p:txBody>
      </p:sp>
      <p:sp>
        <p:nvSpPr>
          <p:cNvPr id="3" name="Text 1"/>
          <p:cNvSpPr txBox="1"/>
          <p:nvPr/>
        </p:nvSpPr>
        <p:spPr>
          <a:xfrm>
            <a:off x="548640" y="1280160"/>
            <a:ext cx="11064240" cy="2084578"/>
          </a:xfrm>
          <a:prstGeom prst="rect">
            <a:avLst/>
          </a:prstGeom>
          <a:noFill/>
          <a:ln/>
        </p:spPr>
        <p:txBody>
          <a:bodyPr wrap="square" lIns="0" tIns="0" rIns="0" bIns="0" rtlCol="0" anchor="t"/>
          <a:lstStyle/>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You run a regression and get a coefficient of 10 with a standard error of 5 for a key coefficient</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Compute 90/95/99% confidence intervals for the coefficient</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For which levels of confidence is a statistically significant difference from 0 detected?</a:t>
            </a:r>
            <a:endParaRPr lang="en-US" sz="2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Exercise: Answers</a:t>
            </a:r>
            <a:endParaRPr lang="en-US" sz="3000" dirty="0"/>
          </a:p>
        </p:txBody>
      </p:sp>
      <p:sp>
        <p:nvSpPr>
          <p:cNvPr id="3" name="Text 1"/>
          <p:cNvSpPr txBox="1"/>
          <p:nvPr/>
        </p:nvSpPr>
        <p:spPr>
          <a:xfrm>
            <a:off x="548640" y="1280160"/>
            <a:ext cx="11064240" cy="4206240"/>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Coefficient 10, SE 5</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90% CI: (10 − 1.645 × 5, 10 + 1.645 × 5) = (1.78, 18.23)</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95% CI: (10 − 1.960 × 5, 10 + 1.960 × 5) = (0.20, 19.80)</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99% CI: (10 − 2.576 × 5, 10 + 2.576 × 5) = (−2.88, 22.88)</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Significantly different from 0 at </a:t>
            </a:r>
            <a:r>
              <a:rPr lang="en-US" sz="2000" b="1" dirty="0">
                <a:solidFill>
                  <a:srgbClr val="FF42A1"/>
                </a:solidFill>
                <a:latin typeface="Aptos" pitchFamily="34" charset="0"/>
                <a:ea typeface="Aptos" pitchFamily="34" charset="-122"/>
                <a:cs typeface="Aptos" pitchFamily="34" charset="-120"/>
              </a:rPr>
              <a:t>90% and 95%</a:t>
            </a:r>
            <a:r>
              <a:rPr lang="en-US" sz="2000" dirty="0">
                <a:solidFill>
                  <a:srgbClr val="3A3A3A"/>
                </a:solidFill>
                <a:latin typeface="Aptos" pitchFamily="34" charset="0"/>
                <a:ea typeface="Aptos" pitchFamily="34" charset="-122"/>
                <a:cs typeface="Aptos" pitchFamily="34" charset="-120"/>
              </a:rPr>
              <a:t> (0 is outside), but </a:t>
            </a:r>
            <a:r>
              <a:rPr lang="en-US" sz="2000" b="1" dirty="0">
                <a:solidFill>
                  <a:srgbClr val="FF42A1"/>
                </a:solidFill>
                <a:latin typeface="Aptos" pitchFamily="34" charset="0"/>
                <a:ea typeface="Aptos" pitchFamily="34" charset="-122"/>
                <a:cs typeface="Aptos" pitchFamily="34" charset="-120"/>
              </a:rPr>
              <a:t>not at 99%</a:t>
            </a:r>
            <a:r>
              <a:rPr lang="en-US" sz="2000" dirty="0">
                <a:solidFill>
                  <a:srgbClr val="3A3A3A"/>
                </a:solidFill>
                <a:latin typeface="Aptos" pitchFamily="34" charset="0"/>
                <a:ea typeface="Aptos" pitchFamily="34" charset="-122"/>
                <a:cs typeface="Aptos" pitchFamily="34" charset="-120"/>
              </a:rPr>
              <a:t> (0 is inside)</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Shortcut: the estimate is 10/5 = 2 SEs from 0. It's significant whenever 2 beats the critical value: 2 &gt; 1.645, 2 &gt; 1.960, 2 &lt; 2.576</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What Is a Confidence Interval?</a:t>
            </a:r>
            <a:endParaRPr lang="en-US" sz="3000" dirty="0"/>
          </a:p>
        </p:txBody>
      </p:sp>
      <p:sp>
        <p:nvSpPr>
          <p:cNvPr id="3" name="Text 1"/>
          <p:cNvSpPr txBox="1"/>
          <p:nvPr/>
        </p:nvSpPr>
        <p:spPr>
          <a:xfrm>
            <a:off x="548640" y="1280160"/>
            <a:ext cx="5120640" cy="745236"/>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Suppose our estimator is approximately normally distributed:</a:t>
            </a:r>
            <a:endParaRPr lang="en-US" sz="1800" dirty="0"/>
          </a:p>
        </p:txBody>
      </p:sp>
      <p:pic>
        <p:nvPicPr>
          <p:cNvPr id="4" name="Image 0" descr="ci_normal"/>
          <p:cNvPicPr>
            <a:picLocks noChangeAspect="1"/>
          </p:cNvPicPr>
          <p:nvPr/>
        </p:nvPicPr>
        <p:blipFill>
          <a:blip r:embed="rId3"/>
          <a:stretch>
            <a:fillRect/>
          </a:stretch>
        </p:blipFill>
        <p:spPr>
          <a:xfrm>
            <a:off x="6035040" y="1188720"/>
            <a:ext cx="1845488" cy="593395"/>
          </a:xfrm>
          <a:prstGeom prst="rect">
            <a:avLst/>
          </a:prstGeom>
        </p:spPr>
      </p:pic>
      <p:sp>
        <p:nvSpPr>
          <p:cNvPr id="5" name="Text 2"/>
          <p:cNvSpPr txBox="1"/>
          <p:nvPr/>
        </p:nvSpPr>
        <p:spPr>
          <a:xfrm>
            <a:off x="548640" y="1920240"/>
            <a:ext cx="5120640" cy="459486"/>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Choose a </a:t>
            </a:r>
            <a:r>
              <a:rPr lang="en-US" sz="1800" b="1" dirty="0">
                <a:solidFill>
                  <a:srgbClr val="FF42A1"/>
                </a:solidFill>
                <a:latin typeface="Aptos" pitchFamily="34" charset="0"/>
                <a:ea typeface="Aptos" pitchFamily="34" charset="-122"/>
                <a:cs typeface="Aptos" pitchFamily="34" charset="-120"/>
              </a:rPr>
              <a:t>critical value</a:t>
            </a:r>
            <a:r>
              <a:rPr lang="en-US" sz="1800" dirty="0">
                <a:solidFill>
                  <a:srgbClr val="3A3A3A"/>
                </a:solidFill>
                <a:latin typeface="Aptos" pitchFamily="34" charset="0"/>
                <a:ea typeface="Aptos" pitchFamily="34" charset="-122"/>
                <a:cs typeface="Aptos" pitchFamily="34" charset="-120"/>
              </a:rPr>
              <a:t> c such that:</a:t>
            </a:r>
            <a:endParaRPr lang="en-US" sz="1800" dirty="0"/>
          </a:p>
        </p:txBody>
      </p:sp>
      <p:pic>
        <p:nvPicPr>
          <p:cNvPr id="6" name="Image 1" descr="ci_crit"/>
          <p:cNvPicPr>
            <a:picLocks noChangeAspect="1"/>
          </p:cNvPicPr>
          <p:nvPr/>
        </p:nvPicPr>
        <p:blipFill>
          <a:blip r:embed="rId4"/>
          <a:stretch>
            <a:fillRect/>
          </a:stretch>
        </p:blipFill>
        <p:spPr>
          <a:xfrm>
            <a:off x="6035040" y="1922526"/>
            <a:ext cx="3054046" cy="593395"/>
          </a:xfrm>
          <a:prstGeom prst="rect">
            <a:avLst/>
          </a:prstGeom>
        </p:spPr>
      </p:pic>
      <p:sp>
        <p:nvSpPr>
          <p:cNvPr id="7" name="Text 3"/>
          <p:cNvSpPr txBox="1"/>
          <p:nvPr/>
        </p:nvSpPr>
        <p:spPr>
          <a:xfrm>
            <a:off x="548640" y="2699766"/>
            <a:ext cx="11064240" cy="1113282"/>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What is random? The interval, because </a:t>
            </a:r>
            <a:r>
              <a:rPr lang="en-US" sz="1800" dirty="0">
                <a:solidFill>
                  <a:srgbClr val="3A3A3A"/>
                </a:solidFill>
                <a:latin typeface="Cambria Math" panose="02040503050406030204" pitchFamily="18" charset="0"/>
                <a:ea typeface="Aptos" pitchFamily="34" charset="-122"/>
                <a:cs typeface="Aptos" pitchFamily="34" charset="-120"/>
              </a:rPr>
              <a:t>β̂</a:t>
            </a:r>
            <a:r>
              <a:rPr lang="en-US" sz="1800" dirty="0">
                <a:solidFill>
                  <a:srgbClr val="3A3A3A"/>
                </a:solidFill>
                <a:latin typeface="Aptos" pitchFamily="34" charset="0"/>
                <a:ea typeface="Aptos" pitchFamily="34" charset="-122"/>
                <a:cs typeface="Aptos" pitchFamily="34" charset="-120"/>
              </a:rPr>
              <a:t> changes with every sample. What is fixed? β₀. </a:t>
            </a:r>
            <a:r>
              <a:rPr lang="en-US" sz="1800" b="1" dirty="0">
                <a:solidFill>
                  <a:srgbClr val="FF42A1"/>
                </a:solidFill>
                <a:latin typeface="Aptos" pitchFamily="34" charset="0"/>
                <a:ea typeface="Aptos" pitchFamily="34" charset="-122"/>
                <a:cs typeface="Aptos" pitchFamily="34" charset="-120"/>
              </a:rPr>
              <a:t>The 95% describes the procedure, not any one interval</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Rearrange to get:</a:t>
            </a:r>
            <a:endParaRPr lang="en-US" sz="1800" dirty="0"/>
          </a:p>
        </p:txBody>
      </p:sp>
      <p:pic>
        <p:nvPicPr>
          <p:cNvPr id="8" name="Image 2" descr="ci_rearr"/>
          <p:cNvPicPr>
            <a:picLocks noChangeAspect="1"/>
          </p:cNvPicPr>
          <p:nvPr/>
        </p:nvPicPr>
        <p:blipFill>
          <a:blip r:embed="rId5"/>
          <a:stretch>
            <a:fillRect/>
          </a:stretch>
        </p:blipFill>
        <p:spPr>
          <a:xfrm>
            <a:off x="914400" y="3858768"/>
            <a:ext cx="6366460" cy="593395"/>
          </a:xfrm>
          <a:prstGeom prst="rect">
            <a:avLst/>
          </a:prstGeom>
        </p:spPr>
      </p:pic>
      <p:sp>
        <p:nvSpPr>
          <p:cNvPr id="9" name="Text 4"/>
          <p:cNvSpPr txBox="1"/>
          <p:nvPr/>
        </p:nvSpPr>
        <p:spPr>
          <a:xfrm>
            <a:off x="548640" y="4680763"/>
            <a:ext cx="11064240" cy="459486"/>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This is a statistical reliability claim, not a statement about the value of the true parameter β₀</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CI to Hypothesis Test: TEST = INTERVAL</a:t>
            </a:r>
            <a:endParaRPr lang="en-US" sz="3000" dirty="0"/>
          </a:p>
        </p:txBody>
      </p:sp>
      <p:sp>
        <p:nvSpPr>
          <p:cNvPr id="3" name="Text 1"/>
          <p:cNvSpPr txBox="1"/>
          <p:nvPr/>
        </p:nvSpPr>
        <p:spPr>
          <a:xfrm>
            <a:off x="548640" y="1280160"/>
            <a:ext cx="11064240" cy="808736"/>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If we hypothesize β₀ the take some value, usually zero, this becomes a </a:t>
            </a:r>
            <a:r>
              <a:rPr lang="en-US" sz="2000" b="1" dirty="0">
                <a:solidFill>
                  <a:srgbClr val="FF42A1"/>
                </a:solidFill>
                <a:latin typeface="Aptos" pitchFamily="34" charset="0"/>
                <a:ea typeface="Aptos" pitchFamily="34" charset="-122"/>
                <a:cs typeface="Aptos" pitchFamily="34" charset="-120"/>
              </a:rPr>
              <a:t>hypothesis test</a:t>
            </a:r>
            <a:r>
              <a:rPr lang="en-US" sz="2000" dirty="0">
                <a:solidFill>
                  <a:srgbClr val="3A3A3A"/>
                </a:solidFill>
                <a:latin typeface="Aptos" pitchFamily="34" charset="0"/>
                <a:ea typeface="Aptos" pitchFamily="34" charset="-122"/>
                <a:cs typeface="Aptos" pitchFamily="34" charset="-120"/>
              </a:rPr>
              <a:t>: is the hypothesized value β₀ in the interval or not?</a:t>
            </a:r>
            <a:endParaRPr lang="en-US" sz="2000" dirty="0"/>
          </a:p>
        </p:txBody>
      </p:sp>
      <p:pic>
        <p:nvPicPr>
          <p:cNvPr id="4" name="Image 0" descr="test"/>
          <p:cNvPicPr>
            <a:picLocks noChangeAspect="1"/>
          </p:cNvPicPr>
          <p:nvPr/>
        </p:nvPicPr>
        <p:blipFill>
          <a:blip r:embed="rId3"/>
          <a:stretch>
            <a:fillRect/>
          </a:stretch>
        </p:blipFill>
        <p:spPr>
          <a:xfrm>
            <a:off x="914400" y="2180336"/>
            <a:ext cx="6926626" cy="659328"/>
          </a:xfrm>
          <a:prstGeom prst="rect">
            <a:avLst/>
          </a:prstGeom>
        </p:spPr>
      </p:pic>
      <p:sp>
        <p:nvSpPr>
          <p:cNvPr id="5" name="Text 2"/>
          <p:cNvSpPr txBox="1"/>
          <p:nvPr/>
        </p:nvSpPr>
        <p:spPr>
          <a:xfrm>
            <a:off x="548640" y="3113984"/>
            <a:ext cx="11064240" cy="491236"/>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Is β₀ (often 0) outside the CI? If so, reject H₀; if it is inside the CI, fail to reject H₀</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The CI Is Not...</a:t>
            </a:r>
            <a:endParaRPr lang="en-US" sz="3000" dirty="0"/>
          </a:p>
        </p:txBody>
      </p:sp>
      <p:sp>
        <p:nvSpPr>
          <p:cNvPr id="3" name="Text 1"/>
          <p:cNvSpPr txBox="1"/>
          <p:nvPr/>
        </p:nvSpPr>
        <p:spPr>
          <a:xfrm>
            <a:off x="548640" y="1280160"/>
            <a:ext cx="11064240" cy="3042920"/>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This is just not Pr_β₀[ |</a:t>
            </a:r>
            <a:r>
              <a:rPr lang="en-US" sz="2000" dirty="0">
                <a:solidFill>
                  <a:srgbClr val="3A3A3A"/>
                </a:solidFill>
                <a:latin typeface="Cambria Math" panose="02040503050406030204" pitchFamily="18" charset="0"/>
                <a:ea typeface="Aptos" pitchFamily="34" charset="-122"/>
                <a:cs typeface="Aptos" pitchFamily="34" charset="-120"/>
              </a:rPr>
              <a:t>β̂</a:t>
            </a:r>
            <a:r>
              <a:rPr lang="en-US" sz="2000" dirty="0">
                <a:solidFill>
                  <a:srgbClr val="3A3A3A"/>
                </a:solidFill>
                <a:latin typeface="Aptos" pitchFamily="34" charset="0"/>
                <a:ea typeface="Aptos" pitchFamily="34" charset="-122"/>
                <a:cs typeface="Aptos" pitchFamily="34" charset="-120"/>
              </a:rPr>
              <a:t> − β₀| ≤ c ]</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It couldn't be this: we don't know the true β₀</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If β₀ was random, and had a distribution associated with it, then you'd use Bayes' Rule to observe data and update that distribution</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We often say things like, "Gravity is −9.81 m/s²." We don't often say things like, "Gravity is normally distributed with mean −9.81 m/s² and standard deviation .0051"</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If you </a:t>
            </a:r>
            <a:r>
              <a:rPr lang="en-US" sz="2000" b="1" dirty="0">
                <a:solidFill>
                  <a:srgbClr val="FF42A1"/>
                </a:solidFill>
                <a:latin typeface="Aptos" pitchFamily="34" charset="0"/>
                <a:ea typeface="Aptos" pitchFamily="34" charset="-122"/>
                <a:cs typeface="Aptos" pitchFamily="34" charset="-120"/>
              </a:rPr>
              <a:t>did</a:t>
            </a:r>
            <a:r>
              <a:rPr lang="en-US" sz="2000" dirty="0">
                <a:solidFill>
                  <a:srgbClr val="3A3A3A"/>
                </a:solidFill>
                <a:latin typeface="Aptos" pitchFamily="34" charset="0"/>
                <a:ea typeface="Aptos" pitchFamily="34" charset="-122"/>
                <a:cs typeface="Aptos" pitchFamily="34" charset="-120"/>
              </a:rPr>
              <a:t> talk like that, you'd be a Bayesian statistician, and we'll talk about Bayesian statistics at the end of the course</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The CI Is...</a:t>
            </a:r>
            <a:endParaRPr lang="en-US" sz="3000" dirty="0"/>
          </a:p>
        </p:txBody>
      </p:sp>
      <p:sp>
        <p:nvSpPr>
          <p:cNvPr id="3" name="Text 1"/>
          <p:cNvSpPr txBox="1"/>
          <p:nvPr/>
        </p:nvSpPr>
        <p:spPr>
          <a:xfrm>
            <a:off x="548640" y="1280160"/>
            <a:ext cx="11064240" cy="2783078"/>
          </a:xfrm>
          <a:prstGeom prst="rect">
            <a:avLst/>
          </a:prstGeom>
          <a:noFill/>
          <a:ln/>
        </p:spPr>
        <p:txBody>
          <a:bodyPr wrap="square" lIns="0" tIns="0" rIns="0" bIns="0" rtlCol="0" anchor="t"/>
          <a:lstStyle/>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If we did this kind of analysis many times, what range of values is plausible for our estimates?</a:t>
            </a:r>
          </a:p>
          <a:p>
            <a:pPr marL="228600" indent="-228600">
              <a:spcAft>
                <a:spcPts val="600"/>
              </a:spcAft>
              <a:buSzPct val="100000"/>
              <a:buFontTx/>
              <a:buChar char="•"/>
            </a:pPr>
            <a:r>
              <a:rPr lang="en-US" sz="2000" dirty="0"/>
              <a:t>A set of parameter values that our data do not allow us to reject, using a procedure designed to exclude the true parameter only a specified fraction of the time (the Type 1 error probability).</a:t>
            </a:r>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The probability that the </a:t>
            </a:r>
            <a:r>
              <a:rPr lang="en-US" sz="2200" b="1" dirty="0">
                <a:solidFill>
                  <a:srgbClr val="FF42A1"/>
                </a:solidFill>
                <a:latin typeface="Aptos" pitchFamily="34" charset="0"/>
                <a:ea typeface="Aptos" pitchFamily="34" charset="-122"/>
                <a:cs typeface="Aptos" pitchFamily="34" charset="-120"/>
              </a:rPr>
              <a:t>random</a:t>
            </a:r>
            <a:r>
              <a:rPr lang="en-US" sz="2200" dirty="0">
                <a:solidFill>
                  <a:srgbClr val="3A3A3A"/>
                </a:solidFill>
                <a:latin typeface="Aptos" pitchFamily="34" charset="0"/>
                <a:ea typeface="Aptos" pitchFamily="34" charset="-122"/>
                <a:cs typeface="Aptos" pitchFamily="34" charset="-120"/>
              </a:rPr>
              <a:t> CI covers the true β₀ is 1 − α; we </a:t>
            </a:r>
            <a:r>
              <a:rPr lang="en-US" sz="2200" b="1" dirty="0">
                <a:solidFill>
                  <a:srgbClr val="FF42A1"/>
                </a:solidFill>
                <a:latin typeface="Aptos" pitchFamily="34" charset="0"/>
                <a:ea typeface="Aptos" pitchFamily="34" charset="-122"/>
                <a:cs typeface="Aptos" pitchFamily="34" charset="-120"/>
              </a:rPr>
              <a:t>expect</a:t>
            </a:r>
            <a:r>
              <a:rPr lang="en-US" sz="2200" dirty="0">
                <a:solidFill>
                  <a:srgbClr val="3A3A3A"/>
                </a:solidFill>
                <a:latin typeface="Aptos" pitchFamily="34" charset="0"/>
                <a:ea typeface="Aptos" pitchFamily="34" charset="-122"/>
                <a:cs typeface="Aptos" pitchFamily="34" charset="-120"/>
              </a:rPr>
              <a:t> the CI to cover the true β₀ with probability 1 − α</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If we repeatedly sampled data and constructed a new confidence interval each time, approximately 95% of those intervals would contain the fixed, unknown parameter β₀ (the bootstrapping connection is clear here)</a:t>
            </a:r>
            <a:endParaRPr lang="en-US" sz="2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Coverage You Can Count</a:t>
            </a:r>
            <a:endParaRPr lang="en-US" sz="3000" dirty="0"/>
          </a:p>
        </p:txBody>
      </p:sp>
      <p:sp>
        <p:nvSpPr>
          <p:cNvPr id="3" name="Text 1"/>
          <p:cNvSpPr txBox="1"/>
          <p:nvPr/>
        </p:nvSpPr>
        <p:spPr>
          <a:xfrm>
            <a:off x="548640" y="1280160"/>
            <a:ext cx="11064240" cy="4023360"/>
          </a:xfrm>
          <a:prstGeom prst="rect">
            <a:avLst/>
          </a:prstGeom>
          <a:noFill/>
          <a:ln/>
        </p:spPr>
        <p:txBody>
          <a:bodyPr wrap="square" lIns="0" tIns="0" rIns="0" bIns="0" rtlCol="0" anchor="t"/>
          <a:lstStyle/>
          <a:p>
            <a:pPr marL="228600" indent="-228600">
              <a:spcAft>
                <a:spcPts val="600"/>
              </a:spcAft>
              <a:buSzPct val="100000"/>
              <a:buChar char="•"/>
            </a:pPr>
            <a:r>
              <a:rPr lang="en-US" sz="2000" b="1" dirty="0">
                <a:solidFill>
                  <a:srgbClr val="FF42A1"/>
                </a:solidFill>
                <a:latin typeface="Aptos" pitchFamily="34" charset="0"/>
                <a:ea typeface="Aptos" pitchFamily="34" charset="-122"/>
                <a:cs typeface="Aptos" pitchFamily="34" charset="-120"/>
              </a:rPr>
              <a:t>At the boards.</a:t>
            </a:r>
            <a:r>
              <a:rPr lang="en-US" sz="2000" dirty="0">
                <a:solidFill>
                  <a:srgbClr val="3A3A3A"/>
                </a:solidFill>
                <a:latin typeface="Aptos" pitchFamily="34" charset="0"/>
                <a:ea typeface="Aptos" pitchFamily="34" charset="-122"/>
                <a:cs typeface="Aptos" pitchFamily="34" charset="-120"/>
              </a:rPr>
              <a:t> Population {1, 3, 5}, draw n = 2 with replacement, so μ = 3</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1. List all 9 possible samples and their x̄</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2. Our interval rule is x̄ ± 1.5. For how many of the 9 samples does the interval contain μ = 3? What is the coverage?</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3. Repeat for x̄ ± 0.5 and x̄ ± 2.5</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4. You drew (1, 1), so your interval is [−0.5, 2.5]. What is the probability that this interval contains μ?</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Coverage You Can Count: Answers</a:t>
            </a:r>
            <a:endParaRPr lang="en-US" sz="3000" dirty="0"/>
          </a:p>
        </p:txBody>
      </p:sp>
      <p:sp>
        <p:nvSpPr>
          <p:cNvPr id="3" name="Text 1"/>
          <p:cNvSpPr txBox="1"/>
          <p:nvPr/>
        </p:nvSpPr>
        <p:spPr>
          <a:xfrm>
            <a:off x="548640" y="1280160"/>
            <a:ext cx="11064240" cy="1290828"/>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Back to {1, 3, 5} with n = 2: μ = 3, and the 9 sample means are 1, 2, 3, 2, 3, 4, 3, 4, 5</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The rule "x̄ ± 1.5" covers μ when x̄ ∈ {2, 3, 4}: 7 of the 9 samples</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So x̄ ± 1.5 is a </a:t>
            </a:r>
            <a:r>
              <a:rPr lang="en-US" sz="2000" b="1" dirty="0">
                <a:solidFill>
                  <a:srgbClr val="FF42A1"/>
                </a:solidFill>
                <a:latin typeface="Aptos" pitchFamily="34" charset="0"/>
                <a:ea typeface="Aptos" pitchFamily="34" charset="-122"/>
                <a:cs typeface="Aptos" pitchFamily="34" charset="-120"/>
              </a:rPr>
              <a:t>78% confidence interval</a:t>
            </a:r>
            <a:r>
              <a:rPr lang="en-US" sz="2000" dirty="0">
                <a:solidFill>
                  <a:srgbClr val="3A3A3A"/>
                </a:solidFill>
                <a:latin typeface="Aptos" pitchFamily="34" charset="0"/>
                <a:ea typeface="Aptos" pitchFamily="34" charset="-122"/>
                <a:cs typeface="Aptos" pitchFamily="34" charset="-120"/>
              </a:rPr>
              <a:t>, by counting</a:t>
            </a:r>
            <a:endParaRPr lang="en-US" sz="2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2662428"/>
          <a:ext cx="5852160" cy="1544320"/>
        </p:xfrm>
        <a:graphic>
          <a:graphicData uri="http://schemas.openxmlformats.org/drawingml/2006/table">
            <a:tbl>
              <a:tblPr/>
              <a:tblGrid>
                <a:gridCol w="16459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86080">
                <a:tc>
                  <a:txBody>
                    <a:bodyPr/>
                    <a:lstStyle/>
                    <a:p>
                      <a:pPr marL="0" indent="0">
                        <a:buNone/>
                      </a:pPr>
                      <a:r>
                        <a:rPr lang="en-US" sz="1600" b="1" dirty="0">
                          <a:solidFill>
                            <a:srgbClr val="000000"/>
                          </a:solidFill>
                          <a:latin typeface="Aptos" pitchFamily="34" charset="0"/>
                          <a:ea typeface="Aptos" pitchFamily="34" charset="-122"/>
                          <a:cs typeface="Aptos" pitchFamily="34" charset="-120"/>
                        </a:rPr>
                        <a:t>half-width</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samples that cover</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coverage</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0.5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3</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33%</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1.5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7</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78%</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2.5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9</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100%</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txBox="1"/>
          <p:nvPr/>
        </p:nvSpPr>
        <p:spPr>
          <a:xfrm>
            <a:off x="548640" y="5989320"/>
            <a:ext cx="11064240" cy="457200"/>
          </a:xfrm>
          <a:prstGeom prst="rect">
            <a:avLst/>
          </a:prstGeom>
          <a:noFill/>
          <a:ln/>
        </p:spPr>
        <p:txBody>
          <a:bodyPr wrap="square" lIns="0" tIns="0" rIns="0" bIns="0" rtlCol="0" anchor="ctr"/>
          <a:lstStyle/>
          <a:p>
            <a:pPr marL="0" indent="0" algn="ctr">
              <a:buNone/>
            </a:pPr>
            <a:r>
              <a:rPr lang="en-US" sz="2000" b="1" dirty="0">
                <a:solidFill>
                  <a:srgbClr val="FF42A1"/>
                </a:solidFill>
              </a:rPr>
              <a:t>coverage is a property of the rule, computed over all samples before you see yours</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56</a:t>
            </a:fld>
            <a:endParaRPr lang="en-US"/>
          </a:p>
        </p:txBody>
      </p:sp>
      <p:sp>
        <p:nvSpPr>
          <p:cNvPr id="37" name="Text Q4"/>
          <p:cNvSpPr txBox="1"/>
          <p:nvPr/>
        </p:nvSpPr>
        <p:spPr>
          <a:xfrm>
            <a:off x="548640" y="4434840"/>
            <a:ext cx="11064240" cy="914400"/>
          </a:xfrm>
          <a:prstGeom prst="rect">
            <a:avLst/>
          </a:prstGeom>
          <a:noFill/>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4. </a:t>
            </a:r>
            <a:r>
              <a:rPr lang="en-US" sz="2000" b="1" dirty="0">
                <a:solidFill>
                  <a:srgbClr val="FF42A1"/>
                </a:solidFill>
                <a:latin typeface="Aptos" pitchFamily="34" charset="0"/>
                <a:ea typeface="Aptos" pitchFamily="34" charset="-122"/>
                <a:cs typeface="Aptos" pitchFamily="34" charset="-120"/>
              </a:rPr>
              <a:t>Zero.</a:t>
            </a:r>
            <a:r>
              <a:rPr lang="en-US" sz="2000" dirty="0">
                <a:solidFill>
                  <a:srgbClr val="3A3A3A"/>
                </a:solidFill>
                <a:latin typeface="Aptos" pitchFamily="34" charset="0"/>
                <a:ea typeface="Aptos" pitchFamily="34" charset="-122"/>
                <a:cs typeface="Aptos" pitchFamily="34" charset="-120"/>
              </a:rPr>
              <a:t> [−0.5, 2.5] misses 3, and nothing random is left once you've drawn your sample. The 78% belongs to the rule, not to your interval</a:t>
            </a:r>
            <a:endParaRPr lang="en-US" sz="2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Is the SE Itself Uncertain?</a:t>
            </a:r>
            <a:endParaRPr lang="en-US" sz="3000" dirty="0"/>
          </a:p>
        </p:txBody>
      </p:sp>
      <p:sp>
        <p:nvSpPr>
          <p:cNvPr id="3" name="Text 1"/>
          <p:cNvSpPr txBox="1"/>
          <p:nvPr/>
        </p:nvSpPr>
        <p:spPr>
          <a:xfrm>
            <a:off x="548640" y="1280160"/>
            <a:ext cx="6035040" cy="2706624"/>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Yes: the estimated SE comes from the same sample, so it has its own sampling distribution</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For normal data, its typical relative error is about 1/√(2(n − 1)): 35% at n = 5, 24% at n = 10, 7% at n = 92</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Too small an SE hurts more than too big helps, so coverage drops</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The </a:t>
            </a:r>
            <a:r>
              <a:rPr lang="en-US" sz="1800" b="1" dirty="0">
                <a:solidFill>
                  <a:srgbClr val="FF42A1"/>
                </a:solidFill>
                <a:latin typeface="Aptos" pitchFamily="34" charset="0"/>
                <a:ea typeface="Aptos" pitchFamily="34" charset="-122"/>
                <a:cs typeface="Aptos" pitchFamily="34" charset="-120"/>
              </a:rPr>
              <a:t>t-distribution</a:t>
            </a:r>
            <a:r>
              <a:rPr lang="en-US" sz="1800" dirty="0">
                <a:solidFill>
                  <a:srgbClr val="3A3A3A"/>
                </a:solidFill>
                <a:latin typeface="Aptos" pitchFamily="34" charset="0"/>
                <a:ea typeface="Aptos" pitchFamily="34" charset="-122"/>
                <a:cs typeface="Aptos" pitchFamily="34" charset="-120"/>
              </a:rPr>
              <a:t> fixes this exactly for normal data; for skewed data it helps but can't fix it</a:t>
            </a:r>
            <a:endParaRPr lang="en-US" sz="1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858000" y="1325880"/>
          <a:ext cx="4754880" cy="1809750"/>
        </p:xfrm>
        <a:graphic>
          <a:graphicData uri="http://schemas.openxmlformats.org/drawingml/2006/table">
            <a:tbl>
              <a:tblPr/>
              <a:tblGrid>
                <a:gridCol w="7315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61950">
                <a:tc>
                  <a:txBody>
                    <a:bodyPr/>
                    <a:lstStyle/>
                    <a:p>
                      <a:pPr marL="0" indent="0">
                        <a:buNone/>
                      </a:pPr>
                      <a:r>
                        <a:rPr lang="en-US" sz="1500" b="1" dirty="0">
                          <a:solidFill>
                            <a:srgbClr val="000000"/>
                          </a:solidFill>
                          <a:latin typeface="Aptos" pitchFamily="34" charset="0"/>
                          <a:ea typeface="Aptos" pitchFamily="34" charset="-122"/>
                          <a:cs typeface="Aptos" pitchFamily="34" charset="-120"/>
                        </a:rPr>
                        <a:t>n</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500" b="1" dirty="0">
                          <a:solidFill>
                            <a:srgbClr val="000000"/>
                          </a:solidFill>
                          <a:latin typeface="Aptos" pitchFamily="34" charset="0"/>
                          <a:ea typeface="Aptos" pitchFamily="34" charset="-122"/>
                          <a:cs typeface="Aptos" pitchFamily="34" charset="-120"/>
                        </a:rPr>
                        <a:t>normal: z</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500" b="1" dirty="0">
                          <a:solidFill>
                            <a:srgbClr val="000000"/>
                          </a:solidFill>
                          <a:latin typeface="Aptos" pitchFamily="34" charset="0"/>
                          <a:ea typeface="Aptos" pitchFamily="34" charset="-122"/>
                          <a:cs typeface="Aptos" pitchFamily="34" charset="-120"/>
                        </a:rPr>
                        <a:t>normal: t</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500" b="1" dirty="0">
                          <a:solidFill>
                            <a:srgbClr val="000000"/>
                          </a:solidFill>
                          <a:latin typeface="Aptos" pitchFamily="34" charset="0"/>
                          <a:ea typeface="Aptos" pitchFamily="34" charset="-122"/>
                          <a:cs typeface="Aptos" pitchFamily="34" charset="-120"/>
                        </a:rPr>
                        <a:t>cars: z</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500" b="1" dirty="0">
                          <a:solidFill>
                            <a:srgbClr val="000000"/>
                          </a:solidFill>
                          <a:latin typeface="Aptos" pitchFamily="34" charset="0"/>
                          <a:ea typeface="Aptos" pitchFamily="34" charset="-122"/>
                          <a:cs typeface="Aptos" pitchFamily="34" charset="-120"/>
                        </a:rPr>
                        <a:t>cars: t</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1950">
                <a:tc>
                  <a:txBody>
                    <a:bodyPr/>
                    <a:lstStyle/>
                    <a:p>
                      <a:pPr marL="0" indent="0">
                        <a:buNone/>
                      </a:pPr>
                      <a:r>
                        <a:rPr lang="en-US" sz="1500" dirty="0">
                          <a:solidFill>
                            <a:srgbClr val="3A3A3A"/>
                          </a:solidFill>
                          <a:latin typeface="Aptos" pitchFamily="34" charset="0"/>
                          <a:ea typeface="Aptos" pitchFamily="34" charset="-122"/>
                          <a:cs typeface="Aptos" pitchFamily="34" charset="-120"/>
                        </a:rPr>
                        <a:t>5</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87.5%</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94.8%</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78.3%</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86.2%</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61950">
                <a:tc>
                  <a:txBody>
                    <a:bodyPr/>
                    <a:lstStyle/>
                    <a:p>
                      <a:pPr marL="0" indent="0">
                        <a:buNone/>
                      </a:pPr>
                      <a:r>
                        <a:rPr lang="en-US" sz="1500" dirty="0">
                          <a:solidFill>
                            <a:srgbClr val="3A3A3A"/>
                          </a:solidFill>
                          <a:latin typeface="Aptos" pitchFamily="34" charset="0"/>
                          <a:ea typeface="Aptos" pitchFamily="34" charset="-122"/>
                          <a:cs typeface="Aptos" pitchFamily="34" charset="-120"/>
                        </a:rPr>
                        <a:t>10</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92.2%</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95.3%</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85.0%</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88.1%</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61950">
                <a:tc>
                  <a:txBody>
                    <a:bodyPr/>
                    <a:lstStyle/>
                    <a:p>
                      <a:pPr marL="0" indent="0">
                        <a:buNone/>
                      </a:pPr>
                      <a:r>
                        <a:rPr lang="en-US" sz="1500" dirty="0">
                          <a:solidFill>
                            <a:srgbClr val="3A3A3A"/>
                          </a:solidFill>
                          <a:latin typeface="Aptos" pitchFamily="34" charset="0"/>
                          <a:ea typeface="Aptos" pitchFamily="34" charset="-122"/>
                          <a:cs typeface="Aptos" pitchFamily="34" charset="-120"/>
                        </a:rPr>
                        <a:t>30</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94.0%</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95.1%</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91.8%</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92.7%</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61950">
                <a:tc>
                  <a:txBody>
                    <a:bodyPr/>
                    <a:lstStyle/>
                    <a:p>
                      <a:pPr marL="0" indent="0">
                        <a:buNone/>
                      </a:pPr>
                      <a:r>
                        <a:rPr lang="en-US" sz="1500" dirty="0">
                          <a:solidFill>
                            <a:srgbClr val="3A3A3A"/>
                          </a:solidFill>
                          <a:latin typeface="Aptos" pitchFamily="34" charset="0"/>
                          <a:ea typeface="Aptos" pitchFamily="34" charset="-122"/>
                          <a:cs typeface="Aptos" pitchFamily="34" charset="-120"/>
                        </a:rPr>
                        <a:t>92</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94.9%</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95.2%</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93.9%</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94.2%</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txBox="1"/>
          <p:nvPr/>
        </p:nvSpPr>
        <p:spPr>
          <a:xfrm>
            <a:off x="6858000" y="3154680"/>
            <a:ext cx="4754880" cy="365760"/>
          </a:xfrm>
          <a:prstGeom prst="rect">
            <a:avLst/>
          </a:prstGeom>
          <a:noFill/>
          <a:ln/>
        </p:spPr>
        <p:txBody>
          <a:bodyPr wrap="square" lIns="0" tIns="0" rIns="0" bIns="0" rtlCol="0" anchor="ctr"/>
          <a:lstStyle/>
          <a:p>
            <a:pPr marL="0" indent="0">
              <a:buNone/>
            </a:pPr>
            <a:r>
              <a:rPr lang="en-US" sz="1200" i="1" dirty="0">
                <a:solidFill>
                  <a:srgbClr val="7F7F7F"/>
                </a:solidFill>
              </a:rPr>
              <a:t>Coverage of a nominal 95% interval (20,000 simulated samples each)</a:t>
            </a:r>
            <a:endParaRPr lang="en-US" sz="1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More on Standard Errors</a:t>
            </a:r>
            <a:endParaRPr lang="en-US" sz="3000" dirty="0"/>
          </a:p>
        </p:txBody>
      </p:sp>
      <p:sp>
        <p:nvSpPr>
          <p:cNvPr id="3" name="Text 1"/>
          <p:cNvSpPr txBox="1"/>
          <p:nvPr/>
        </p:nvSpPr>
        <p:spPr>
          <a:xfrm>
            <a:off x="548640" y="1280160"/>
            <a:ext cx="11064240" cy="827532"/>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Standard errors are important but hard to pin down: the data and model create the standard error</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We've been using the SD of the bootstrap sample as the SE. This is the </a:t>
            </a:r>
            <a:r>
              <a:rPr lang="en-US" sz="1800" b="1" dirty="0">
                <a:solidFill>
                  <a:srgbClr val="FF42A1"/>
                </a:solidFill>
                <a:latin typeface="Aptos" pitchFamily="34" charset="0"/>
                <a:ea typeface="Aptos" pitchFamily="34" charset="-122"/>
                <a:cs typeface="Aptos" pitchFamily="34" charset="-120"/>
              </a:rPr>
              <a:t>centered bootstrap</a:t>
            </a:r>
            <a:r>
              <a:rPr lang="en-US" sz="1800" dirty="0">
                <a:solidFill>
                  <a:srgbClr val="3A3A3A"/>
                </a:solidFill>
                <a:latin typeface="Aptos" pitchFamily="34" charset="0"/>
                <a:ea typeface="Aptos" pitchFamily="34" charset="-122"/>
                <a:cs typeface="Aptos" pitchFamily="34" charset="-120"/>
              </a:rPr>
              <a:t>:</a:t>
            </a:r>
            <a:endParaRPr lang="en-US" sz="1800" dirty="0"/>
          </a:p>
        </p:txBody>
      </p:sp>
      <p:pic>
        <p:nvPicPr>
          <p:cNvPr id="4" name="Image 0" descr="zb"/>
          <p:cNvPicPr>
            <a:picLocks noChangeAspect="1"/>
          </p:cNvPicPr>
          <p:nvPr/>
        </p:nvPicPr>
        <p:blipFill>
          <a:blip r:embed="rId3"/>
          <a:stretch>
            <a:fillRect/>
          </a:stretch>
        </p:blipFill>
        <p:spPr>
          <a:xfrm>
            <a:off x="914400" y="2153412"/>
            <a:ext cx="1261557" cy="593395"/>
          </a:xfrm>
          <a:prstGeom prst="rect">
            <a:avLst/>
          </a:prstGeom>
        </p:spPr>
      </p:pic>
      <p:sp>
        <p:nvSpPr>
          <p:cNvPr id="5" name="Text 2"/>
          <p:cNvSpPr txBox="1"/>
          <p:nvPr/>
        </p:nvSpPr>
        <p:spPr>
          <a:xfrm>
            <a:off x="548640" y="2883967"/>
            <a:ext cx="11064240" cy="745236"/>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If you can get an SE from each resample, you can upgrade to the </a:t>
            </a:r>
            <a:r>
              <a:rPr lang="en-US" sz="1800" b="1" dirty="0">
                <a:solidFill>
                  <a:srgbClr val="FF42A1"/>
                </a:solidFill>
                <a:latin typeface="Aptos" pitchFamily="34" charset="0"/>
                <a:ea typeface="Aptos" pitchFamily="34" charset="-122"/>
                <a:cs typeface="Aptos" pitchFamily="34" charset="-120"/>
              </a:rPr>
              <a:t>studentized</a:t>
            </a:r>
            <a:r>
              <a:rPr lang="en-US" sz="1800" dirty="0">
                <a:solidFill>
                  <a:srgbClr val="3A3A3A"/>
                </a:solidFill>
                <a:latin typeface="Aptos" pitchFamily="34" charset="0"/>
                <a:ea typeface="Aptos" pitchFamily="34" charset="-122"/>
                <a:cs typeface="Aptos" pitchFamily="34" charset="-120"/>
              </a:rPr>
              <a:t> version, which has more variation because the SE is allowed to vary:</a:t>
            </a:r>
            <a:endParaRPr lang="en-US" sz="1800" dirty="0"/>
          </a:p>
        </p:txBody>
      </p:sp>
      <p:pic>
        <p:nvPicPr>
          <p:cNvPr id="6" name="Image 1" descr="tb"/>
          <p:cNvPicPr>
            <a:picLocks noChangeAspect="1"/>
          </p:cNvPicPr>
          <p:nvPr/>
        </p:nvPicPr>
        <p:blipFill>
          <a:blip r:embed="rId4"/>
          <a:stretch>
            <a:fillRect/>
          </a:stretch>
        </p:blipFill>
        <p:spPr>
          <a:xfrm>
            <a:off x="914400" y="3674923"/>
            <a:ext cx="1176380" cy="574467"/>
          </a:xfrm>
          <a:prstGeom prst="rect">
            <a:avLst/>
          </a:prstGeom>
        </p:spPr>
      </p:pic>
      <p:sp>
        <p:nvSpPr>
          <p:cNvPr id="7" name="Text 3"/>
          <p:cNvSpPr txBox="1"/>
          <p:nvPr/>
        </p:nvSpPr>
        <p:spPr>
          <a:xfrm>
            <a:off x="548640" y="4386551"/>
            <a:ext cx="11064240" cy="459486"/>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The analytical formula for OLS standard errors (you can bootstrap this by resampling rows):</a:t>
            </a:r>
            <a:endParaRPr lang="en-US" sz="1800" dirty="0"/>
          </a:p>
        </p:txBody>
      </p:sp>
      <p:pic>
        <p:nvPicPr>
          <p:cNvPr id="8" name="Image 2" descr="ols_se"/>
          <p:cNvPicPr>
            <a:picLocks noChangeAspect="1"/>
          </p:cNvPicPr>
          <p:nvPr/>
        </p:nvPicPr>
        <p:blipFill>
          <a:blip r:embed="rId5"/>
          <a:stretch>
            <a:fillRect/>
          </a:stretch>
        </p:blipFill>
        <p:spPr>
          <a:xfrm>
            <a:off x="914400" y="4891757"/>
            <a:ext cx="3419358" cy="593395"/>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ACFA8-48C2-8380-EA59-B9770CA0A5E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902BE8E-0A58-415E-4F47-F216C021AE0B}"/>
              </a:ext>
            </a:extLst>
          </p:cNvPr>
          <p:cNvSpPr>
            <a:spLocks noGrp="1"/>
          </p:cNvSpPr>
          <p:nvPr>
            <p:ph type="title" idx="100" hasCustomPrompt="1"/>
          </p:nvPr>
        </p:nvSpPr>
        <p:spPr>
          <a:xfrm>
            <a:off x="731520" y="1645920"/>
            <a:ext cx="10698480" cy="3566160"/>
          </a:xfrm>
          <a:prstGeom prst="rect">
            <a:avLst/>
          </a:prstGeom>
          <a:noFill/>
          <a:ln/>
        </p:spPr>
        <p:txBody>
          <a:bodyPr wrap="square" lIns="0" tIns="0" rIns="0" bIns="0" rtlCol="0" anchor="ctr"/>
          <a:lstStyle/>
          <a:p>
            <a:pPr marL="0" indent="0" algn="ctr">
              <a:buNone/>
            </a:pPr>
            <a:r>
              <a:rPr lang="en-US" sz="6000" b="1" dirty="0">
                <a:solidFill>
                  <a:schemeClr val="tx1"/>
                </a:solidFill>
              </a:rPr>
              <a:t>Inference routine</a:t>
            </a:r>
            <a:endParaRPr lang="en-US" sz="6000" dirty="0"/>
          </a:p>
        </p:txBody>
      </p:sp>
      <p:sp>
        <p:nvSpPr>
          <p:cNvPr id="25" name="Slide Number Placeholder 0">
            <a:extLst>
              <a:ext uri="{FF2B5EF4-FFF2-40B4-BE49-F238E27FC236}">
                <a16:creationId xmlns:a16="http://schemas.microsoft.com/office/drawing/2014/main" id="{93C43E0E-482C-A3FF-8300-1990A6DCFAB8}"/>
              </a:ext>
            </a:extLst>
          </p:cNvPr>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59</a:t>
            </a:fld>
            <a:endParaRPr lang="en-US"/>
          </a:p>
        </p:txBody>
      </p:sp>
    </p:spTree>
    <p:extLst>
      <p:ext uri="{BB962C8B-B14F-4D97-AF65-F5344CB8AC3E}">
        <p14:creationId xmlns:p14="http://schemas.microsoft.com/office/powerpoint/2010/main" val="29175381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525778BB-5B0C-8810-7002-FB3E326E5B74}"/>
                  </a:ext>
                </a:extLst>
              </p:cNvPr>
              <p:cNvSpPr>
                <a:spLocks noGrp="1"/>
              </p:cNvSpPr>
              <p:nvPr>
                <p:ph type="title" idx="100"/>
              </p:nvPr>
            </p:nvSpPr>
            <p:spPr>
              <a:xfrm>
                <a:off x="317500" y="698500"/>
                <a:ext cx="7713317" cy="5740400"/>
              </a:xfrm>
            </p:spPr>
            <p:txBody>
              <a:bodyPr/>
              <a:lstStyle/>
              <a:p>
                <a:pPr algn="l"/>
                <a:br>
                  <a:rPr lang="en-US" sz="2000" b="0" dirty="0"/>
                </a:br>
                <a:br>
                  <a:rPr lang="en-US" sz="2000" b="0" dirty="0"/>
                </a:br>
                <a:r>
                  <a:rPr lang="en-US" sz="2000" b="0" dirty="0"/>
                  <a:t>1. State the population parameter </a:t>
                </a:r>
                <a14:m>
                  <m:oMath xmlns:m="http://schemas.openxmlformats.org/officeDocument/2006/math">
                    <m:r>
                      <a:rPr lang="en-US" sz="2000" b="0" i="1" smtClean="0">
                        <a:latin typeface="Cambria Math" panose="02040503050406030204" pitchFamily="18" charset="0"/>
                        <a:ea typeface="Cambria Math" panose="02040503050406030204" pitchFamily="18" charset="0"/>
                      </a:rPr>
                      <m:t>𝜃</m:t>
                    </m:r>
                  </m:oMath>
                </a14:m>
                <a:r>
                  <a:rPr lang="en-US" sz="2000" b="0" dirty="0"/>
                  <a:t> in words and define the estimator </a:t>
                </a:r>
                <a14:m>
                  <m:oMath xmlns:m="http://schemas.openxmlformats.org/officeDocument/2006/math">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𝜃</m:t>
                        </m:r>
                      </m:e>
                    </m:acc>
                  </m:oMath>
                </a14:m>
                <a:br>
                  <a:rPr lang="en-US" sz="2000" b="0" dirty="0"/>
                </a:br>
                <a:r>
                  <a:rPr lang="en-US" sz="2000" b="0" dirty="0"/>
                  <a:t>2. Clean only the needed variables and report the resulting sample size(s).</a:t>
                </a:r>
                <a:br>
                  <a:rPr lang="en-US" sz="2000" b="0" dirty="0"/>
                </a:br>
                <a:r>
                  <a:rPr lang="en-US" sz="2000" b="0" dirty="0"/>
                  <a:t>3. Compute </a:t>
                </a:r>
                <a14:m>
                  <m:oMath xmlns:m="http://schemas.openxmlformats.org/officeDocument/2006/math">
                    <m:acc>
                      <m:accPr>
                        <m:chr m:val="̂"/>
                        <m:ctrlPr>
                          <a:rPr lang="en-US" sz="2000" b="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𝜃</m:t>
                        </m:r>
                      </m:e>
                    </m:acc>
                    <m:r>
                      <a:rPr lang="en-US" sz="2000" b="0" i="1" smtClean="0">
                        <a:latin typeface="Cambria Math" panose="02040503050406030204" pitchFamily="18" charset="0"/>
                        <a:ea typeface="Cambria Math" panose="02040503050406030204" pitchFamily="18" charset="0"/>
                      </a:rPr>
                      <m:t>.</m:t>
                    </m:r>
                  </m:oMath>
                </a14:m>
                <a:br>
                  <a:rPr lang="en-US" sz="2000" b="0" dirty="0"/>
                </a:br>
                <a:r>
                  <a:rPr lang="en-US" sz="2000" b="0" dirty="0"/>
                  <a:t>4. Generate at least R=2,000 nonparametric bootstrap estimates with a reproducible RNG. For two groups, resample independently within groups; for regressions, resample whole rows.</a:t>
                </a:r>
                <a:br>
                  <a:rPr lang="en-US" sz="2000" b="0" dirty="0"/>
                </a:br>
                <a:r>
                  <a:rPr lang="en-US" sz="2000" b="0" dirty="0"/>
                  <a:t>5. Estimate </a:t>
                </a: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𝑆𝐸</m:t>
                        </m:r>
                      </m:e>
                    </m:acc>
                    <m:r>
                      <a:rPr lang="en-US" sz="2000" b="0" i="1" smtClean="0">
                        <a:latin typeface="Cambria Math" panose="02040503050406030204" pitchFamily="18" charset="0"/>
                      </a:rPr>
                      <m:t>(</m:t>
                    </m:r>
                    <m:acc>
                      <m:accPr>
                        <m:chr m:val="̂"/>
                        <m:ctrlPr>
                          <a:rPr lang="en-US" sz="2000" b="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𝜃</m:t>
                        </m:r>
                      </m:e>
                    </m:acc>
                    <m:r>
                      <a:rPr lang="en-US" sz="2000" b="0" i="1" smtClean="0">
                        <a:latin typeface="Cambria Math" panose="02040503050406030204" pitchFamily="18" charset="0"/>
                      </a:rPr>
                      <m:t>)</m:t>
                    </m:r>
                  </m:oMath>
                </a14:m>
                <a:r>
                  <a:rPr lang="en-US" sz="2000" b="0" dirty="0"/>
                  <a:t> with the bootstrap standard deviation (`ddof=1`).</a:t>
                </a:r>
                <a:br>
                  <a:rPr lang="en-US" sz="2000" b="0" dirty="0"/>
                </a:br>
                <a:r>
                  <a:rPr lang="en-US" sz="2000" b="0" dirty="0"/>
                  <a:t>6. Construct centered-Normal 90%, 95%, and 99% CIs: </a:t>
                </a:r>
                <a14:m>
                  <m:oMath xmlns:m="http://schemas.openxmlformats.org/officeDocument/2006/math">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𝜃</m:t>
                        </m:r>
                      </m:e>
                    </m:acc>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𝑧</m:t>
                        </m:r>
                      </m:e>
                      <m:sup>
                        <m:r>
                          <a:rPr lang="en-US" sz="2000" b="0" i="1" smtClean="0">
                            <a:latin typeface="Cambria Math" panose="02040503050406030204" pitchFamily="18" charset="0"/>
                            <a:ea typeface="Cambria Math" panose="02040503050406030204" pitchFamily="18" charset="0"/>
                          </a:rPr>
                          <m:t>∗</m:t>
                        </m:r>
                      </m:sup>
                    </m:sSup>
                    <m:acc>
                      <m:accPr>
                        <m:chr m:val="̂"/>
                        <m:ctrlPr>
                          <a:rPr lang="en-US" sz="2000" b="0" i="1">
                            <a:latin typeface="Cambria Math" panose="02040503050406030204" pitchFamily="18" charset="0"/>
                          </a:rPr>
                        </m:ctrlPr>
                      </m:accPr>
                      <m:e>
                        <m:r>
                          <a:rPr lang="en-US" sz="2000" b="0" i="1">
                            <a:latin typeface="Cambria Math" panose="02040503050406030204" pitchFamily="18" charset="0"/>
                          </a:rPr>
                          <m:t>𝑆𝐸</m:t>
                        </m:r>
                      </m:e>
                    </m:acc>
                    <m:d>
                      <m:dPr>
                        <m:ctrlPr>
                          <a:rPr lang="en-US" sz="2000" b="0" i="1">
                            <a:latin typeface="Cambria Math" panose="02040503050406030204" pitchFamily="18" charset="0"/>
                            <a:ea typeface="Cambria Math" panose="02040503050406030204" pitchFamily="18" charset="0"/>
                          </a:rPr>
                        </m:ctrlPr>
                      </m:dPr>
                      <m:e>
                        <m:acc>
                          <m:accPr>
                            <m:chr m:val="̂"/>
                            <m:ctrlPr>
                              <a:rPr lang="en-US" sz="2000" b="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𝜃</m:t>
                            </m:r>
                          </m:e>
                        </m:acc>
                      </m:e>
                    </m:d>
                    <m:r>
                      <a:rPr lang="en-US" sz="2000" b="0" i="1" smtClean="0">
                        <a:latin typeface="Cambria Math" panose="02040503050406030204" pitchFamily="18" charset="0"/>
                        <a:ea typeface="Cambria Math" panose="02040503050406030204" pitchFamily="18" charset="0"/>
                      </a:rPr>
                      <m:t>.</m:t>
                    </m:r>
                  </m:oMath>
                </a14:m>
                <a:br>
                  <a:rPr lang="en-US" sz="2000" b="0" dirty="0"/>
                </a:br>
                <a:r>
                  <a:rPr lang="en-US" sz="2000" b="0" dirty="0"/>
                  <a:t>7. Test the stated null using </a:t>
                </a:r>
                <a14:m>
                  <m:oMath xmlns:m="http://schemas.openxmlformats.org/officeDocument/2006/math">
                    <m:r>
                      <a:rPr lang="en-US" sz="2000" b="0" i="1">
                        <a:latin typeface="Cambria Math" panose="02040503050406030204" pitchFamily="18" charset="0"/>
                        <a:ea typeface="Cambria Math" panose="02040503050406030204" pitchFamily="18" charset="0"/>
                      </a:rPr>
                      <m:t>𝑧</m:t>
                    </m:r>
                    <m:r>
                      <a:rPr lang="en-US" sz="2000" b="0" i="1">
                        <a:latin typeface="Cambria Math" panose="02040503050406030204" pitchFamily="18" charset="0"/>
                        <a:ea typeface="Cambria Math" panose="02040503050406030204" pitchFamily="18" charset="0"/>
                      </a:rPr>
                      <m:t>=</m:t>
                    </m:r>
                    <m:f>
                      <m:fPr>
                        <m:ctrlPr>
                          <a:rPr lang="en-US" sz="2000" b="0" i="1">
                            <a:latin typeface="Cambria Math" panose="02040503050406030204" pitchFamily="18" charset="0"/>
                            <a:ea typeface="Cambria Math" panose="02040503050406030204" pitchFamily="18" charset="0"/>
                          </a:rPr>
                        </m:ctrlPr>
                      </m:fPr>
                      <m:num>
                        <m:acc>
                          <m:accPr>
                            <m:chr m:val="̂"/>
                            <m:ctrlPr>
                              <a:rPr lang="en-US" sz="2000" b="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𝜃</m:t>
                            </m:r>
                          </m:e>
                        </m:acc>
                        <m:r>
                          <a:rPr lang="en-US" sz="2000" b="0" i="1">
                            <a:latin typeface="Cambria Math" panose="02040503050406030204" pitchFamily="18" charset="0"/>
                            <a:ea typeface="Cambria Math" panose="02040503050406030204" pitchFamily="18" charset="0"/>
                          </a:rPr>
                          <m:t>−</m:t>
                        </m:r>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𝜃</m:t>
                            </m:r>
                          </m:e>
                          <m:sub>
                            <m:r>
                              <a:rPr lang="en-US" sz="2000" b="0" i="1">
                                <a:latin typeface="Cambria Math" panose="02040503050406030204" pitchFamily="18" charset="0"/>
                                <a:ea typeface="Cambria Math" panose="02040503050406030204" pitchFamily="18" charset="0"/>
                              </a:rPr>
                              <m:t>0</m:t>
                            </m:r>
                          </m:sub>
                        </m:sSub>
                      </m:num>
                      <m:den>
                        <m:acc>
                          <m:accPr>
                            <m:chr m:val="̂"/>
                            <m:ctrlPr>
                              <a:rPr lang="en-US" sz="2000" b="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𝑆𝐸</m:t>
                            </m:r>
                          </m:e>
                        </m:acc>
                        <m:d>
                          <m:dPr>
                            <m:ctrlPr>
                              <a:rPr lang="en-US" sz="2000" b="0" i="1">
                                <a:latin typeface="Cambria Math" panose="02040503050406030204" pitchFamily="18" charset="0"/>
                                <a:ea typeface="Cambria Math" panose="02040503050406030204" pitchFamily="18" charset="0"/>
                              </a:rPr>
                            </m:ctrlPr>
                          </m:dPr>
                          <m:e>
                            <m:acc>
                              <m:accPr>
                                <m:chr m:val="̂"/>
                                <m:ctrlPr>
                                  <a:rPr lang="en-US" sz="2000" b="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𝜃</m:t>
                                </m:r>
                              </m:e>
                            </m:acc>
                          </m:e>
                        </m:d>
                      </m:den>
                    </m:f>
                  </m:oMath>
                </a14:m>
                <a:r>
                  <a:rPr lang="en-US" sz="2000" b="0" dirty="0"/>
                  <a:t> and </a:t>
                </a:r>
                <a14:m>
                  <m:oMath xmlns:m="http://schemas.openxmlformats.org/officeDocument/2006/math">
                    <m:r>
                      <a:rPr lang="en-US" sz="2000" b="0" i="1">
                        <a:latin typeface="Cambria Math" panose="02040503050406030204" pitchFamily="18" charset="0"/>
                        <a:ea typeface="Cambria Math" panose="02040503050406030204" pitchFamily="18" charset="0"/>
                      </a:rPr>
                      <m:t>𝑝</m:t>
                    </m:r>
                    <m:r>
                      <a:rPr lang="en-US" sz="2000" b="0" i="1">
                        <a:latin typeface="Cambria Math" panose="02040503050406030204" pitchFamily="18" charset="0"/>
                        <a:ea typeface="Cambria Math" panose="02040503050406030204" pitchFamily="18" charset="0"/>
                      </a:rPr>
                      <m:t>=2</m:t>
                    </m:r>
                    <m:r>
                      <m:rPr>
                        <m:sty m:val="p"/>
                      </m:rPr>
                      <a:rPr lang="en-US" sz="2000" b="0" i="1">
                        <a:latin typeface="Cambria Math" panose="02040503050406030204" pitchFamily="18" charset="0"/>
                        <a:ea typeface="Cambria Math" panose="02040503050406030204" pitchFamily="18" charset="0"/>
                      </a:rPr>
                      <m:t>Φ</m:t>
                    </m:r>
                    <m:d>
                      <m:dPr>
                        <m:ctrlPr>
                          <a:rPr lang="en-US" sz="2000" b="0" i="1">
                            <a:latin typeface="Cambria Math" panose="02040503050406030204" pitchFamily="18" charset="0"/>
                            <a:ea typeface="Cambria Math" panose="02040503050406030204" pitchFamily="18" charset="0"/>
                          </a:rPr>
                        </m:ctrlPr>
                      </m:dPr>
                      <m:e>
                        <m:r>
                          <a:rPr lang="en-US" sz="2000" b="0" i="1">
                            <a:latin typeface="Cambria Math" panose="02040503050406030204" pitchFamily="18" charset="0"/>
                            <a:ea typeface="Cambria Math" panose="02040503050406030204" pitchFamily="18" charset="0"/>
                          </a:rPr>
                          <m:t>−</m:t>
                        </m:r>
                        <m:d>
                          <m:dPr>
                            <m:begChr m:val="|"/>
                            <m:endChr m:val="|"/>
                            <m:ctrlPr>
                              <a:rPr lang="en-US" sz="2000" b="0" i="1">
                                <a:latin typeface="Cambria Math" panose="02040503050406030204" pitchFamily="18" charset="0"/>
                                <a:ea typeface="Cambria Math" panose="02040503050406030204" pitchFamily="18" charset="0"/>
                              </a:rPr>
                            </m:ctrlPr>
                          </m:dPr>
                          <m:e>
                            <m:r>
                              <a:rPr lang="en-US" sz="2000" b="0" i="1">
                                <a:latin typeface="Cambria Math" panose="02040503050406030204" pitchFamily="18" charset="0"/>
                                <a:ea typeface="Cambria Math" panose="02040503050406030204" pitchFamily="18" charset="0"/>
                              </a:rPr>
                              <m:t>𝑧</m:t>
                            </m:r>
                          </m:e>
                        </m:d>
                      </m:e>
                    </m:d>
                  </m:oMath>
                </a14:m>
                <a:r>
                  <a:rPr lang="en-US" sz="2000" b="0" dirty="0"/>
                  <a:t>. Decide at </a:t>
                </a:r>
                <a14:m>
                  <m:oMath xmlns:m="http://schemas.openxmlformats.org/officeDocument/2006/math">
                    <m:r>
                      <a:rPr lang="en-US" sz="2000" b="0" i="1">
                        <a:latin typeface="Cambria Math" panose="02040503050406030204" pitchFamily="18" charset="0"/>
                        <a:ea typeface="Cambria Math" panose="02040503050406030204" pitchFamily="18" charset="0"/>
                      </a:rPr>
                      <m:t>𝛼</m:t>
                    </m:r>
                    <m:r>
                      <a:rPr lang="en-US" sz="2000" b="0" i="1">
                        <a:latin typeface="Cambria Math" panose="02040503050406030204" pitchFamily="18" charset="0"/>
                        <a:ea typeface="Cambria Math" panose="02040503050406030204" pitchFamily="18" charset="0"/>
                      </a:rPr>
                      <m:t>=.10, .05, .01</m:t>
                    </m:r>
                  </m:oMath>
                </a14:m>
                <a:r>
                  <a:rPr lang="en-US" sz="2000" b="0" dirty="0"/>
                  <a:t>.</a:t>
                </a:r>
                <a:br>
                  <a:rPr lang="en-US" sz="2000" b="0" dirty="0"/>
                </a:br>
                <a:r>
                  <a:rPr lang="en-US" sz="2000" b="0" dirty="0"/>
                  <a:t>8. Confirm that every test decision agrees with whether the matching CI contains </a:t>
                </a:r>
                <a14:m>
                  <m:oMath xmlns:m="http://schemas.openxmlformats.org/officeDocument/2006/math">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𝜃</m:t>
                        </m:r>
                      </m:e>
                      <m:sub>
                        <m:r>
                          <a:rPr lang="en-US" sz="2000" b="0" i="1">
                            <a:latin typeface="Cambria Math" panose="02040503050406030204" pitchFamily="18" charset="0"/>
                            <a:ea typeface="Cambria Math" panose="02040503050406030204" pitchFamily="18" charset="0"/>
                          </a:rPr>
                          <m:t>0</m:t>
                        </m:r>
                      </m:sub>
                    </m:sSub>
                  </m:oMath>
                </a14:m>
                <a:r>
                  <a:rPr lang="en-US" sz="2000" b="0" dirty="0"/>
                  <a:t>.</a:t>
                </a:r>
                <a:br>
                  <a:rPr lang="en-US" sz="2000" b="0" dirty="0"/>
                </a:br>
                <a:r>
                  <a:rPr lang="en-US" sz="2000" b="0" dirty="0"/>
                  <a:t>9. Interpret the estimate, interval, and test in context. These are observational data: do not turn association into causation.</a:t>
                </a:r>
                <a:br>
                  <a:rPr lang="en-US" sz="2000" b="0" dirty="0"/>
                </a:br>
                <a:endParaRPr lang="en-US" sz="2000" dirty="0"/>
              </a:p>
            </p:txBody>
          </p:sp>
        </mc:Choice>
        <mc:Fallback>
          <p:sp>
            <p:nvSpPr>
              <p:cNvPr id="2" name="Title 1">
                <a:extLst>
                  <a:ext uri="{FF2B5EF4-FFF2-40B4-BE49-F238E27FC236}">
                    <a16:creationId xmlns:a16="http://schemas.microsoft.com/office/drawing/2014/main" id="{525778BB-5B0C-8810-7002-FB3E326E5B74}"/>
                  </a:ext>
                </a:extLst>
              </p:cNvPr>
              <p:cNvSpPr>
                <a:spLocks noGrp="1" noRot="1" noChangeAspect="1" noMove="1" noResize="1" noEditPoints="1" noAdjustHandles="1" noChangeArrowheads="1" noChangeShapeType="1" noTextEdit="1"/>
              </p:cNvSpPr>
              <p:nvPr>
                <p:ph type="title" idx="100"/>
              </p:nvPr>
            </p:nvSpPr>
            <p:spPr>
              <a:xfrm>
                <a:off x="317500" y="698500"/>
                <a:ext cx="7713317" cy="5740400"/>
              </a:xfrm>
              <a:blipFill>
                <a:blip r:embed="rId3"/>
                <a:stretch>
                  <a:fillRect l="-657" r="-657" b="-4646"/>
                </a:stretch>
              </a:blipFill>
            </p:spPr>
            <p:txBody>
              <a:bodyPr/>
              <a:lstStyle/>
              <a:p>
                <a:r>
                  <a:rPr lang="en-US">
                    <a:noFill/>
                  </a:rPr>
                  <a:t> </a:t>
                </a:r>
              </a:p>
            </p:txBody>
          </p:sp>
        </mc:Fallback>
      </mc:AlternateContent>
      <p:sp>
        <p:nvSpPr>
          <p:cNvPr id="3" name="Text 0">
            <a:extLst>
              <a:ext uri="{FF2B5EF4-FFF2-40B4-BE49-F238E27FC236}">
                <a16:creationId xmlns:a16="http://schemas.microsoft.com/office/drawing/2014/main" id="{DEFA7C62-8C57-FEB8-4E30-5F9C39886A42}"/>
              </a:ext>
            </a:extLst>
          </p:cNvPr>
          <p:cNvSpPr txBox="1">
            <a:spLocks/>
          </p:cNvSpPr>
          <p:nvPr/>
        </p:nvSpPr>
        <p:spPr>
          <a:xfrm>
            <a:off x="548640" y="320040"/>
            <a:ext cx="11064240" cy="777240"/>
          </a:xfrm>
          <a:prstGeom prst="rect">
            <a:avLst/>
          </a:prstGeom>
          <a:noFill/>
          <a:ln/>
        </p:spPr>
        <p:txBody>
          <a:bodyPr wrap="square" lIns="0" tIns="0" rIns="0" bIns="0" rtlCol="0" anchor="ctr"/>
          <a:lstStyle>
            <a:lvl1pPr marL="0" indent="0" algn="ctr" defTabSz="914400" rtl="0" eaLnBrk="1" latinLnBrk="0" hangingPunct="1">
              <a:spcBef>
                <a:spcPct val="0"/>
              </a:spcBef>
              <a:buNone/>
              <a:defRPr lang="en-US" sz="6000" b="1" kern="1200" dirty="0">
                <a:solidFill>
                  <a:schemeClr val="tx1"/>
                </a:solidFill>
                <a:latin typeface="+mj-lt"/>
                <a:ea typeface="+mj-ea"/>
                <a:cs typeface="+mj-cs"/>
              </a:defRPr>
            </a:lvl1pPr>
          </a:lstStyle>
          <a:p>
            <a:pPr algn="l"/>
            <a:r>
              <a:rPr lang="en-US" sz="3000" dirty="0"/>
              <a:t>Inference routine: </a:t>
            </a:r>
          </a:p>
          <a:p>
            <a:pPr algn="l"/>
            <a:r>
              <a:rPr lang="en-US" sz="3000" dirty="0"/>
              <a:t>bootstrapping an estimate to understand its uncertainty</a:t>
            </a:r>
          </a:p>
        </p:txBody>
      </p:sp>
      <p:sp>
        <p:nvSpPr>
          <p:cNvPr id="4" name="TextBox 3">
            <a:extLst>
              <a:ext uri="{FF2B5EF4-FFF2-40B4-BE49-F238E27FC236}">
                <a16:creationId xmlns:a16="http://schemas.microsoft.com/office/drawing/2014/main" id="{FE419903-A8B5-BB7A-2DD3-0C7A5AA14934}"/>
              </a:ext>
            </a:extLst>
          </p:cNvPr>
          <p:cNvSpPr txBox="1"/>
          <p:nvPr/>
        </p:nvSpPr>
        <p:spPr>
          <a:xfrm>
            <a:off x="8812696" y="1921430"/>
            <a:ext cx="2654410" cy="3970318"/>
          </a:xfrm>
          <a:prstGeom prst="rect">
            <a:avLst/>
          </a:prstGeom>
          <a:noFill/>
        </p:spPr>
        <p:txBody>
          <a:bodyPr wrap="square" rtlCol="0">
            <a:spAutoFit/>
          </a:bodyPr>
          <a:lstStyle/>
          <a:p>
            <a:pPr marL="342900" indent="-342900">
              <a:buAutoNum type="arabicPeriod"/>
            </a:pPr>
            <a:r>
              <a:rPr lang="en-US" b="1" dirty="0">
                <a:solidFill>
                  <a:schemeClr val="accent1"/>
                </a:solidFill>
              </a:rPr>
              <a:t>EXPLORE</a:t>
            </a:r>
            <a:r>
              <a:rPr lang="en-US" b="1" dirty="0"/>
              <a:t> the data non-parametrically before modeling</a:t>
            </a:r>
          </a:p>
          <a:p>
            <a:pPr marL="342900" indent="-342900">
              <a:buAutoNum type="arabicPeriod"/>
            </a:pPr>
            <a:r>
              <a:rPr lang="en-US" b="1" dirty="0">
                <a:solidFill>
                  <a:schemeClr val="accent1"/>
                </a:solidFill>
              </a:rPr>
              <a:t>ESTIMATION</a:t>
            </a:r>
            <a:r>
              <a:rPr lang="en-US" b="1" dirty="0"/>
              <a:t>: decide on what’s important</a:t>
            </a:r>
          </a:p>
          <a:p>
            <a:pPr marL="342900" indent="-342900">
              <a:buAutoNum type="arabicPeriod"/>
            </a:pPr>
            <a:r>
              <a:rPr lang="en-US" b="1" dirty="0">
                <a:solidFill>
                  <a:schemeClr val="accent1"/>
                </a:solidFill>
              </a:rPr>
              <a:t>INFERENCE</a:t>
            </a:r>
            <a:r>
              <a:rPr lang="en-US" b="1" dirty="0"/>
              <a:t>: non-parametric bootstrap evaluation of parameters</a:t>
            </a:r>
          </a:p>
          <a:p>
            <a:pPr marL="342900" indent="-342900">
              <a:buAutoNum type="arabicPeriod"/>
            </a:pPr>
            <a:r>
              <a:rPr lang="en-US" b="1" dirty="0">
                <a:solidFill>
                  <a:schemeClr val="accent1"/>
                </a:solidFill>
              </a:rPr>
              <a:t>PREDICTION</a:t>
            </a:r>
            <a:r>
              <a:rPr lang="en-US" b="1" dirty="0"/>
              <a:t> (and quantifying the uncertainty of predictions)</a:t>
            </a:r>
          </a:p>
        </p:txBody>
      </p:sp>
    </p:spTree>
    <p:extLst>
      <p:ext uri="{BB962C8B-B14F-4D97-AF65-F5344CB8AC3E}">
        <p14:creationId xmlns:p14="http://schemas.microsoft.com/office/powerpoint/2010/main" val="23152931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DC8DE-F6AD-A279-1F50-C274F884180D}"/>
              </a:ext>
            </a:extLst>
          </p:cNvPr>
          <p:cNvSpPr>
            <a:spLocks noGrp="1"/>
          </p:cNvSpPr>
          <p:nvPr>
            <p:ph type="title" idx="100"/>
          </p:nvPr>
        </p:nvSpPr>
        <p:spPr>
          <a:xfrm>
            <a:off x="731520" y="2332382"/>
            <a:ext cx="10698480" cy="2879697"/>
          </a:xfrm>
        </p:spPr>
        <p:txBody>
          <a:bodyPr/>
          <a:lstStyle/>
          <a:p>
            <a:r>
              <a:rPr lang="en-US" dirty="0"/>
              <a:t>Non-parametric exploration of data </a:t>
            </a:r>
            <a:r>
              <a:rPr lang="en-US" dirty="0">
                <a:solidFill>
                  <a:schemeClr val="accent1"/>
                </a:solidFill>
              </a:rPr>
              <a:t>BEFORE</a:t>
            </a:r>
            <a:r>
              <a:rPr lang="en-US" dirty="0"/>
              <a:t> modeling</a:t>
            </a:r>
          </a:p>
        </p:txBody>
      </p:sp>
      <p:sp>
        <p:nvSpPr>
          <p:cNvPr id="3" name="TextBox 2">
            <a:extLst>
              <a:ext uri="{FF2B5EF4-FFF2-40B4-BE49-F238E27FC236}">
                <a16:creationId xmlns:a16="http://schemas.microsoft.com/office/drawing/2014/main" id="{16C1142F-6BC3-DECB-2DBA-7E150F0DB4AD}"/>
              </a:ext>
            </a:extLst>
          </p:cNvPr>
          <p:cNvSpPr txBox="1"/>
          <p:nvPr/>
        </p:nvSpPr>
        <p:spPr>
          <a:xfrm>
            <a:off x="4237146" y="1809162"/>
            <a:ext cx="3687228" cy="523220"/>
          </a:xfrm>
          <a:prstGeom prst="rect">
            <a:avLst/>
          </a:prstGeom>
          <a:noFill/>
        </p:spPr>
        <p:txBody>
          <a:bodyPr wrap="none" rtlCol="0">
            <a:spAutoFit/>
          </a:bodyPr>
          <a:lstStyle/>
          <a:p>
            <a:r>
              <a:rPr lang="en-US" sz="2800" i="1" dirty="0"/>
              <a:t>You should ALWAYS do</a:t>
            </a:r>
          </a:p>
        </p:txBody>
      </p:sp>
    </p:spTree>
    <p:extLst>
      <p:ext uri="{BB962C8B-B14F-4D97-AF65-F5344CB8AC3E}">
        <p14:creationId xmlns:p14="http://schemas.microsoft.com/office/powerpoint/2010/main" val="24346017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DB993-7009-73DA-9963-8F4EABD2C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3BBEB-DBBC-EAA6-08AA-5723BC8B1098}"/>
              </a:ext>
            </a:extLst>
          </p:cNvPr>
          <p:cNvSpPr>
            <a:spLocks noGrp="1"/>
          </p:cNvSpPr>
          <p:nvPr>
            <p:ph type="title" idx="100"/>
          </p:nvPr>
        </p:nvSpPr>
        <p:spPr>
          <a:xfrm>
            <a:off x="265043" y="2478156"/>
            <a:ext cx="11661913" cy="2879697"/>
          </a:xfrm>
        </p:spPr>
        <p:txBody>
          <a:bodyPr/>
          <a:lstStyle/>
          <a:p>
            <a:r>
              <a:rPr lang="en-US" dirty="0"/>
              <a:t>Inference to evaluate estimators </a:t>
            </a:r>
            <a:r>
              <a:rPr lang="en-US" dirty="0">
                <a:solidFill>
                  <a:schemeClr val="accent1"/>
                </a:solidFill>
              </a:rPr>
              <a:t>NOT JUST</a:t>
            </a:r>
            <a:r>
              <a:rPr lang="en-US" dirty="0"/>
              <a:t> prediction</a:t>
            </a:r>
          </a:p>
        </p:txBody>
      </p:sp>
      <p:sp>
        <p:nvSpPr>
          <p:cNvPr id="3" name="TextBox 2">
            <a:extLst>
              <a:ext uri="{FF2B5EF4-FFF2-40B4-BE49-F238E27FC236}">
                <a16:creationId xmlns:a16="http://schemas.microsoft.com/office/drawing/2014/main" id="{F49946F9-BC83-C17B-E317-D54915CED310}"/>
              </a:ext>
            </a:extLst>
          </p:cNvPr>
          <p:cNvSpPr txBox="1"/>
          <p:nvPr/>
        </p:nvSpPr>
        <p:spPr>
          <a:xfrm>
            <a:off x="4237146" y="1809162"/>
            <a:ext cx="3687228" cy="523220"/>
          </a:xfrm>
          <a:prstGeom prst="rect">
            <a:avLst/>
          </a:prstGeom>
          <a:noFill/>
        </p:spPr>
        <p:txBody>
          <a:bodyPr wrap="none" rtlCol="0">
            <a:spAutoFit/>
          </a:bodyPr>
          <a:lstStyle/>
          <a:p>
            <a:r>
              <a:rPr lang="en-US" sz="2800" i="1" dirty="0"/>
              <a:t>You should ALWAYS do</a:t>
            </a:r>
          </a:p>
        </p:txBody>
      </p:sp>
    </p:spTree>
    <p:extLst>
      <p:ext uri="{BB962C8B-B14F-4D97-AF65-F5344CB8AC3E}">
        <p14:creationId xmlns:p14="http://schemas.microsoft.com/office/powerpoint/2010/main" val="33996103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At the Boards: Does It Pay for Itself?</a:t>
            </a:r>
            <a:endParaRPr lang="en-US" sz="3000" dirty="0"/>
          </a:p>
        </p:txBody>
      </p:sp>
      <p:sp>
        <p:nvSpPr>
          <p:cNvPr id="3" name="Text 1"/>
          <p:cNvSpPr txBox="1"/>
          <p:nvPr/>
        </p:nvSpPr>
        <p:spPr>
          <a:xfrm>
            <a:off x="548640" y="1280160"/>
            <a:ext cx="11064240" cy="5029200"/>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A retail chain pilots an energy-management system in 5 stores. It costs </a:t>
            </a:r>
            <a:r>
              <a:rPr lang="en-US" sz="2000" b="1" dirty="0">
                <a:solidFill>
                  <a:srgbClr val="FF42A1"/>
                </a:solidFill>
                <a:latin typeface="Aptos" pitchFamily="34" charset="0"/>
                <a:ea typeface="Aptos" pitchFamily="34" charset="-122"/>
                <a:cs typeface="Aptos" pitchFamily="34" charset="-120"/>
              </a:rPr>
              <a:t>$200 per store per month</a:t>
            </a:r>
            <a:r>
              <a:rPr lang="en-US" sz="2000" dirty="0">
                <a:solidFill>
                  <a:srgbClr val="3A3A3A"/>
                </a:solidFill>
                <a:latin typeface="Aptos" pitchFamily="34" charset="0"/>
                <a:ea typeface="Aptos" pitchFamily="34" charset="-122"/>
                <a:cs typeface="Aptos" pitchFamily="34" charset="-120"/>
              </a:rPr>
              <a:t>. Monthly savings on each store's electric bill: $</a:t>
            </a:r>
            <a:r>
              <a:rPr lang="en-US" sz="2000" b="1" dirty="0">
                <a:solidFill>
                  <a:srgbClr val="FF42A1"/>
                </a:solidFill>
                <a:latin typeface="Aptos" pitchFamily="34" charset="0"/>
                <a:ea typeface="Aptos" pitchFamily="34" charset="-122"/>
                <a:cs typeface="Aptos" pitchFamily="34" charset="-120"/>
              </a:rPr>
              <a:t>100, $300, $400, $500, $700</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1. Compute x̄, s², and the estimated SE</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2. Build a 95% CI with 1.96. Does the system save money at all? (Test H₀: average savings = 0)</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3. Does it pay for itself? Is the $200 break-even inside or outside your CI?</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4. The CFO writes: "There is a 95% chance the system saves between $204 and $596 per store." Rewrite it correctly</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5. All 5 pilot stores are in Phoenix. What does your CI tell you about the stores in Maine?</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At the Boards: Answers</a:t>
            </a:r>
            <a:endParaRPr lang="en-US" sz="3000" dirty="0"/>
          </a:p>
        </p:txBody>
      </p:sp>
      <p:sp>
        <p:nvSpPr>
          <p:cNvPr id="3" name="Text 1"/>
          <p:cNvSpPr txBox="1"/>
          <p:nvPr/>
        </p:nvSpPr>
        <p:spPr>
          <a:xfrm>
            <a:off x="548640" y="1280160"/>
            <a:ext cx="11064240" cy="5120640"/>
          </a:xfrm>
          <a:prstGeom prst="rect">
            <a:avLst/>
          </a:prstGeom>
          <a:noFill/>
          <a:ln/>
        </p:spPr>
        <p:txBody>
          <a:bodyPr wrap="square" lIns="0" tIns="0" rIns="0" bIns="0" rtlCol="0" anchor="t"/>
          <a:lstStyle/>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1. x̄ = 20/5 = </a:t>
            </a:r>
            <a:r>
              <a:rPr lang="en-US" sz="1700" b="1" dirty="0">
                <a:solidFill>
                  <a:srgbClr val="FF42A1"/>
                </a:solidFill>
                <a:latin typeface="Aptos" pitchFamily="34" charset="0"/>
                <a:ea typeface="Aptos" pitchFamily="34" charset="-122"/>
                <a:cs typeface="Aptos" pitchFamily="34" charset="-120"/>
              </a:rPr>
              <a:t>4</a:t>
            </a:r>
            <a:r>
              <a:rPr lang="en-US" sz="1700" dirty="0">
                <a:solidFill>
                  <a:srgbClr val="3A3A3A"/>
                </a:solidFill>
                <a:latin typeface="Aptos" pitchFamily="34" charset="0"/>
                <a:ea typeface="Aptos" pitchFamily="34" charset="-122"/>
                <a:cs typeface="Aptos" pitchFamily="34" charset="-120"/>
              </a:rPr>
              <a:t> ($400). Deviations −3, −1, 0, 1, 3, so the sum of squares is 20 and s² = 20/4 = </a:t>
            </a:r>
            <a:r>
              <a:rPr lang="en-US" sz="1700" b="1" dirty="0">
                <a:solidFill>
                  <a:srgbClr val="FF42A1"/>
                </a:solidFill>
                <a:latin typeface="Aptos" pitchFamily="34" charset="0"/>
                <a:ea typeface="Aptos" pitchFamily="34" charset="-122"/>
                <a:cs typeface="Aptos" pitchFamily="34" charset="-120"/>
              </a:rPr>
              <a:t>5</a:t>
            </a:r>
            <a:r>
              <a:rPr lang="en-US" sz="1700" dirty="0">
                <a:solidFill>
                  <a:srgbClr val="3A3A3A"/>
                </a:solidFill>
                <a:latin typeface="Aptos" pitchFamily="34" charset="0"/>
                <a:ea typeface="Aptos" pitchFamily="34" charset="-122"/>
                <a:cs typeface="Aptos" pitchFamily="34" charset="-120"/>
              </a:rPr>
              <a:t>. SE = √(5/5) = </a:t>
            </a:r>
            <a:r>
              <a:rPr lang="en-US" sz="1700" b="1" dirty="0">
                <a:solidFill>
                  <a:srgbClr val="FF42A1"/>
                </a:solidFill>
                <a:latin typeface="Aptos" pitchFamily="34" charset="0"/>
                <a:ea typeface="Aptos" pitchFamily="34" charset="-122"/>
                <a:cs typeface="Aptos" pitchFamily="34" charset="-120"/>
              </a:rPr>
              <a:t>1</a:t>
            </a:r>
            <a:r>
              <a:rPr lang="en-US" sz="1700" dirty="0">
                <a:solidFill>
                  <a:srgbClr val="3A3A3A"/>
                </a:solidFill>
                <a:latin typeface="Aptos" pitchFamily="34" charset="0"/>
                <a:ea typeface="Aptos" pitchFamily="34" charset="-122"/>
                <a:cs typeface="Aptos" pitchFamily="34" charset="-120"/>
              </a:rPr>
              <a:t> ($100)</a:t>
            </a:r>
            <a:endParaRPr lang="en-US" sz="1700" dirty="0"/>
          </a:p>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2. 4 ± 1.96 × 1 = </a:t>
            </a:r>
            <a:r>
              <a:rPr lang="en-US" sz="1700" b="1" dirty="0">
                <a:solidFill>
                  <a:srgbClr val="FF42A1"/>
                </a:solidFill>
                <a:latin typeface="Aptos" pitchFamily="34" charset="0"/>
                <a:ea typeface="Aptos" pitchFamily="34" charset="-122"/>
                <a:cs typeface="Aptos" pitchFamily="34" charset="-120"/>
              </a:rPr>
              <a:t>($204, $596)</a:t>
            </a:r>
            <a:r>
              <a:rPr lang="en-US" sz="1700" dirty="0">
                <a:solidFill>
                  <a:srgbClr val="3A3A3A"/>
                </a:solidFill>
                <a:latin typeface="Aptos" pitchFamily="34" charset="0"/>
                <a:ea typeface="Aptos" pitchFamily="34" charset="-122"/>
                <a:cs typeface="Aptos" pitchFamily="34" charset="-120"/>
              </a:rPr>
              <a:t>. 0 is outside, so reject H₀: it saves money (the estimate is 4 SEs from 0)</a:t>
            </a:r>
            <a:endParaRPr lang="en-US" sz="1700" dirty="0"/>
          </a:p>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3. The lower end, $204, is just above $200: it pays for itself, barely</a:t>
            </a:r>
            <a:endParaRPr lang="en-US" sz="1700" dirty="0"/>
          </a:p>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4. 4 ± 2.78 × 1 = </a:t>
            </a:r>
            <a:r>
              <a:rPr lang="en-US" sz="1700" b="1" dirty="0">
                <a:solidFill>
                  <a:srgbClr val="FF42A1"/>
                </a:solidFill>
                <a:latin typeface="Aptos" pitchFamily="34" charset="0"/>
                <a:ea typeface="Aptos" pitchFamily="34" charset="-122"/>
                <a:cs typeface="Aptos" pitchFamily="34" charset="-120"/>
              </a:rPr>
              <a:t>($122, $678)</a:t>
            </a:r>
            <a:r>
              <a:rPr lang="en-US" sz="1700" dirty="0">
                <a:solidFill>
                  <a:srgbClr val="3A3A3A"/>
                </a:solidFill>
                <a:latin typeface="Aptos" pitchFamily="34" charset="0"/>
                <a:ea typeface="Aptos" pitchFamily="34" charset="-122"/>
                <a:cs typeface="Aptos" pitchFamily="34" charset="-120"/>
              </a:rPr>
              <a:t>. Still saves money, but $200 is now inside: we can't be confident it pays for itself. Same data, different decision, because 5 stores give a noisy SE. Pilot more stores before rolling out</a:t>
            </a:r>
            <a:endParaRPr lang="en-US" sz="1700" dirty="0"/>
          </a:p>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4. "If we ran this pilot on 5 new stores many times, about 95% of the intervals built this way would contain the true average savings." The true savings is fixed: it is either in ($204, $596) or it isn’t</a:t>
            </a:r>
            <a:endParaRPr lang="en-US" sz="1700" dirty="0"/>
          </a:p>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5. Not much. The interval targets Phoenix stores, where air conditioning drives the bill. More Phoenix stores would shrink the SE but not change the target (like the landline poll)</a:t>
            </a:r>
            <a:endParaRPr lang="en-US" sz="17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dirty="0"/>
              <a:t>Coding e</a:t>
            </a:r>
            <a:r>
              <a:rPr lang="en-US" sz="3000" b="1" dirty="0">
                <a:solidFill>
                  <a:schemeClr val="tx1"/>
                </a:solidFill>
              </a:rPr>
              <a:t>xample</a:t>
            </a:r>
            <a:endParaRPr lang="en-US" sz="3000" dirty="0"/>
          </a:p>
        </p:txBody>
      </p:sp>
      <p:sp>
        <p:nvSpPr>
          <p:cNvPr id="3" name="Text 1"/>
          <p:cNvSpPr txBox="1"/>
          <p:nvPr/>
        </p:nvSpPr>
        <p:spPr>
          <a:xfrm>
            <a:off x="548640" y="1280160"/>
            <a:ext cx="11064240" cy="2643124"/>
          </a:xfrm>
          <a:prstGeom prst="rect">
            <a:avLst/>
          </a:prstGeom>
          <a:noFill/>
          <a:ln/>
        </p:spPr>
        <p:txBody>
          <a:bodyPr wrap="square" lIns="0" tIns="0" rIns="0" bIns="0" rtlCol="0" anchor="t"/>
          <a:lstStyle/>
          <a:p>
            <a:pPr marL="285750" indent="-285750">
              <a:buFont typeface="Arial" panose="020B0604020202020204" pitchFamily="34" charset="0"/>
              <a:buChar char="•"/>
            </a:pPr>
            <a:r>
              <a:rPr lang="en-US" sz="2000" dirty="0"/>
              <a:t>Load the </a:t>
            </a:r>
            <a:r>
              <a:rPr lang="en-US" sz="2000" dirty="0" err="1"/>
              <a:t>Metabric</a:t>
            </a:r>
            <a:r>
              <a:rPr lang="en-US" sz="2000" dirty="0"/>
              <a:t> breast cancer dataset, and describe/plot `Overall Survival (Months)`.</a:t>
            </a:r>
          </a:p>
          <a:p>
            <a:pPr marL="285750" indent="-285750">
              <a:buFont typeface="Arial" panose="020B0604020202020204" pitchFamily="34" charset="0"/>
              <a:buChar char="•"/>
            </a:pPr>
            <a:r>
              <a:rPr lang="en-US" sz="2000" dirty="0"/>
              <a:t>Describe a strategy for selecting variables that you'll use to predict `Overall Survival (Months)`, then implement your strategy and run your regression.</a:t>
            </a:r>
          </a:p>
          <a:p>
            <a:pPr marL="285750" indent="-285750">
              <a:buFont typeface="Arial" panose="020B0604020202020204" pitchFamily="34" charset="0"/>
              <a:buChar char="•"/>
            </a:pPr>
            <a:r>
              <a:rPr lang="en-US" sz="2000" dirty="0"/>
              <a:t>Construct 90/95/99% non-parametric Bootstrap confidence intervals for the coefficients of your regression, as well as ones based on the Normal approximation using the standard deviation of the bootstrap sample as the standard error of the sampling distribution. How do they compare?</a:t>
            </a:r>
          </a:p>
          <a:p>
            <a:pPr marL="285750" indent="-285750">
              <a:buFont typeface="Arial" panose="020B0604020202020204" pitchFamily="34" charset="0"/>
              <a:buChar char="•"/>
            </a:pPr>
            <a:r>
              <a:rPr lang="en-US" sz="2000" dirty="0"/>
              <a:t>Which variables are statistically significant, and at what levels?</a:t>
            </a:r>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45920"/>
            <a:ext cx="10698480" cy="3566160"/>
          </a:xfrm>
          <a:prstGeom prst="rect">
            <a:avLst/>
          </a:prstGeom>
          <a:noFill/>
          <a:ln/>
        </p:spPr>
        <p:txBody>
          <a:bodyPr wrap="square" lIns="0" tIns="0" rIns="0" bIns="0" rtlCol="0" anchor="ctr"/>
          <a:lstStyle/>
          <a:p>
            <a:pPr marL="0" indent="0" algn="ctr">
              <a:buNone/>
            </a:pPr>
            <a:r>
              <a:rPr lang="en-US" sz="6000" b="1" dirty="0">
                <a:solidFill>
                  <a:schemeClr val="tx1"/>
                </a:solidFill>
              </a:rPr>
              <a:t>Summary</a:t>
            </a:r>
            <a:endParaRPr lang="en-US" sz="6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66</a:t>
            </a:fld>
            <a:endParaRPr lang="en-US"/>
          </a:p>
        </p:txBody>
      </p:sp>
    </p:spTree>
    <p:extLst>
      <p:ext uri="{BB962C8B-B14F-4D97-AF65-F5344CB8AC3E}">
        <p14:creationId xmlns:p14="http://schemas.microsoft.com/office/powerpoint/2010/main" val="36988412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DE30-77F6-09B6-7A34-5BF7E0DC27BE}"/>
              </a:ext>
            </a:extLst>
          </p:cNvPr>
          <p:cNvSpPr>
            <a:spLocks noGrp="1"/>
          </p:cNvSpPr>
          <p:nvPr>
            <p:ph type="title" idx="100"/>
          </p:nvPr>
        </p:nvSpPr>
        <p:spPr/>
        <p:txBody>
          <a:bodyPr/>
          <a:lstStyle/>
          <a:p>
            <a:r>
              <a:rPr lang="en-US" sz="3200" b="0" dirty="0"/>
              <a:t>Five Things to Think About</a:t>
            </a:r>
            <a:endParaRPr lang="en-US" dirty="0"/>
          </a:p>
        </p:txBody>
      </p:sp>
      <p:sp>
        <p:nvSpPr>
          <p:cNvPr id="4" name="TextBox 3">
            <a:extLst>
              <a:ext uri="{FF2B5EF4-FFF2-40B4-BE49-F238E27FC236}">
                <a16:creationId xmlns:a16="http://schemas.microsoft.com/office/drawing/2014/main" id="{7C1D8DAA-A943-6BA0-9548-D2ABE3619356}"/>
              </a:ext>
            </a:extLst>
          </p:cNvPr>
          <p:cNvSpPr txBox="1"/>
          <p:nvPr/>
        </p:nvSpPr>
        <p:spPr>
          <a:xfrm>
            <a:off x="548640" y="1225936"/>
            <a:ext cx="11304054" cy="4893647"/>
          </a:xfrm>
          <a:prstGeom prst="rect">
            <a:avLst/>
          </a:prstGeom>
          <a:noFill/>
        </p:spPr>
        <p:txBody>
          <a:bodyPr wrap="square">
            <a:spAutoFit/>
          </a:bodyPr>
          <a:lstStyle/>
          <a:p>
            <a:pPr marL="342900" lvl="0" indent="-342900" algn="l">
              <a:buFont typeface="+mj-lt"/>
              <a:buAutoNum type="arabicPeriod"/>
            </a:pPr>
            <a:r>
              <a:rPr lang="en-US" sz="2400" b="0" i="0" dirty="0">
                <a:effectLst/>
                <a:latin typeface="+mn-lt"/>
              </a:rPr>
              <a:t>The parameter is fixed but unknown. We're trying to learn something about a property of the population.</a:t>
            </a:r>
          </a:p>
          <a:p>
            <a:pPr marL="342900" lvl="0" indent="-342900" algn="l">
              <a:buFont typeface="+mj-lt"/>
              <a:buAutoNum type="arabicPeriod"/>
            </a:pPr>
            <a:r>
              <a:rPr lang="en-US" sz="2400" b="0" i="0" dirty="0">
                <a:effectLst/>
                <a:latin typeface="+mn-lt"/>
              </a:rPr>
              <a:t>Our estimates/confidence intervals are random variables of the data. Different samples produce different estimates, even for the same population doesn't change.</a:t>
            </a:r>
          </a:p>
          <a:p>
            <a:pPr marL="342900" lvl="0" indent="-342900" algn="l">
              <a:buFont typeface="+mj-lt"/>
              <a:buAutoNum type="arabicPeriod"/>
            </a:pPr>
            <a:r>
              <a:rPr lang="en-US" sz="2400" b="0" i="0" dirty="0">
                <a:effectLst/>
                <a:latin typeface="+mn-lt"/>
              </a:rPr>
              <a:t>The standard error measures variability in our estimators, and bootstrapping gives us a practical way to estimate it.</a:t>
            </a:r>
          </a:p>
          <a:p>
            <a:pPr marL="342900" lvl="0" indent="-342900" algn="l">
              <a:buFont typeface="+mj-lt"/>
              <a:buAutoNum type="arabicPeriod"/>
            </a:pPr>
            <a:r>
              <a:rPr lang="en-US" sz="2400" b="0" i="0" dirty="0">
                <a:effectLst/>
                <a:latin typeface="+mn-lt"/>
              </a:rPr>
              <a:t>The confidence interval translates variability into uncertainty about the parameter. Under the Normal approximation, that's . A hypothesized value outside the corresponding interval is rejected as implausible give the data and estimator.</a:t>
            </a:r>
          </a:p>
          <a:p>
            <a:pPr marL="342900" lvl="0" indent="-342900" algn="l">
              <a:buFont typeface="+mj-lt"/>
              <a:buAutoNum type="arabicPeriod"/>
            </a:pPr>
            <a:r>
              <a:rPr lang="en-US" sz="2400" b="0" i="0" dirty="0">
                <a:effectLst/>
                <a:latin typeface="+mn-lt"/>
              </a:rPr>
              <a:t>The Bootstrap and the CLT are different approaches to understanding the underlying sampling distribution and making inferences about it, with their own strengths and weaknesses.</a:t>
            </a:r>
            <a:endParaRPr lang="en-US" sz="1200" b="0" i="0" dirty="0">
              <a:effectLst/>
              <a:latin typeface="system-ui"/>
            </a:endParaRPr>
          </a:p>
        </p:txBody>
      </p:sp>
    </p:spTree>
    <p:extLst>
      <p:ext uri="{BB962C8B-B14F-4D97-AF65-F5344CB8AC3E}">
        <p14:creationId xmlns:p14="http://schemas.microsoft.com/office/powerpoint/2010/main" val="12792294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Summary</a:t>
            </a:r>
            <a:endParaRPr lang="en-US" sz="3000" dirty="0"/>
          </a:p>
        </p:txBody>
      </p:sp>
      <p:sp>
        <p:nvSpPr>
          <p:cNvPr id="3" name="Text 1"/>
          <p:cNvSpPr txBox="1"/>
          <p:nvPr/>
        </p:nvSpPr>
        <p:spPr>
          <a:xfrm>
            <a:off x="548640" y="1280160"/>
            <a:ext cx="11064240" cy="2008124"/>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The </a:t>
            </a:r>
            <a:r>
              <a:rPr lang="en-US" sz="2000" b="1" dirty="0">
                <a:solidFill>
                  <a:srgbClr val="FF42A1"/>
                </a:solidFill>
                <a:latin typeface="Aptos" pitchFamily="34" charset="0"/>
                <a:ea typeface="Aptos" pitchFamily="34" charset="-122"/>
                <a:cs typeface="Aptos" pitchFamily="34" charset="-120"/>
              </a:rPr>
              <a:t>standard error</a:t>
            </a:r>
            <a:r>
              <a:rPr lang="en-US" sz="2000" dirty="0">
                <a:solidFill>
                  <a:srgbClr val="3A3A3A"/>
                </a:solidFill>
                <a:latin typeface="Aptos" pitchFamily="34" charset="0"/>
                <a:ea typeface="Aptos" pitchFamily="34" charset="-122"/>
                <a:cs typeface="Aptos" pitchFamily="34" charset="-120"/>
              </a:rPr>
              <a:t> is the standard deviation of the sampling distribution</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The </a:t>
            </a:r>
            <a:r>
              <a:rPr lang="en-US" sz="2000" b="1" dirty="0">
                <a:solidFill>
                  <a:srgbClr val="FF42A1"/>
                </a:solidFill>
                <a:latin typeface="Aptos" pitchFamily="34" charset="0"/>
                <a:ea typeface="Aptos" pitchFamily="34" charset="-122"/>
                <a:cs typeface="Aptos" pitchFamily="34" charset="-120"/>
              </a:rPr>
              <a:t>bootstrap</a:t>
            </a:r>
            <a:r>
              <a:rPr lang="en-US" sz="2000" dirty="0">
                <a:solidFill>
                  <a:srgbClr val="3A3A3A"/>
                </a:solidFill>
                <a:latin typeface="Aptos" pitchFamily="34" charset="0"/>
                <a:ea typeface="Aptos" pitchFamily="34" charset="-122"/>
                <a:cs typeface="Aptos" pitchFamily="34" charset="-120"/>
              </a:rPr>
              <a:t> estimates the spread and shape of the sampling distribution from one sample</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The </a:t>
            </a:r>
            <a:r>
              <a:rPr lang="en-US" sz="2000" b="1" dirty="0">
                <a:solidFill>
                  <a:srgbClr val="FF42A1"/>
                </a:solidFill>
                <a:latin typeface="Aptos" pitchFamily="34" charset="0"/>
                <a:ea typeface="Aptos" pitchFamily="34" charset="-122"/>
                <a:cs typeface="Aptos" pitchFamily="34" charset="-120"/>
              </a:rPr>
              <a:t>CLT</a:t>
            </a:r>
            <a:r>
              <a:rPr lang="en-US" sz="2000" dirty="0">
                <a:solidFill>
                  <a:srgbClr val="3A3A3A"/>
                </a:solidFill>
                <a:latin typeface="Aptos" pitchFamily="34" charset="0"/>
                <a:ea typeface="Aptos" pitchFamily="34" charset="-122"/>
                <a:cs typeface="Aptos" pitchFamily="34" charset="-120"/>
              </a:rPr>
              <a:t> says that, standardized, the sampling distribution is approximately N(0, 1): that's why the bootstrap pictures all looked the same</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So we can replace bootstrap quantiles with ±1.645, 1.96, 2.576:</a:t>
            </a:r>
            <a:endParaRPr lang="en-US" sz="2000" dirty="0"/>
          </a:p>
        </p:txBody>
      </p:sp>
      <p:pic>
        <p:nvPicPr>
          <p:cNvPr id="4" name="Image 0" descr="summary"/>
          <p:cNvPicPr>
            <a:picLocks noChangeAspect="1"/>
          </p:cNvPicPr>
          <p:nvPr/>
        </p:nvPicPr>
        <p:blipFill>
          <a:blip r:embed="rId3"/>
          <a:stretch>
            <a:fillRect/>
          </a:stretch>
        </p:blipFill>
        <p:spPr>
          <a:xfrm>
            <a:off x="5120640" y="3379724"/>
            <a:ext cx="2702614" cy="628833"/>
          </a:xfrm>
          <a:prstGeom prst="rect">
            <a:avLst/>
          </a:prstGeom>
        </p:spPr>
      </p:pic>
      <p:sp>
        <p:nvSpPr>
          <p:cNvPr id="5" name="Text 2"/>
          <p:cNvSpPr txBox="1"/>
          <p:nvPr/>
        </p:nvSpPr>
        <p:spPr>
          <a:xfrm>
            <a:off x="548640" y="4282877"/>
            <a:ext cx="11064240" cy="1526032"/>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A CI is a reliability claim about the procedure. A test asks whether the null value is inside the CI</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It breaks with dependence, heavy tails, small samples of skewed data, and estimates that aren't averages</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C8C8C"/>
                </a:solidFill>
              </a:defRPr>
            </a:lvl1pPr>
          </a:lstStyle>
          <a:p>
            <a:pPr algn="r"/>
            <a:fld id="{F7021451-1387-4CA6-816F-3879F97B5CBC}" type="slidenum">
              <a:rPr lang="en-US" b="0"/>
              <a:t>68</a:t>
            </a:fld>
            <a:endParaRPr lang="en-US"/>
          </a:p>
        </p:txBody>
      </p:sp>
    </p:spTree>
    <p:extLst>
      <p:ext uri="{BB962C8B-B14F-4D97-AF65-F5344CB8AC3E}">
        <p14:creationId xmlns:p14="http://schemas.microsoft.com/office/powerpoint/2010/main" val="4181845174"/>
      </p:ext>
    </p:extLst>
  </p:cSld>
  <p:clrMapOvr>
    <a:masterClrMapping/>
  </p:clrMapOvr>
</p:sld>
</file>

<file path=ppt/theme/theme1.xml><?xml version="1.0" encoding="utf-8"?>
<a:theme xmlns:a="http://schemas.openxmlformats.org/drawingml/2006/main" name="DS5030">
  <a:themeElements>
    <a:clrScheme name="DS5030">
      <a:dk1>
        <a:srgbClr val="000000"/>
      </a:dk1>
      <a:lt1>
        <a:srgbClr val="FFFFFF"/>
      </a:lt1>
      <a:dk2>
        <a:srgbClr val="3A3A3A"/>
      </a:dk2>
      <a:lt2>
        <a:srgbClr val="F2F2F2"/>
      </a:lt2>
      <a:accent1>
        <a:srgbClr val="FF42A1"/>
      </a:accent1>
      <a:accent2>
        <a:srgbClr val="00A2FF"/>
      </a:accent2>
      <a:accent3>
        <a:srgbClr val="61D836"/>
      </a:accent3>
      <a:accent4>
        <a:srgbClr val="FFD932"/>
      </a:accent4>
      <a:accent5>
        <a:srgbClr val="FF644E"/>
      </a:accent5>
      <a:accent6>
        <a:srgbClr val="5E5E5E"/>
      </a:accent6>
      <a:hlink>
        <a:srgbClr val="FF42A1"/>
      </a:hlink>
      <a:folHlink>
        <a:srgbClr val="5E5E5E"/>
      </a:folHlink>
    </a:clrScheme>
    <a:fontScheme name="DS5030">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171</TotalTime>
  <Words>6426</Words>
  <Application>Microsoft Macintosh PowerPoint</Application>
  <PresentationFormat>Widescreen</PresentationFormat>
  <Paragraphs>578</Paragraphs>
  <Slides>68</Slides>
  <Notes>45</Notes>
  <HiddenSlides>8</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68</vt:i4>
      </vt:variant>
    </vt:vector>
  </HeadingPairs>
  <TitlesOfParts>
    <vt:vector size="73" baseType="lpstr">
      <vt:lpstr>Aptos</vt:lpstr>
      <vt:lpstr>Arial</vt:lpstr>
      <vt:lpstr>Cambria Math</vt:lpstr>
      <vt:lpstr>system-ui</vt:lpstr>
      <vt:lpstr>DS5030</vt:lpstr>
      <vt:lpstr>From Bootstrap to Asymptotic Inference</vt:lpstr>
      <vt:lpstr>Where we are/where we are going</vt:lpstr>
      <vt:lpstr>Roadmap for today</vt:lpstr>
      <vt:lpstr>The sampling distribution and standard error</vt:lpstr>
      <vt:lpstr>Review: The Sampling Distribution</vt:lpstr>
      <vt:lpstr>The standard error is the standard deviation of the sampling distribution </vt:lpstr>
      <vt:lpstr>The standard error is the standard deviation of the sampling distribution! </vt:lpstr>
      <vt:lpstr>The standard error is the standard deviation of the sampling distribution!! </vt:lpstr>
      <vt:lpstr>The standard error is the standard deviation of the sampling distribution!!! </vt:lpstr>
      <vt:lpstr>Let’s work out an example with a very small population</vt:lpstr>
      <vt:lpstr>Let’s work out an example with a very small population</vt:lpstr>
      <vt:lpstr>Two Ways to Get the Standard Error</vt:lpstr>
      <vt:lpstr>Estimating the Standard Error</vt:lpstr>
      <vt:lpstr>But the Estimated SE Is Still Biased Low</vt:lpstr>
      <vt:lpstr>Exercise</vt:lpstr>
      <vt:lpstr>Bootstrapping</vt:lpstr>
      <vt:lpstr>Review: Sampling Distribution vs. Bootstrap Distribution</vt:lpstr>
      <vt:lpstr>Three Students, One Population</vt:lpstr>
      <vt:lpstr>Bootstrapping a regression</vt:lpstr>
      <vt:lpstr>Hedonic Pricing: Ames, Iowa</vt:lpstr>
      <vt:lpstr>Regress arcsinh(price) on total rooms, arcsinh(age), arcsinh(area), and full-bath dummies, with an intercept </vt:lpstr>
      <vt:lpstr>Bootstrapped Coefficients</vt:lpstr>
      <vt:lpstr>Fitting the Bootstrapped Sampling Distribution</vt:lpstr>
      <vt:lpstr>z-Score Normalization</vt:lpstr>
      <vt:lpstr>Raw vs. z-Scored</vt:lpstr>
      <vt:lpstr>Raw vs. z-Scored</vt:lpstr>
      <vt:lpstr>Raw vs. z-Scored</vt:lpstr>
      <vt:lpstr>Raw vs. z-Scored</vt:lpstr>
      <vt:lpstr>Raw vs. z-Scored</vt:lpstr>
      <vt:lpstr>Raw vs. z-Scored</vt:lpstr>
      <vt:lpstr>Raw vs. z-Scored</vt:lpstr>
      <vt:lpstr>But Wait</vt:lpstr>
      <vt:lpstr>Checkpoint: Discuss with someone sitting next to you</vt:lpstr>
      <vt:lpstr>Checkpoint Answers</vt:lpstr>
      <vt:lpstr>Checkpoint: At the Boards</vt:lpstr>
      <vt:lpstr>Why it works: the CLT</vt:lpstr>
      <vt:lpstr>The Law of Large Numbers</vt:lpstr>
      <vt:lpstr>Two Kinds of Getting Close</vt:lpstr>
      <vt:lpstr>The Central Limit Theorem</vt:lpstr>
      <vt:lpstr>What the CLT Does Not Say</vt:lpstr>
      <vt:lpstr>Why We Can Plug In s for σ</vt:lpstr>
      <vt:lpstr>Example: A Rare Event</vt:lpstr>
      <vt:lpstr>Confidence intervals and tests</vt:lpstr>
      <vt:lpstr>Just Memorize These</vt:lpstr>
      <vt:lpstr>Constructing Confidence Intervals</vt:lpstr>
      <vt:lpstr>Thought Experiment: Would the CLT work in each case?</vt:lpstr>
      <vt:lpstr>Thought Experiment: Answers</vt:lpstr>
      <vt:lpstr>Example</vt:lpstr>
      <vt:lpstr>Exercise on the board</vt:lpstr>
      <vt:lpstr>Exercise: Answers</vt:lpstr>
      <vt:lpstr>What Is a Confidence Interval?</vt:lpstr>
      <vt:lpstr>CI to Hypothesis Test: TEST = INTERVAL</vt:lpstr>
      <vt:lpstr>The CI Is Not...</vt:lpstr>
      <vt:lpstr>The CI Is...</vt:lpstr>
      <vt:lpstr>Coverage You Can Count</vt:lpstr>
      <vt:lpstr>Coverage You Can Count: Answers</vt:lpstr>
      <vt:lpstr>Is the SE Itself Uncertain?</vt:lpstr>
      <vt:lpstr>More on Standard Errors</vt:lpstr>
      <vt:lpstr>Inference routine</vt:lpstr>
      <vt:lpstr>  1. State the population parameter θ in words and define the estimator θ ̂ 2. Clean only the needed variables and report the resulting sample size(s). 3. Compute θ ̂. 4. Generate at least R=2,000 nonparametric bootstrap estimates with a reproducible RNG. For two groups, resample independently within groups; for regressions, resample whole rows. 5. Estimate (SE) ̂(θ ̂) with the bootstrap standard deviation (`ddof=1`). 6. Construct centered-Normal 90%, 95%, and 99% CIs: θ ̂±z^∗ (SE) ̂(θ ̂ ). 7. Test the stated null using z=(θ ̂-θ_0)/((SE) ̂(θ ̂ ) ) and p=2Φ(-|z|). Decide at α=.10, .05, .01. 8. Confirm that every test decision agrees with whether the matching CI contains θ_0. 9. Interpret the estimate, interval, and test in context. These are observational data: do not turn association into causation. </vt:lpstr>
      <vt:lpstr>Non-parametric exploration of data BEFORE modeling</vt:lpstr>
      <vt:lpstr>Inference to evaluate estimators NOT JUST prediction</vt:lpstr>
      <vt:lpstr>At the Boards: Does It Pay for Itself?</vt:lpstr>
      <vt:lpstr>At the Boards: Answers</vt:lpstr>
      <vt:lpstr>Coding example</vt:lpstr>
      <vt:lpstr>Summary</vt:lpstr>
      <vt:lpstr>Five Things to Think About</vt:lpstr>
      <vt:lpstr>Summary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Bootstrap to Asymptotic Inference</dc:title>
  <dc:subject>PptxGenJS Presentation</dc:subject>
  <dc:creator>Sarah Groves</dc:creator>
  <cp:lastModifiedBy>Groves, Sarah</cp:lastModifiedBy>
  <cp:revision>80</cp:revision>
  <dcterms:created xsi:type="dcterms:W3CDTF">2026-10-12T19:25:21Z</dcterms:created>
  <dcterms:modified xsi:type="dcterms:W3CDTF">2026-10-13T14:47:56Z</dcterms:modified>
</cp:coreProperties>
</file>