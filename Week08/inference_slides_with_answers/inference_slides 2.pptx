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334" r:id="rId3"/>
    <p:sldId id="282" r:id="rId4"/>
    <p:sldId id="286" r:id="rId5"/>
    <p:sldId id="283" r:id="rId6"/>
    <p:sldId id="279" r:id="rId7"/>
    <p:sldId id="314" r:id="rId8"/>
    <p:sldId id="285" r:id="rId9"/>
    <p:sldId id="317" r:id="rId10"/>
    <p:sldId id="287" r:id="rId11"/>
    <p:sldId id="326" r:id="rId12"/>
    <p:sldId id="330" r:id="rId13"/>
    <p:sldId id="288" r:id="rId14"/>
    <p:sldId id="289" r:id="rId15"/>
    <p:sldId id="318" r:id="rId16"/>
    <p:sldId id="290" r:id="rId17"/>
    <p:sldId id="327" r:id="rId18"/>
    <p:sldId id="328" r:id="rId19"/>
    <p:sldId id="329" r:id="rId20"/>
    <p:sldId id="331" r:id="rId21"/>
    <p:sldId id="321" r:id="rId22"/>
    <p:sldId id="323" r:id="rId23"/>
    <p:sldId id="325" r:id="rId24"/>
    <p:sldId id="322" r:id="rId25"/>
    <p:sldId id="319" r:id="rId26"/>
    <p:sldId id="332" r:id="rId27"/>
    <p:sldId id="295" r:id="rId28"/>
    <p:sldId id="293" r:id="rId29"/>
    <p:sldId id="316" r:id="rId30"/>
    <p:sldId id="294" r:id="rId31"/>
    <p:sldId id="291" r:id="rId32"/>
    <p:sldId id="292"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8805947-996C-3DD4-1BC4-EF86EF2BBA52}">
          <p14:sldIdLst>
            <p14:sldId id="256"/>
            <p14:sldId id="334"/>
          </p14:sldIdLst>
        </p14:section>
        <p14:section name="Confidence intervals and tests" id="{EC85BDFA-5B86-60D6-8779-C5D5FBD4DBCF}">
          <p14:sldIdLst>
            <p14:sldId id="282"/>
            <p14:sldId id="286"/>
            <p14:sldId id="283"/>
            <p14:sldId id="279"/>
            <p14:sldId id="314"/>
            <p14:sldId id="285"/>
            <p14:sldId id="317"/>
            <p14:sldId id="287"/>
            <p14:sldId id="326"/>
            <p14:sldId id="330"/>
            <p14:sldId id="288"/>
            <p14:sldId id="289"/>
            <p14:sldId id="318"/>
            <p14:sldId id="290"/>
            <p14:sldId id="327"/>
            <p14:sldId id="328"/>
            <p14:sldId id="329"/>
            <p14:sldId id="331"/>
          </p14:sldIdLst>
        </p14:section>
        <p14:section name="Summary" id="{4CA951EF-01A1-6F92-4FC1-D22C9F35AFD0}">
          <p14:sldIdLst>
            <p14:sldId id="321"/>
            <p14:sldId id="323"/>
            <p14:sldId id="325"/>
            <p14:sldId id="322"/>
            <p14:sldId id="319"/>
            <p14:sldId id="332"/>
            <p14:sldId id="295"/>
            <p14:sldId id="293"/>
            <p14:sldId id="316"/>
            <p14:sldId id="294"/>
            <p14:sldId id="291"/>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869"/>
    <p:restoredTop sz="60013"/>
  </p:normalViewPr>
  <p:slideViewPr>
    <p:cSldViewPr snapToGrid="0" snapToObjects="1">
      <p:cViewPr>
        <p:scale>
          <a:sx n="170" d="100"/>
          <a:sy n="170" d="100"/>
        </p:scale>
        <p:origin x="144" y="-8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21233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z-scored normalized estimator beta hat is approximately normally distributed</a:t>
            </a:r>
          </a:p>
          <a:p>
            <a:endParaRPr lang="en-US" dirty="0"/>
          </a:p>
          <a:p>
            <a:r>
              <a:rPr lang="en-US" dirty="0"/>
              <a:t>The probability that the magnitude of the z score normalized difference between our estimate and some null value beta 0 is less than a critical value, c, is 1-alpha</a:t>
            </a:r>
          </a:p>
          <a:p>
            <a:endParaRPr lang="en-US" dirty="0"/>
          </a:p>
          <a:p>
            <a:r>
              <a:rPr lang="en-US" dirty="0"/>
              <a:t>Our estimator is random, NOT beta 0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8898823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lvl="0" indent="-228600">
              <a:spcAft>
                <a:spcPts val="600"/>
              </a:spcAft>
              <a:buSzPct val="100000"/>
              <a:buChar char="•"/>
            </a:pPr>
            <a:r>
              <a:rPr lang="en-US" sz="1200" dirty="0">
                <a:solidFill>
                  <a:srgbClr val="3A3A3A"/>
                </a:solidFill>
                <a:latin typeface="Aptos" pitchFamily="34" charset="0"/>
                <a:ea typeface="Aptos" pitchFamily="34" charset="-122"/>
                <a:cs typeface="Aptos" pitchFamily="34" charset="-120"/>
              </a:rPr>
              <a:t>1. </a:t>
            </a:r>
            <a:r>
              <a:rPr lang="en-US" sz="1200" b="1" dirty="0">
                <a:solidFill>
                  <a:srgbClr val="FF42A1"/>
                </a:solidFill>
                <a:latin typeface="Aptos" pitchFamily="34" charset="0"/>
                <a:ea typeface="Aptos" pitchFamily="34" charset="-122"/>
                <a:cs typeface="Aptos" pitchFamily="34" charset="-120"/>
              </a:rPr>
              <a:t>Dependence.</a:t>
            </a:r>
            <a:r>
              <a:rPr lang="en-US" sz="1200" dirty="0">
                <a:solidFill>
                  <a:srgbClr val="3A3A3A"/>
                </a:solidFill>
                <a:latin typeface="Aptos" pitchFamily="34" charset="0"/>
                <a:ea typeface="Aptos" pitchFamily="34" charset="-122"/>
                <a:cs typeface="Aptos" pitchFamily="34" charset="-120"/>
              </a:rPr>
              <a:t> The 100 answers carry about 10 independent pieces of information, so s/√100 is too small</a:t>
            </a:r>
            <a:endParaRPr lang="en-US" sz="1200" dirty="0"/>
          </a:p>
          <a:p>
            <a:pPr marL="228600" lvl="0" indent="-228600">
              <a:spcAft>
                <a:spcPts val="600"/>
              </a:spcAft>
              <a:buSzPct val="100000"/>
              <a:buChar char="•"/>
            </a:pPr>
            <a:r>
              <a:rPr lang="en-US" sz="1200" dirty="0">
                <a:solidFill>
                  <a:srgbClr val="3A3A3A"/>
                </a:solidFill>
                <a:latin typeface="Aptos" pitchFamily="34" charset="0"/>
                <a:ea typeface="Aptos" pitchFamily="34" charset="-122"/>
                <a:cs typeface="Aptos" pitchFamily="34" charset="-120"/>
              </a:rPr>
              <a:t>2. </a:t>
            </a:r>
            <a:r>
              <a:rPr lang="en-US" sz="1200" b="1" dirty="0">
                <a:solidFill>
                  <a:srgbClr val="FF42A1"/>
                </a:solidFill>
                <a:latin typeface="Aptos" pitchFamily="34" charset="0"/>
                <a:ea typeface="Aptos" pitchFamily="34" charset="-122"/>
                <a:cs typeface="Aptos" pitchFamily="34" charset="-120"/>
              </a:rPr>
              <a:t>Infinite variance.</a:t>
            </a:r>
            <a:r>
              <a:rPr lang="en-US" sz="1200" dirty="0">
                <a:solidFill>
                  <a:srgbClr val="3A3A3A"/>
                </a:solidFill>
                <a:latin typeface="Aptos" pitchFamily="34" charset="0"/>
                <a:ea typeface="Aptos" pitchFamily="34" charset="-122"/>
                <a:cs typeface="Aptos" pitchFamily="34" charset="-120"/>
              </a:rPr>
              <a:t> A store that broke even has a denominator near 0, so one ratio can be enormous, of either sign. Ratios like this have Cauchy-type tails: the mean of 100 is as spread out as a single ratio</a:t>
            </a:r>
            <a:endParaRPr lang="en-US" sz="1200" dirty="0"/>
          </a:p>
          <a:p>
            <a:pPr marL="228600" lvl="0" indent="-228600">
              <a:spcAft>
                <a:spcPts val="600"/>
              </a:spcAft>
              <a:buSzPct val="100000"/>
              <a:buChar char="•"/>
            </a:pPr>
            <a:r>
              <a:rPr lang="en-US" sz="1200" dirty="0">
                <a:solidFill>
                  <a:srgbClr val="3A3A3A"/>
                </a:solidFill>
                <a:latin typeface="Aptos" pitchFamily="34" charset="0"/>
                <a:ea typeface="Aptos" pitchFamily="34" charset="-122"/>
                <a:cs typeface="Aptos" pitchFamily="34" charset="-120"/>
              </a:rPr>
              <a:t>3. </a:t>
            </a:r>
            <a:r>
              <a:rPr lang="en-US" sz="1200" b="1" dirty="0">
                <a:solidFill>
                  <a:srgbClr val="FF42A1"/>
                </a:solidFill>
                <a:latin typeface="Aptos" pitchFamily="34" charset="0"/>
                <a:ea typeface="Aptos" pitchFamily="34" charset="-122"/>
                <a:cs typeface="Aptos" pitchFamily="34" charset="-120"/>
              </a:rPr>
              <a:t>Too little data for the skew.</a:t>
            </a:r>
            <a:r>
              <a:rPr lang="en-US" sz="1200" dirty="0">
                <a:solidFill>
                  <a:srgbClr val="3A3A3A"/>
                </a:solidFill>
                <a:latin typeface="Aptos" pitchFamily="34" charset="0"/>
                <a:ea typeface="Aptos" pitchFamily="34" charset="-122"/>
                <a:cs typeface="Aptos" pitchFamily="34" charset="-120"/>
              </a:rPr>
              <a:t> </a:t>
            </a:r>
            <a:r>
              <a:rPr lang="en-US" sz="1200" dirty="0" err="1">
                <a:solidFill>
                  <a:srgbClr val="3A3A3A"/>
                </a:solidFill>
                <a:latin typeface="Aptos" pitchFamily="34" charset="0"/>
                <a:ea typeface="Aptos" pitchFamily="34" charset="-122"/>
                <a:cs typeface="Aptos" pitchFamily="34" charset="-120"/>
              </a:rPr>
              <a:t>Pr</a:t>
            </a:r>
            <a:r>
              <a:rPr lang="en-US" sz="1200" dirty="0">
                <a:solidFill>
                  <a:srgbClr val="3A3A3A"/>
                </a:solidFill>
                <a:latin typeface="Aptos" pitchFamily="34" charset="0"/>
                <a:ea typeface="Aptos" pitchFamily="34" charset="-122"/>
                <a:cs typeface="Aptos" pitchFamily="34" charset="-120"/>
              </a:rPr>
              <a:t>[0 cases] = 0.99¹⁰⁰ = 0.37. Then </a:t>
            </a:r>
            <a:r>
              <a:rPr lang="en-US" sz="1200" dirty="0">
                <a:solidFill>
                  <a:srgbClr val="3A3A3A"/>
                </a:solidFill>
                <a:latin typeface="Cambria Math" panose="02040503050406030204" pitchFamily="18" charset="0"/>
                <a:ea typeface="Aptos" pitchFamily="34" charset="-122"/>
                <a:cs typeface="Aptos" pitchFamily="34" charset="-120"/>
              </a:rPr>
              <a:t>p̂</a:t>
            </a:r>
            <a:r>
              <a:rPr lang="en-US" sz="1200" dirty="0">
                <a:solidFill>
                  <a:srgbClr val="3A3A3A"/>
                </a:solidFill>
                <a:latin typeface="Aptos" pitchFamily="34" charset="0"/>
                <a:ea typeface="Aptos" pitchFamily="34" charset="-122"/>
                <a:cs typeface="Aptos" pitchFamily="34" charset="-120"/>
              </a:rPr>
              <a:t> = 0, SE = 0, and the "95% CI" is [0, 0]</a:t>
            </a:r>
            <a:endParaRPr lang="en-US" sz="1200" dirty="0"/>
          </a:p>
          <a:p>
            <a:pPr marL="228600" lvl="0" indent="-228600">
              <a:spcAft>
                <a:spcPts val="600"/>
              </a:spcAft>
              <a:buSzPct val="100000"/>
              <a:buChar char="•"/>
            </a:pPr>
            <a:r>
              <a:rPr lang="en-US" sz="1200" dirty="0">
                <a:solidFill>
                  <a:srgbClr val="3A3A3A"/>
                </a:solidFill>
                <a:latin typeface="Aptos" pitchFamily="34" charset="0"/>
                <a:ea typeface="Aptos" pitchFamily="34" charset="-122"/>
                <a:cs typeface="Aptos" pitchFamily="34" charset="-120"/>
              </a:rPr>
              <a:t>4. </a:t>
            </a:r>
            <a:r>
              <a:rPr lang="en-US" sz="1200" b="1" dirty="0">
                <a:solidFill>
                  <a:srgbClr val="FF42A1"/>
                </a:solidFill>
                <a:latin typeface="Aptos" pitchFamily="34" charset="0"/>
                <a:ea typeface="Aptos" pitchFamily="34" charset="-122"/>
                <a:cs typeface="Aptos" pitchFamily="34" charset="-120"/>
              </a:rPr>
              <a:t>Not a sum.</a:t>
            </a:r>
            <a:r>
              <a:rPr lang="en-US" sz="1200" dirty="0">
                <a:solidFill>
                  <a:srgbClr val="3A3A3A"/>
                </a:solidFill>
                <a:latin typeface="Aptos" pitchFamily="34" charset="0"/>
                <a:ea typeface="Aptos" pitchFamily="34" charset="-122"/>
                <a:cs typeface="Aptos" pitchFamily="34" charset="-120"/>
              </a:rPr>
              <a:t> The max is not an average of many pieces. A resample can never exceed the sample's largest price, so the bootstrap max piles up at one value</a:t>
            </a:r>
            <a:endParaRPr lang="en-US" sz="1200" dirty="0"/>
          </a:p>
          <a:p>
            <a:pPr marL="228600" lvl="0" indent="-228600">
              <a:spcAft>
                <a:spcPts val="600"/>
              </a:spcAft>
              <a:buSzPct val="100000"/>
              <a:buChar char="•"/>
            </a:pPr>
            <a:r>
              <a:rPr lang="en-US" sz="1200" dirty="0">
                <a:solidFill>
                  <a:srgbClr val="3A3A3A"/>
                </a:solidFill>
                <a:latin typeface="Aptos" pitchFamily="34" charset="0"/>
                <a:ea typeface="Aptos" pitchFamily="34" charset="-122"/>
                <a:cs typeface="Aptos" pitchFamily="34" charset="-120"/>
              </a:rPr>
              <a:t>5. </a:t>
            </a:r>
            <a:r>
              <a:rPr lang="en-US" sz="1200" b="1" dirty="0">
                <a:solidFill>
                  <a:srgbClr val="FF42A1"/>
                </a:solidFill>
                <a:latin typeface="Aptos" pitchFamily="34" charset="0"/>
                <a:ea typeface="Aptos" pitchFamily="34" charset="-122"/>
                <a:cs typeface="Aptos" pitchFamily="34" charset="-120"/>
              </a:rPr>
              <a:t>Wrong target.</a:t>
            </a:r>
            <a:r>
              <a:rPr lang="en-US" sz="1200" dirty="0">
                <a:solidFill>
                  <a:srgbClr val="3A3A3A"/>
                </a:solidFill>
                <a:latin typeface="Aptos" pitchFamily="34" charset="0"/>
                <a:ea typeface="Aptos" pitchFamily="34" charset="-122"/>
                <a:cs typeface="Aptos" pitchFamily="34" charset="-120"/>
              </a:rPr>
              <a:t> The CLT still holds: x̄ is normal around the mean of landline-at-2-pm answerers. The interval is precise about the wrong number, and more data only makes it more confidently wrong</a:t>
            </a:r>
            <a:endParaRPr lang="en-US" sz="1200" dirty="0"/>
          </a:p>
          <a:p>
            <a:pPr>
              <a:buNone/>
            </a:pPr>
            <a:r>
              <a:rPr lang="en-US" sz="1200" b="1" dirty="0">
                <a:solidFill>
                  <a:srgbClr val="FF42A1"/>
                </a:solidFill>
                <a:latin typeface="Aptos" pitchFamily="34" charset="0"/>
                <a:ea typeface="Aptos" pitchFamily="34" charset="-122"/>
                <a:cs typeface="Aptos" pitchFamily="34" charset="-120"/>
              </a:rPr>
              <a:t>Estimate ± 1.96 SE can fail because the CLT fails (2, 4), the SE is wrong (1, 3), or the target is wrong (5)</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7933437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90% (1.78, 18.23); 95% (0.20, 19.80); 99% (−2.88, 22.88). Significant at 90% and 95%, not at 99%.</a:t>
            </a:r>
          </a:p>
          <a:p>
            <a:pPr marL="228600" lvl="0" indent="-228600">
              <a:spcAft>
                <a:spcPts val="600"/>
              </a:spcAft>
              <a:buSzPct val="100000"/>
              <a:buChar char="•"/>
            </a:pPr>
            <a:r>
              <a:rPr lang="en-US" sz="1200" dirty="0">
                <a:solidFill>
                  <a:srgbClr val="3A3A3A"/>
                </a:solidFill>
                <a:latin typeface="Aptos" pitchFamily="34" charset="0"/>
                <a:ea typeface="Aptos" pitchFamily="34" charset="-122"/>
                <a:cs typeface="Aptos" pitchFamily="34" charset="-120"/>
              </a:rPr>
              <a:t>Coefficient 10, SE 5</a:t>
            </a:r>
            <a:endParaRPr lang="en-US" sz="1200" dirty="0"/>
          </a:p>
          <a:p>
            <a:pPr marL="228600" lvl="0" indent="-228600">
              <a:spcAft>
                <a:spcPts val="600"/>
              </a:spcAft>
              <a:buSzPct val="100000"/>
              <a:buChar char="•"/>
            </a:pPr>
            <a:r>
              <a:rPr lang="en-US" sz="1200" dirty="0">
                <a:solidFill>
                  <a:srgbClr val="3A3A3A"/>
                </a:solidFill>
                <a:latin typeface="Aptos" pitchFamily="34" charset="0"/>
                <a:ea typeface="Aptos" pitchFamily="34" charset="-122"/>
                <a:cs typeface="Aptos" pitchFamily="34" charset="-120"/>
              </a:rPr>
              <a:t>90% CI: (10 − 1.645 × 5, 10 + 1.645 × 5) = (1.78, 18.23)</a:t>
            </a:r>
            <a:endParaRPr lang="en-US" sz="1200" dirty="0"/>
          </a:p>
          <a:p>
            <a:pPr marL="228600" lvl="0" indent="-228600">
              <a:spcAft>
                <a:spcPts val="600"/>
              </a:spcAft>
              <a:buSzPct val="100000"/>
              <a:buChar char="•"/>
            </a:pPr>
            <a:r>
              <a:rPr lang="en-US" sz="1200" dirty="0">
                <a:solidFill>
                  <a:srgbClr val="3A3A3A"/>
                </a:solidFill>
                <a:latin typeface="Aptos" pitchFamily="34" charset="0"/>
                <a:ea typeface="Aptos" pitchFamily="34" charset="-122"/>
                <a:cs typeface="Aptos" pitchFamily="34" charset="-120"/>
              </a:rPr>
              <a:t>95% CI: (10 − 1.960 × 5, 10 + 1.960 × 5) = (0.20, 19.80)</a:t>
            </a:r>
            <a:endParaRPr lang="en-US" sz="1200" dirty="0"/>
          </a:p>
          <a:p>
            <a:pPr marL="228600" lvl="0" indent="-228600">
              <a:spcAft>
                <a:spcPts val="600"/>
              </a:spcAft>
              <a:buSzPct val="100000"/>
              <a:buChar char="•"/>
            </a:pPr>
            <a:r>
              <a:rPr lang="en-US" sz="1200" dirty="0">
                <a:solidFill>
                  <a:srgbClr val="3A3A3A"/>
                </a:solidFill>
                <a:latin typeface="Aptos" pitchFamily="34" charset="0"/>
                <a:ea typeface="Aptos" pitchFamily="34" charset="-122"/>
                <a:cs typeface="Aptos" pitchFamily="34" charset="-120"/>
              </a:rPr>
              <a:t>99% CI: (10 − 2.576 × 5, 10 + 2.576 × 5) = (−2.88, 22.88)</a:t>
            </a:r>
            <a:endParaRPr lang="en-US" sz="1200" dirty="0"/>
          </a:p>
          <a:p>
            <a:pPr marL="228600" lvl="0" indent="-228600">
              <a:spcAft>
                <a:spcPts val="600"/>
              </a:spcAft>
              <a:buSzPct val="100000"/>
              <a:buChar char="•"/>
            </a:pPr>
            <a:r>
              <a:rPr lang="en-US" sz="1200" dirty="0">
                <a:solidFill>
                  <a:srgbClr val="3A3A3A"/>
                </a:solidFill>
                <a:latin typeface="Aptos" pitchFamily="34" charset="0"/>
                <a:ea typeface="Aptos" pitchFamily="34" charset="-122"/>
                <a:cs typeface="Aptos" pitchFamily="34" charset="-120"/>
              </a:rPr>
              <a:t>Significantly different from 0 at </a:t>
            </a:r>
            <a:r>
              <a:rPr lang="en-US" sz="1200" b="1" dirty="0">
                <a:solidFill>
                  <a:srgbClr val="FF42A1"/>
                </a:solidFill>
                <a:latin typeface="Aptos" pitchFamily="34" charset="0"/>
                <a:ea typeface="Aptos" pitchFamily="34" charset="-122"/>
                <a:cs typeface="Aptos" pitchFamily="34" charset="-120"/>
              </a:rPr>
              <a:t>90% and 95%</a:t>
            </a:r>
            <a:r>
              <a:rPr lang="en-US" sz="1200" dirty="0">
                <a:solidFill>
                  <a:srgbClr val="3A3A3A"/>
                </a:solidFill>
                <a:latin typeface="Aptos" pitchFamily="34" charset="0"/>
                <a:ea typeface="Aptos" pitchFamily="34" charset="-122"/>
                <a:cs typeface="Aptos" pitchFamily="34" charset="-120"/>
              </a:rPr>
              <a:t> (0 is outside), but </a:t>
            </a:r>
            <a:r>
              <a:rPr lang="en-US" sz="1200" b="1" dirty="0">
                <a:solidFill>
                  <a:srgbClr val="FF42A1"/>
                </a:solidFill>
                <a:latin typeface="Aptos" pitchFamily="34" charset="0"/>
                <a:ea typeface="Aptos" pitchFamily="34" charset="-122"/>
                <a:cs typeface="Aptos" pitchFamily="34" charset="-120"/>
              </a:rPr>
              <a:t>not at 99%</a:t>
            </a:r>
            <a:r>
              <a:rPr lang="en-US" sz="1200" dirty="0">
                <a:solidFill>
                  <a:srgbClr val="3A3A3A"/>
                </a:solidFill>
                <a:latin typeface="Aptos" pitchFamily="34" charset="0"/>
                <a:ea typeface="Aptos" pitchFamily="34" charset="-122"/>
                <a:cs typeface="Aptos" pitchFamily="34" charset="-120"/>
              </a:rPr>
              <a:t> (0 is inside)</a:t>
            </a:r>
            <a:endParaRPr lang="en-US" sz="1200" dirty="0"/>
          </a:p>
          <a:p>
            <a:pPr marL="228600" lvl="0" indent="-228600">
              <a:spcAft>
                <a:spcPts val="600"/>
              </a:spcAft>
              <a:buSzPct val="100000"/>
              <a:buChar char="•"/>
            </a:pPr>
            <a:r>
              <a:rPr lang="en-US" sz="1200" dirty="0">
                <a:solidFill>
                  <a:srgbClr val="3A3A3A"/>
                </a:solidFill>
                <a:latin typeface="Aptos" pitchFamily="34" charset="0"/>
                <a:ea typeface="Aptos" pitchFamily="34" charset="-122"/>
                <a:cs typeface="Aptos" pitchFamily="34" charset="-120"/>
              </a:rPr>
              <a:t>Shortcut: the estimate is 10/5 = 2 SEs from 0. It's significant whenever 2 beats the critical value: 2 &gt; 1.645, 2 &gt; 1.960, 2 &lt; 2.576</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228600" lvl="0" indent="-228600">
              <a:spcAft>
                <a:spcPts val="600"/>
              </a:spcAft>
              <a:buSzPct val="100000"/>
              <a:buChar char="•"/>
            </a:pPr>
            <a:r>
              <a:rPr lang="en-US" sz="1200" dirty="0">
                <a:solidFill>
                  <a:srgbClr val="3A3A3A"/>
                </a:solidFill>
                <a:latin typeface="Aptos" pitchFamily="34" charset="0"/>
                <a:ea typeface="Aptos" pitchFamily="34" charset="-122"/>
                <a:cs typeface="Aptos" pitchFamily="34" charset="-120"/>
              </a:rPr>
              <a:t>Back to {1, 3, 5} with n = 2: </a:t>
            </a:r>
            <a:r>
              <a:rPr lang="en-US" sz="1200" dirty="0" err="1">
                <a:solidFill>
                  <a:srgbClr val="3A3A3A"/>
                </a:solidFill>
                <a:latin typeface="Aptos" pitchFamily="34" charset="0"/>
                <a:ea typeface="Aptos" pitchFamily="34" charset="-122"/>
                <a:cs typeface="Aptos" pitchFamily="34" charset="-120"/>
              </a:rPr>
              <a:t>μ</a:t>
            </a:r>
            <a:r>
              <a:rPr lang="en-US" sz="1200" dirty="0">
                <a:solidFill>
                  <a:srgbClr val="3A3A3A"/>
                </a:solidFill>
                <a:latin typeface="Aptos" pitchFamily="34" charset="0"/>
                <a:ea typeface="Aptos" pitchFamily="34" charset="-122"/>
                <a:cs typeface="Aptos" pitchFamily="34" charset="-120"/>
              </a:rPr>
              <a:t> = 3, and the 9 sample means are 1, 2, 3, 2, 3, 4, 3, 4, 5</a:t>
            </a:r>
            <a:endParaRPr lang="en-US" sz="1200" dirty="0"/>
          </a:p>
          <a:p>
            <a:pPr marL="228600" lvl="0" indent="-228600">
              <a:spcAft>
                <a:spcPts val="600"/>
              </a:spcAft>
              <a:buSzPct val="100000"/>
              <a:buChar char="•"/>
            </a:pPr>
            <a:r>
              <a:rPr lang="en-US" sz="1200" dirty="0">
                <a:solidFill>
                  <a:srgbClr val="3A3A3A"/>
                </a:solidFill>
                <a:latin typeface="Aptos" pitchFamily="34" charset="0"/>
                <a:ea typeface="Aptos" pitchFamily="34" charset="-122"/>
                <a:cs typeface="Aptos" pitchFamily="34" charset="-120"/>
              </a:rPr>
              <a:t>The rule "x̄ ± 1.5" covers </a:t>
            </a:r>
            <a:r>
              <a:rPr lang="en-US" sz="1200" dirty="0" err="1">
                <a:solidFill>
                  <a:srgbClr val="3A3A3A"/>
                </a:solidFill>
                <a:latin typeface="Aptos" pitchFamily="34" charset="0"/>
                <a:ea typeface="Aptos" pitchFamily="34" charset="-122"/>
                <a:cs typeface="Aptos" pitchFamily="34" charset="-120"/>
              </a:rPr>
              <a:t>μ</a:t>
            </a:r>
            <a:r>
              <a:rPr lang="en-US" sz="1200" dirty="0">
                <a:solidFill>
                  <a:srgbClr val="3A3A3A"/>
                </a:solidFill>
                <a:latin typeface="Aptos" pitchFamily="34" charset="0"/>
                <a:ea typeface="Aptos" pitchFamily="34" charset="-122"/>
                <a:cs typeface="Aptos" pitchFamily="34" charset="-120"/>
              </a:rPr>
              <a:t> when x̄ ∈ {2, 3, 4}: 7 of the 9 samples</a:t>
            </a:r>
            <a:endParaRPr lang="en-US" sz="1200" dirty="0"/>
          </a:p>
          <a:p>
            <a:pPr marL="228600" lvl="0" indent="-228600">
              <a:spcAft>
                <a:spcPts val="600"/>
              </a:spcAft>
              <a:buSzPct val="100000"/>
              <a:buChar char="•"/>
            </a:pPr>
            <a:r>
              <a:rPr lang="en-US" sz="1200" dirty="0">
                <a:solidFill>
                  <a:srgbClr val="3A3A3A"/>
                </a:solidFill>
                <a:latin typeface="Aptos" pitchFamily="34" charset="0"/>
                <a:ea typeface="Aptos" pitchFamily="34" charset="-122"/>
                <a:cs typeface="Aptos" pitchFamily="34" charset="-120"/>
              </a:rPr>
              <a:t>So x̄ ± 1.5 is a </a:t>
            </a:r>
            <a:r>
              <a:rPr lang="en-US" sz="1200" b="1" dirty="0">
                <a:solidFill>
                  <a:srgbClr val="FF42A1"/>
                </a:solidFill>
                <a:latin typeface="Aptos" pitchFamily="34" charset="0"/>
                <a:ea typeface="Aptos" pitchFamily="34" charset="-122"/>
                <a:cs typeface="Aptos" pitchFamily="34" charset="-120"/>
              </a:rPr>
              <a:t>78% confidence interval</a:t>
            </a:r>
            <a:r>
              <a:rPr lang="en-US" sz="1200" dirty="0">
                <a:solidFill>
                  <a:srgbClr val="3A3A3A"/>
                </a:solidFill>
                <a:latin typeface="Aptos" pitchFamily="34" charset="0"/>
                <a:ea typeface="Aptos" pitchFamily="34" charset="-122"/>
                <a:cs typeface="Aptos" pitchFamily="34" charset="-120"/>
              </a:rPr>
              <a:t>, by counting</a:t>
            </a:r>
          </a:p>
          <a:p>
            <a:pPr marL="228600" lvl="0" indent="-228600">
              <a:spcAft>
                <a:spcPts val="600"/>
              </a:spcAft>
              <a:buSzPct val="100000"/>
              <a:buFontTx/>
              <a:buChar char="•"/>
            </a:pPr>
            <a:r>
              <a:rPr lang="en-US" sz="1200" b="1" dirty="0">
                <a:solidFill>
                  <a:srgbClr val="FF42A1"/>
                </a:solidFill>
                <a:latin typeface="Aptos" pitchFamily="34" charset="0"/>
                <a:ea typeface="Aptos" pitchFamily="34" charset="-122"/>
                <a:cs typeface="Aptos" pitchFamily="34" charset="-120"/>
              </a:rPr>
              <a:t>Zero.</a:t>
            </a:r>
            <a:r>
              <a:rPr lang="en-US" sz="1200" dirty="0">
                <a:solidFill>
                  <a:srgbClr val="3A3A3A"/>
                </a:solidFill>
                <a:latin typeface="Aptos" pitchFamily="34" charset="0"/>
                <a:ea typeface="Aptos" pitchFamily="34" charset="-122"/>
                <a:cs typeface="Aptos" pitchFamily="34" charset="-120"/>
              </a:rPr>
              <a:t> [−0.5, 2.5] misses 3, and nothing random is left once you've drawn your sample. The 78% belongs to the rule, not to your interval</a:t>
            </a:r>
            <a:endParaRPr lang="en-US" sz="1200" dirty="0"/>
          </a:p>
          <a:p>
            <a:pPr marL="228600" lvl="0" indent="-228600">
              <a:spcAft>
                <a:spcPts val="600"/>
              </a:spcAft>
              <a:buSzPct val="100000"/>
              <a:buChar char="•"/>
            </a:pPr>
            <a:endParaRPr lang="en-US" sz="1200" dirty="0"/>
          </a:p>
          <a:p>
            <a:endParaRPr lang="en-US" dirty="0"/>
          </a:p>
        </p:txBody>
      </p:sp>
    </p:spTree>
    <p:extLst>
      <p:ext uri="{BB962C8B-B14F-4D97-AF65-F5344CB8AC3E}">
        <p14:creationId xmlns:p14="http://schemas.microsoft.com/office/powerpoint/2010/main" val="30245318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0A789-E9F7-DFE7-7D46-0F6F14981C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1F3437-10FD-9004-0159-11CCEC0640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CA49BC-5BCB-3FC6-5263-F9ABDED60B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7355FD-A5E8-D8DA-C2BA-0EC63271D31F}"/>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5868427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lvl="0"/>
            <a:r>
              <a:rPr lang="en-US" sz="1200" b="0" i="0" kern="1200" dirty="0">
                <a:solidFill>
                  <a:schemeClr val="tx1"/>
                </a:solidFill>
                <a:effectLst/>
                <a:latin typeface="+mn-lt"/>
                <a:ea typeface="+mn-ea"/>
                <a:cs typeface="+mn-cs"/>
              </a:rPr>
              <a:t>Non-parametric exploration of data before explicit modeling</a:t>
            </a:r>
          </a:p>
          <a:p>
            <a:pPr lvl="0"/>
            <a:r>
              <a:rPr lang="en-US" sz="1200" b="0" i="0" kern="1200" dirty="0">
                <a:solidFill>
                  <a:schemeClr val="tx1"/>
                </a:solidFill>
                <a:effectLst/>
                <a:latin typeface="+mn-lt"/>
                <a:ea typeface="+mn-ea"/>
                <a:cs typeface="+mn-cs"/>
              </a:rPr>
              <a:t>Non-parametric bootstrap evaluation of parameters or predictions, in every assignment</a:t>
            </a:r>
          </a:p>
          <a:p>
            <a:pPr lvl="0"/>
            <a:r>
              <a:rPr lang="en-US" sz="1200" b="0" i="0" kern="1200" dirty="0">
                <a:solidFill>
                  <a:schemeClr val="tx1"/>
                </a:solidFill>
                <a:effectLst/>
                <a:latin typeface="+mn-lt"/>
                <a:ea typeface="+mn-ea"/>
                <a:cs typeface="+mn-cs"/>
              </a:rPr>
              <a:t>For these models, ESTIMATION and then INFERENCE and then PREDICTION in every lab</a:t>
            </a:r>
          </a:p>
          <a:p>
            <a:pPr lvl="0"/>
            <a:r>
              <a:rPr lang="en-US" sz="1200" b="0" i="0" kern="1200" dirty="0">
                <a:solidFill>
                  <a:schemeClr val="tx1"/>
                </a:solidFill>
                <a:effectLst/>
                <a:latin typeface="+mn-lt"/>
                <a:ea typeface="+mn-ea"/>
                <a:cs typeface="+mn-cs"/>
              </a:rPr>
              <a:t>Focus on the idea and the application (e.g. count data and Poisson), rather than a mathematical derivation</a:t>
            </a:r>
          </a:p>
          <a:p>
            <a:pPr lvl="0"/>
            <a:r>
              <a:rPr lang="en-US" sz="1200" b="0" i="0" kern="1200" dirty="0">
                <a:solidFill>
                  <a:schemeClr val="tx1"/>
                </a:solidFill>
                <a:effectLst/>
                <a:latin typeface="+mn-lt"/>
                <a:ea typeface="+mn-ea"/>
                <a:cs typeface="+mn-cs"/>
              </a:rPr>
              <a:t>Our job is INFERENCE about parameters and quantifying the uncertainty of PREDICTIONS; we're not worried about the machine learning part, but about exploiting the inference framework we've built using resampling to instill a worldview in the students that resampling methods are the natural solution to most problems</a:t>
            </a:r>
          </a:p>
          <a:p>
            <a:endParaRPr lang="en-US" dirty="0"/>
          </a:p>
        </p:txBody>
      </p:sp>
    </p:spTree>
    <p:extLst>
      <p:ext uri="{BB962C8B-B14F-4D97-AF65-F5344CB8AC3E}">
        <p14:creationId xmlns:p14="http://schemas.microsoft.com/office/powerpoint/2010/main" val="36739699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228600" lvl="0" indent="-228600">
              <a:spcAft>
                <a:spcPts val="600"/>
              </a:spcAft>
              <a:buSzPct val="100000"/>
              <a:buChar char="•"/>
            </a:pPr>
            <a:r>
              <a:rPr lang="en-US" sz="1200" dirty="0">
                <a:solidFill>
                  <a:srgbClr val="3A3A3A"/>
                </a:solidFill>
                <a:latin typeface="Aptos" pitchFamily="34" charset="0"/>
                <a:ea typeface="Aptos" pitchFamily="34" charset="-122"/>
                <a:cs typeface="Aptos" pitchFamily="34" charset="-120"/>
              </a:rPr>
              <a:t>1. x̄ = 20/5 = </a:t>
            </a:r>
            <a:r>
              <a:rPr lang="en-US" sz="1200" b="1" dirty="0">
                <a:solidFill>
                  <a:srgbClr val="FF42A1"/>
                </a:solidFill>
                <a:latin typeface="Aptos" pitchFamily="34" charset="0"/>
                <a:ea typeface="Aptos" pitchFamily="34" charset="-122"/>
                <a:cs typeface="Aptos" pitchFamily="34" charset="-120"/>
              </a:rPr>
              <a:t>4</a:t>
            </a:r>
            <a:r>
              <a:rPr lang="en-US" sz="1200" dirty="0">
                <a:solidFill>
                  <a:srgbClr val="3A3A3A"/>
                </a:solidFill>
                <a:latin typeface="Aptos" pitchFamily="34" charset="0"/>
                <a:ea typeface="Aptos" pitchFamily="34" charset="-122"/>
                <a:cs typeface="Aptos" pitchFamily="34" charset="-120"/>
              </a:rPr>
              <a:t> ($400). Deviations −3, −1, 0, 1, 3, so the sum of squares is 20 and s² = 20/4 = </a:t>
            </a:r>
            <a:r>
              <a:rPr lang="en-US" sz="1200" b="1" dirty="0">
                <a:solidFill>
                  <a:srgbClr val="FF42A1"/>
                </a:solidFill>
                <a:latin typeface="Aptos" pitchFamily="34" charset="0"/>
                <a:ea typeface="Aptos" pitchFamily="34" charset="-122"/>
                <a:cs typeface="Aptos" pitchFamily="34" charset="-120"/>
              </a:rPr>
              <a:t>5</a:t>
            </a:r>
            <a:r>
              <a:rPr lang="en-US" sz="1200" dirty="0">
                <a:solidFill>
                  <a:srgbClr val="3A3A3A"/>
                </a:solidFill>
                <a:latin typeface="Aptos" pitchFamily="34" charset="0"/>
                <a:ea typeface="Aptos" pitchFamily="34" charset="-122"/>
                <a:cs typeface="Aptos" pitchFamily="34" charset="-120"/>
              </a:rPr>
              <a:t>. SE = √(5/5) = </a:t>
            </a:r>
            <a:r>
              <a:rPr lang="en-US" sz="1200" b="1" dirty="0">
                <a:solidFill>
                  <a:srgbClr val="FF42A1"/>
                </a:solidFill>
                <a:latin typeface="Aptos" pitchFamily="34" charset="0"/>
                <a:ea typeface="Aptos" pitchFamily="34" charset="-122"/>
                <a:cs typeface="Aptos" pitchFamily="34" charset="-120"/>
              </a:rPr>
              <a:t>1</a:t>
            </a:r>
            <a:r>
              <a:rPr lang="en-US" sz="1200" dirty="0">
                <a:solidFill>
                  <a:srgbClr val="3A3A3A"/>
                </a:solidFill>
                <a:latin typeface="Aptos" pitchFamily="34" charset="0"/>
                <a:ea typeface="Aptos" pitchFamily="34" charset="-122"/>
                <a:cs typeface="Aptos" pitchFamily="34" charset="-120"/>
              </a:rPr>
              <a:t> ($100)</a:t>
            </a:r>
            <a:endParaRPr lang="en-US" sz="1200" dirty="0"/>
          </a:p>
          <a:p>
            <a:pPr marL="228600" lvl="0" indent="-228600">
              <a:spcAft>
                <a:spcPts val="600"/>
              </a:spcAft>
              <a:buSzPct val="100000"/>
              <a:buChar char="•"/>
            </a:pPr>
            <a:r>
              <a:rPr lang="en-US" sz="1200" dirty="0">
                <a:solidFill>
                  <a:srgbClr val="3A3A3A"/>
                </a:solidFill>
                <a:latin typeface="Aptos" pitchFamily="34" charset="0"/>
                <a:ea typeface="Aptos" pitchFamily="34" charset="-122"/>
                <a:cs typeface="Aptos" pitchFamily="34" charset="-120"/>
              </a:rPr>
              <a:t>2. 4 ± 1.96 × 1 = </a:t>
            </a:r>
            <a:r>
              <a:rPr lang="en-US" sz="1200" b="1" dirty="0">
                <a:solidFill>
                  <a:srgbClr val="FF42A1"/>
                </a:solidFill>
                <a:latin typeface="Aptos" pitchFamily="34" charset="0"/>
                <a:ea typeface="Aptos" pitchFamily="34" charset="-122"/>
                <a:cs typeface="Aptos" pitchFamily="34" charset="-120"/>
              </a:rPr>
              <a:t>($204, $596)</a:t>
            </a:r>
            <a:r>
              <a:rPr lang="en-US" sz="1200" dirty="0">
                <a:solidFill>
                  <a:srgbClr val="3A3A3A"/>
                </a:solidFill>
                <a:latin typeface="Aptos" pitchFamily="34" charset="0"/>
                <a:ea typeface="Aptos" pitchFamily="34" charset="-122"/>
                <a:cs typeface="Aptos" pitchFamily="34" charset="-120"/>
              </a:rPr>
              <a:t>. 0 is outside, so reject H₀: it saves money (the estimate is 4 SEs from 0)</a:t>
            </a:r>
            <a:endParaRPr lang="en-US" sz="1200" dirty="0"/>
          </a:p>
          <a:p>
            <a:pPr marL="228600" lvl="0" indent="-228600">
              <a:spcAft>
                <a:spcPts val="600"/>
              </a:spcAft>
              <a:buSzPct val="100000"/>
              <a:buChar char="•"/>
            </a:pPr>
            <a:r>
              <a:rPr lang="en-US" sz="1200" dirty="0">
                <a:solidFill>
                  <a:srgbClr val="3A3A3A"/>
                </a:solidFill>
                <a:latin typeface="Aptos" pitchFamily="34" charset="0"/>
                <a:ea typeface="Aptos" pitchFamily="34" charset="-122"/>
                <a:cs typeface="Aptos" pitchFamily="34" charset="-120"/>
              </a:rPr>
              <a:t>3. The lower end, $204, is just above $200: it pays for itself, barely</a:t>
            </a:r>
            <a:endParaRPr lang="en-US" sz="1200" dirty="0"/>
          </a:p>
          <a:p>
            <a:pPr marL="228600" lvl="0" indent="-228600">
              <a:spcAft>
                <a:spcPts val="600"/>
              </a:spcAft>
              <a:buSzPct val="100000"/>
              <a:buChar char="•"/>
            </a:pPr>
            <a:r>
              <a:rPr lang="en-US" sz="1200" dirty="0">
                <a:solidFill>
                  <a:srgbClr val="3A3A3A"/>
                </a:solidFill>
                <a:latin typeface="Aptos" pitchFamily="34" charset="0"/>
                <a:ea typeface="Aptos" pitchFamily="34" charset="-122"/>
                <a:cs typeface="Aptos" pitchFamily="34" charset="-120"/>
              </a:rPr>
              <a:t>4. "If we ran this pilot on 5 new stores many times, about 95% of the intervals built this way would contain the true average savings." The true savings is fixed: it is either in ($204, $596) or it isn’t</a:t>
            </a:r>
            <a:endParaRPr lang="en-US" sz="1200" dirty="0"/>
          </a:p>
          <a:p>
            <a:pPr marL="228600" lvl="0" indent="-228600">
              <a:spcAft>
                <a:spcPts val="600"/>
              </a:spcAft>
              <a:buSzPct val="100000"/>
              <a:buChar char="•"/>
            </a:pPr>
            <a:r>
              <a:rPr lang="en-US" sz="1200" dirty="0">
                <a:solidFill>
                  <a:srgbClr val="3A3A3A"/>
                </a:solidFill>
                <a:latin typeface="Aptos" pitchFamily="34" charset="0"/>
                <a:ea typeface="Aptos" pitchFamily="34" charset="-122"/>
                <a:cs typeface="Aptos" pitchFamily="34" charset="-120"/>
              </a:rPr>
              <a:t>5. Not much. The interval targets Phoenix stores, where air conditioning drives the bill. More Phoenix stores would shrink the SE but not change the target (like the landline poll)</a:t>
            </a:r>
            <a:endParaRPr lang="en-US" sz="1200" dirty="0"/>
          </a:p>
          <a:p>
            <a:endParaRPr lang="en-US" dirty="0"/>
          </a:p>
        </p:txBody>
      </p:sp>
    </p:spTree>
    <p:extLst>
      <p:ext uri="{BB962C8B-B14F-4D97-AF65-F5344CB8AC3E}">
        <p14:creationId xmlns:p14="http://schemas.microsoft.com/office/powerpoint/2010/main" val="13422299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21109706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39522708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6636166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21777964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10698480" cy="2194560"/>
          </a:xfrm>
          <a:prstGeom prst="rect">
            <a:avLst/>
          </a:prstGeom>
          <a:noFill/>
          <a:ln/>
        </p:spPr>
        <p:txBody>
          <a:bodyPr wrap="square" rtlCol="0"/>
          <a:lstStyle>
            <a:lvl1pPr marL="0" indent="0" algn="ctr">
              <a:buNone/>
              <a:defRPr lang="en-US" sz="6000" b="1" dirty="0">
                <a:solidFill>
                  <a:schemeClr val="tx1"/>
                </a:solidFill>
              </a:defRPr>
            </a:lvl1pPr>
          </a:lstStyle>
          <a:p>
            <a:pPr marL="0" indent="0" algn="ctr">
              <a:buNone/>
            </a:pPr>
            <a:endParaRPr lang="en-US" sz="6000" dirty="0"/>
          </a:p>
        </p:txBody>
      </p:sp>
      <p:sp>
        <p:nvSpPr>
          <p:cNvPr id="3" name="Text 0"/>
          <p:cNvSpPr>
            <a:spLocks noGrp="1"/>
          </p:cNvSpPr>
          <p:nvPr>
            <p:ph type="body" idx="101" hasCustomPrompt="1"/>
          </p:nvPr>
        </p:nvSpPr>
        <p:spPr>
          <a:xfrm>
            <a:off x="731520" y="4206240"/>
            <a:ext cx="10698480" cy="731520"/>
          </a:xfrm>
          <a:prstGeom prst="rect">
            <a:avLst/>
          </a:prstGeom>
          <a:noFill/>
          <a:ln/>
        </p:spPr>
        <p:txBody>
          <a:bodyPr wrap="square" rtlCol="0"/>
          <a:lstStyle>
            <a:lvl1pPr marL="0" indent="0" algn="ctr">
              <a:buNone/>
              <a:defRPr lang="en-US" sz="2000" dirty="0">
                <a:solidFill>
                  <a:schemeClr val="tx2"/>
                </a:solidFill>
              </a:defRPr>
            </a:lvl1pPr>
          </a:lstStyle>
          <a:p>
            <a:pPr marL="0" indent="0" algn="ctr">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645920"/>
            <a:ext cx="10698480" cy="3566160"/>
          </a:xfrm>
          <a:prstGeom prst="rect">
            <a:avLst/>
          </a:prstGeom>
          <a:noFill/>
          <a:ln/>
        </p:spPr>
        <p:txBody>
          <a:bodyPr wrap="square" rtlCol="0"/>
          <a:lstStyle>
            <a:lvl1pPr marL="0" indent="0" algn="ctr">
              <a:buNone/>
              <a:defRPr lang="en-US" sz="6000" b="1" dirty="0">
                <a:solidFill>
                  <a:schemeClr val="tx1"/>
                </a:solidFill>
              </a:defRPr>
            </a:lvl1pPr>
          </a:lstStyle>
          <a:p>
            <a:pPr marL="0" indent="0" algn="ctr">
              <a:buNone/>
            </a:pPr>
            <a:endParaRPr lang="en-US" sz="6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590.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hyperlink" Target="smgroves.github.io/ds5030-uncertainty-plots" TargetMode="Externa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10698480" cy="2194560"/>
          </a:xfrm>
          <a:prstGeom prst="rect">
            <a:avLst/>
          </a:prstGeom>
          <a:noFill/>
          <a:ln/>
        </p:spPr>
        <p:txBody>
          <a:bodyPr wrap="square" lIns="0" tIns="0" rIns="0" bIns="0" rtlCol="0" anchor="b"/>
          <a:lstStyle/>
          <a:p>
            <a:pPr marL="0" indent="0" algn="ctr">
              <a:buNone/>
            </a:pPr>
            <a:r>
              <a:rPr lang="en-US" sz="6000" b="1" dirty="0">
                <a:solidFill>
                  <a:schemeClr val="tx1"/>
                </a:solidFill>
              </a:rPr>
              <a:t>Confidence intervals and testing</a:t>
            </a:r>
            <a:endParaRPr lang="en-US" sz="6000" dirty="0"/>
          </a:p>
        </p:txBody>
      </p:sp>
      <p:sp>
        <p:nvSpPr>
          <p:cNvPr id="3" name="Text 0"/>
          <p:cNvSpPr>
            <a:spLocks noGrp="1"/>
          </p:cNvSpPr>
          <p:nvPr>
            <p:ph type="body" idx="101" hasCustomPrompt="1"/>
          </p:nvPr>
        </p:nvSpPr>
        <p:spPr>
          <a:xfrm>
            <a:off x="731520" y="4206240"/>
            <a:ext cx="10698480" cy="731520"/>
          </a:xfrm>
          <a:prstGeom prst="rect">
            <a:avLst/>
          </a:prstGeom>
          <a:noFill/>
          <a:ln/>
        </p:spPr>
        <p:txBody>
          <a:bodyPr wrap="square" lIns="0" tIns="0" rIns="0" bIns="0" rtlCol="0" anchor="t"/>
          <a:lstStyle/>
          <a:p>
            <a:pPr marL="0" indent="0" algn="ctr">
              <a:buNone/>
            </a:pPr>
            <a:r>
              <a:rPr lang="en-US" sz="2000" dirty="0">
                <a:solidFill>
                  <a:schemeClr val="tx2"/>
                </a:solidFill>
              </a:rPr>
              <a:t>Day 2</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5ADA0-FFFB-8AD2-E46B-FFBBD80AC226}"/>
              </a:ext>
            </a:extLst>
          </p:cNvPr>
          <p:cNvSpPr>
            <a:spLocks noGrp="1"/>
          </p:cNvSpPr>
          <p:nvPr>
            <p:ph type="title" idx="100"/>
          </p:nvPr>
        </p:nvSpPr>
        <p:spPr/>
        <p:txBody>
          <a:bodyPr/>
          <a:lstStyle/>
          <a:p>
            <a:r>
              <a:rPr lang="en-US" dirty="0"/>
              <a:t>Notes</a:t>
            </a:r>
          </a:p>
        </p:txBody>
      </p:sp>
      <p:sp>
        <p:nvSpPr>
          <p:cNvPr id="3" name="TextBox 2">
            <a:extLst>
              <a:ext uri="{FF2B5EF4-FFF2-40B4-BE49-F238E27FC236}">
                <a16:creationId xmlns:a16="http://schemas.microsoft.com/office/drawing/2014/main" id="{FE784CD4-C4D9-34D8-A66A-61E8C62FB761}"/>
              </a:ext>
            </a:extLst>
          </p:cNvPr>
          <p:cNvSpPr txBox="1"/>
          <p:nvPr/>
        </p:nvSpPr>
        <p:spPr>
          <a:xfrm>
            <a:off x="371062" y="859605"/>
            <a:ext cx="11476382" cy="5262979"/>
          </a:xfrm>
          <a:prstGeom prst="rect">
            <a:avLst/>
          </a:prstGeom>
          <a:noFill/>
        </p:spPr>
        <p:txBody>
          <a:bodyPr wrap="square" rtlCol="0">
            <a:spAutoFit/>
          </a:bodyPr>
          <a:lstStyle/>
          <a:p>
            <a:pPr marL="285750" indent="-285750">
              <a:buFontTx/>
              <a:buChar char="-"/>
            </a:pPr>
            <a:r>
              <a:rPr lang="en-US" sz="2400" dirty="0"/>
              <a:t>Problem set</a:t>
            </a:r>
          </a:p>
          <a:p>
            <a:pPr marL="742950" lvl="1" indent="-285750">
              <a:buFontTx/>
              <a:buChar char="-"/>
            </a:pPr>
            <a:r>
              <a:rPr lang="en-US" sz="2400" dirty="0"/>
              <a:t>I don’t know why the homework says Homework 11; sorry about that!</a:t>
            </a:r>
          </a:p>
          <a:p>
            <a:pPr marL="742950" lvl="1" indent="-285750">
              <a:buFontTx/>
              <a:buChar char="-"/>
            </a:pPr>
            <a:r>
              <a:rPr lang="en-US" sz="2400" dirty="0"/>
              <a:t>“In particular, Problem 10 may be close to the 5% threshold.” no longer applies after I cut some problems. </a:t>
            </a:r>
          </a:p>
          <a:p>
            <a:pPr marL="742950" lvl="1" indent="-285750">
              <a:buFontTx/>
              <a:buChar char="-"/>
            </a:pPr>
            <a:r>
              <a:rPr lang="en-US" sz="2400" dirty="0"/>
              <a:t>This problem set gives you practice with calculating SE, CI, etc. by hand and running through the inference routine. It will feel repetitive, and that’s intentional!</a:t>
            </a:r>
          </a:p>
          <a:p>
            <a:pPr marL="285750" indent="-285750">
              <a:buFontTx/>
              <a:buChar char="-"/>
            </a:pPr>
            <a:r>
              <a:rPr lang="en-US" sz="2400" dirty="0"/>
              <a:t>The lab is based on understanding inference and how to make decisions from it</a:t>
            </a:r>
          </a:p>
          <a:p>
            <a:pPr marL="285750" indent="-285750">
              <a:buFontTx/>
              <a:buChar char="-"/>
            </a:pPr>
            <a:r>
              <a:rPr lang="en-US" sz="2400" dirty="0"/>
              <a:t>Today: </a:t>
            </a:r>
          </a:p>
          <a:p>
            <a:pPr marL="742950" lvl="1" indent="-285750">
              <a:buFontTx/>
              <a:buChar char="-"/>
            </a:pPr>
            <a:r>
              <a:rPr lang="en-US" sz="2400" dirty="0"/>
              <a:t>Finish slides from last class + a couple examples</a:t>
            </a:r>
          </a:p>
          <a:p>
            <a:pPr marL="742950" lvl="1" indent="-285750">
              <a:buFontTx/>
              <a:buChar char="-"/>
            </a:pPr>
            <a:r>
              <a:rPr lang="en-US" sz="2400" dirty="0"/>
              <a:t>Based on Tuesday and today, we’ll do a challenge, competing against the other sections!</a:t>
            </a:r>
          </a:p>
          <a:p>
            <a:pPr marL="742950" lvl="1" indent="-285750">
              <a:buFontTx/>
              <a:buChar char="-"/>
            </a:pPr>
            <a:r>
              <a:rPr lang="en-US" sz="2400" dirty="0"/>
              <a:t>If we get to it, we will run through a coding example on the </a:t>
            </a:r>
            <a:r>
              <a:rPr lang="en-US" sz="2400" dirty="0" err="1"/>
              <a:t>metabric</a:t>
            </a:r>
            <a:r>
              <a:rPr lang="en-US" sz="2400" dirty="0"/>
              <a:t> data. If not, you have access to the code: </a:t>
            </a:r>
            <a:r>
              <a:rPr lang="en-US" sz="2400" dirty="0" err="1"/>
              <a:t>inference_WITH_METABRIC_EXAMPLE.ipynb</a:t>
            </a:r>
            <a:r>
              <a:rPr lang="en-US" sz="2400" dirty="0"/>
              <a:t> This is like the code for the Ames regression, and may help you with your homework</a:t>
            </a:r>
          </a:p>
        </p:txBody>
      </p:sp>
    </p:spTree>
    <p:extLst>
      <p:ext uri="{BB962C8B-B14F-4D97-AF65-F5344CB8AC3E}">
        <p14:creationId xmlns:p14="http://schemas.microsoft.com/office/powerpoint/2010/main" val="31271513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Just Memorize These</a:t>
            </a:r>
            <a:endParaRPr lang="en-US" sz="3000" dirty="0"/>
          </a:p>
        </p:txBody>
      </p:sp>
      <p:sp>
        <p:nvSpPr>
          <p:cNvPr id="3" name="Text 1"/>
          <p:cNvSpPr txBox="1"/>
          <p:nvPr/>
        </p:nvSpPr>
        <p:spPr>
          <a:xfrm>
            <a:off x="548640" y="1280160"/>
            <a:ext cx="5760720" cy="1030986"/>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Instead of taking the quantiles of our bootstrap sample, take the quantiles of the standard Normal, then invert the z-score normalization</a:t>
            </a:r>
            <a:endParaRPr lang="en-US" sz="18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2356866"/>
          <a:ext cx="5486400" cy="1544320"/>
        </p:xfrm>
        <a:graphic>
          <a:graphicData uri="http://schemas.openxmlformats.org/drawingml/2006/table">
            <a:tbl>
              <a:tblPr/>
              <a:tblGrid>
                <a:gridCol w="14630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386080">
                <a:tc>
                  <a:txBody>
                    <a:bodyPr/>
                    <a:lstStyle/>
                    <a:p>
                      <a:pPr marL="0" indent="0">
                        <a:buNone/>
                      </a:pPr>
                      <a:r>
                        <a:rPr lang="en-US" sz="1600" b="1" dirty="0">
                          <a:solidFill>
                            <a:srgbClr val="000000"/>
                          </a:solidFill>
                          <a:latin typeface="Aptos" pitchFamily="34" charset="0"/>
                          <a:ea typeface="Aptos" pitchFamily="34" charset="-122"/>
                          <a:cs typeface="Aptos" pitchFamily="34" charset="-120"/>
                        </a:rPr>
                        <a:t>Confidence</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600" b="1" dirty="0">
                          <a:solidFill>
                            <a:srgbClr val="000000"/>
                          </a:solidFill>
                          <a:latin typeface="Aptos" pitchFamily="34" charset="0"/>
                          <a:ea typeface="Aptos" pitchFamily="34" charset="-122"/>
                          <a:cs typeface="Aptos" pitchFamily="34" charset="-120"/>
                        </a:rPr>
                        <a:t>Lower</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600" b="1" dirty="0">
                          <a:solidFill>
                            <a:srgbClr val="000000"/>
                          </a:solidFill>
                          <a:latin typeface="Aptos" pitchFamily="34" charset="0"/>
                          <a:ea typeface="Aptos" pitchFamily="34" charset="-122"/>
                          <a:cs typeface="Aptos" pitchFamily="34" charset="-120"/>
                        </a:rPr>
                        <a:t>Upper</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600" b="1" dirty="0">
                          <a:solidFill>
                            <a:srgbClr val="000000"/>
                          </a:solidFill>
                          <a:latin typeface="Aptos" pitchFamily="34" charset="0"/>
                          <a:ea typeface="Aptos" pitchFamily="34" charset="-122"/>
                          <a:cs typeface="Aptos" pitchFamily="34" charset="-120"/>
                        </a:rPr>
                        <a:t>Level (α)</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86080">
                <a:tc>
                  <a:txBody>
                    <a:bodyPr/>
                    <a:lstStyle/>
                    <a:p>
                      <a:pPr marL="0" indent="0">
                        <a:buNone/>
                      </a:pPr>
                      <a:r>
                        <a:rPr lang="en-US" sz="1600" dirty="0">
                          <a:solidFill>
                            <a:srgbClr val="3A3A3A"/>
                          </a:solidFill>
                          <a:latin typeface="Aptos" pitchFamily="34" charset="0"/>
                          <a:ea typeface="Aptos" pitchFamily="34" charset="-122"/>
                          <a:cs typeface="Aptos" pitchFamily="34" charset="-120"/>
                        </a:rPr>
                        <a:t>90%</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−1.645</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+1.645</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.10</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6080">
                <a:tc>
                  <a:txBody>
                    <a:bodyPr/>
                    <a:lstStyle/>
                    <a:p>
                      <a:pPr marL="0" indent="0">
                        <a:buNone/>
                      </a:pPr>
                      <a:r>
                        <a:rPr lang="en-US" sz="1600" dirty="0">
                          <a:solidFill>
                            <a:srgbClr val="3A3A3A"/>
                          </a:solidFill>
                          <a:latin typeface="Aptos" pitchFamily="34" charset="0"/>
                          <a:ea typeface="Aptos" pitchFamily="34" charset="-122"/>
                          <a:cs typeface="Aptos" pitchFamily="34" charset="-120"/>
                        </a:rPr>
                        <a:t>95%</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−1.960</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+1.960</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.05</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86080">
                <a:tc>
                  <a:txBody>
                    <a:bodyPr/>
                    <a:lstStyle/>
                    <a:p>
                      <a:pPr marL="0" indent="0">
                        <a:buNone/>
                      </a:pPr>
                      <a:r>
                        <a:rPr lang="en-US" sz="1600" dirty="0">
                          <a:solidFill>
                            <a:srgbClr val="3A3A3A"/>
                          </a:solidFill>
                          <a:latin typeface="Aptos" pitchFamily="34" charset="0"/>
                          <a:ea typeface="Aptos" pitchFamily="34" charset="-122"/>
                          <a:cs typeface="Aptos" pitchFamily="34" charset="-120"/>
                        </a:rPr>
                        <a:t>99%</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−2.576</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+2.576</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.01</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txBox="1"/>
          <p:nvPr/>
        </p:nvSpPr>
        <p:spPr>
          <a:xfrm>
            <a:off x="548640" y="4129786"/>
            <a:ext cx="5760720" cy="459486"/>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So the 90% CI comes from this bound:</a:t>
            </a:r>
            <a:endParaRPr lang="en-US" sz="1800" dirty="0"/>
          </a:p>
        </p:txBody>
      </p:sp>
      <p:pic>
        <p:nvPicPr>
          <p:cNvPr id="6" name="Image 0" descr="memorize1"/>
          <p:cNvPicPr>
            <a:picLocks noChangeAspect="1"/>
          </p:cNvPicPr>
          <p:nvPr/>
        </p:nvPicPr>
        <p:blipFill>
          <a:blip r:embed="rId3"/>
          <a:stretch>
            <a:fillRect/>
          </a:stretch>
        </p:blipFill>
        <p:spPr>
          <a:xfrm>
            <a:off x="914400" y="4634992"/>
            <a:ext cx="2008480" cy="669844"/>
          </a:xfrm>
          <a:prstGeom prst="rect">
            <a:avLst/>
          </a:prstGeom>
        </p:spPr>
      </p:pic>
      <p:pic>
        <p:nvPicPr>
          <p:cNvPr id="7" name="Image 1" descr="memorize2"/>
          <p:cNvPicPr>
            <a:picLocks noChangeAspect="1"/>
          </p:cNvPicPr>
          <p:nvPr/>
        </p:nvPicPr>
        <p:blipFill>
          <a:blip r:embed="rId4"/>
          <a:stretch>
            <a:fillRect/>
          </a:stretch>
        </p:blipFill>
        <p:spPr>
          <a:xfrm>
            <a:off x="914400" y="5441996"/>
            <a:ext cx="5476472" cy="411160"/>
          </a:xfrm>
          <a:prstGeom prst="rect">
            <a:avLst/>
          </a:prstGeom>
        </p:spPr>
      </p:pic>
      <p:pic>
        <p:nvPicPr>
          <p:cNvPr id="8" name="Image 2" descr="/private/tmp/claude-502/-Users-xpz5km-Library-CloudStorage-Box-Box--Teaching-DS5030-Understanding-Uncertainty-Understanding-Uncertainty/19192ed6-4268-4d35-9086-608b2f1b36d6/scratchpad/hires/figs/c39_0.png"/>
          <p:cNvPicPr>
            <a:picLocks noChangeAspect="1"/>
          </p:cNvPicPr>
          <p:nvPr/>
        </p:nvPicPr>
        <p:blipFill>
          <a:blip r:embed="rId5"/>
          <a:stretch>
            <a:fillRect/>
          </a:stretch>
        </p:blipFill>
        <p:spPr>
          <a:xfrm>
            <a:off x="6492240" y="1463040"/>
            <a:ext cx="5212080" cy="1708161"/>
          </a:xfrm>
          <a:prstGeom prst="rect">
            <a:avLst/>
          </a:prstGeom>
        </p:spPr>
      </p:pic>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What Is a Confidence Interval?</a:t>
            </a:r>
            <a:endParaRPr lang="en-US" sz="3000" dirty="0"/>
          </a:p>
        </p:txBody>
      </p:sp>
      <p:sp>
        <p:nvSpPr>
          <p:cNvPr id="3" name="Text 1"/>
          <p:cNvSpPr txBox="1"/>
          <p:nvPr/>
        </p:nvSpPr>
        <p:spPr>
          <a:xfrm>
            <a:off x="548640" y="1280160"/>
            <a:ext cx="5120640" cy="745236"/>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Suppose our estimator is approximately normally distributed:</a:t>
            </a:r>
            <a:endParaRPr lang="en-US" sz="1800" dirty="0"/>
          </a:p>
        </p:txBody>
      </p:sp>
      <p:pic>
        <p:nvPicPr>
          <p:cNvPr id="4" name="Image 0" descr="ci_normal"/>
          <p:cNvPicPr>
            <a:picLocks noChangeAspect="1"/>
          </p:cNvPicPr>
          <p:nvPr/>
        </p:nvPicPr>
        <p:blipFill>
          <a:blip r:embed="rId3"/>
          <a:stretch>
            <a:fillRect/>
          </a:stretch>
        </p:blipFill>
        <p:spPr>
          <a:xfrm>
            <a:off x="6035040" y="1188720"/>
            <a:ext cx="1845488" cy="593395"/>
          </a:xfrm>
          <a:prstGeom prst="rect">
            <a:avLst/>
          </a:prstGeom>
        </p:spPr>
      </p:pic>
      <p:sp>
        <p:nvSpPr>
          <p:cNvPr id="5" name="Text 2"/>
          <p:cNvSpPr txBox="1"/>
          <p:nvPr/>
        </p:nvSpPr>
        <p:spPr>
          <a:xfrm>
            <a:off x="548640" y="1920240"/>
            <a:ext cx="5120640" cy="459486"/>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Choose a </a:t>
            </a:r>
            <a:r>
              <a:rPr lang="en-US" sz="1800" b="1" dirty="0">
                <a:solidFill>
                  <a:srgbClr val="FF42A1"/>
                </a:solidFill>
                <a:latin typeface="Aptos" pitchFamily="34" charset="0"/>
                <a:ea typeface="Aptos" pitchFamily="34" charset="-122"/>
                <a:cs typeface="Aptos" pitchFamily="34" charset="-120"/>
              </a:rPr>
              <a:t>critical value</a:t>
            </a:r>
            <a:r>
              <a:rPr lang="en-US" sz="1800" dirty="0">
                <a:solidFill>
                  <a:srgbClr val="3A3A3A"/>
                </a:solidFill>
                <a:latin typeface="Aptos" pitchFamily="34" charset="0"/>
                <a:ea typeface="Aptos" pitchFamily="34" charset="-122"/>
                <a:cs typeface="Aptos" pitchFamily="34" charset="-120"/>
              </a:rPr>
              <a:t> c such that:</a:t>
            </a:r>
            <a:endParaRPr lang="en-US" sz="1800" dirty="0"/>
          </a:p>
        </p:txBody>
      </p:sp>
      <p:pic>
        <p:nvPicPr>
          <p:cNvPr id="6" name="Image 1" descr="ci_crit"/>
          <p:cNvPicPr>
            <a:picLocks noChangeAspect="1"/>
          </p:cNvPicPr>
          <p:nvPr/>
        </p:nvPicPr>
        <p:blipFill>
          <a:blip r:embed="rId4"/>
          <a:stretch>
            <a:fillRect/>
          </a:stretch>
        </p:blipFill>
        <p:spPr>
          <a:xfrm>
            <a:off x="6035040" y="1922526"/>
            <a:ext cx="3054046" cy="593395"/>
          </a:xfrm>
          <a:prstGeom prst="rect">
            <a:avLst/>
          </a:prstGeom>
        </p:spPr>
      </p:pic>
      <p:sp>
        <p:nvSpPr>
          <p:cNvPr id="7" name="Text 3"/>
          <p:cNvSpPr txBox="1"/>
          <p:nvPr/>
        </p:nvSpPr>
        <p:spPr>
          <a:xfrm>
            <a:off x="548640" y="2699766"/>
            <a:ext cx="11064240" cy="1113282"/>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What is random? The interval, because </a:t>
            </a:r>
            <a:r>
              <a:rPr lang="en-US" sz="1800" dirty="0">
                <a:solidFill>
                  <a:srgbClr val="3A3A3A"/>
                </a:solidFill>
                <a:latin typeface="Cambria Math" panose="02040503050406030204" pitchFamily="18" charset="0"/>
                <a:ea typeface="Aptos" pitchFamily="34" charset="-122"/>
                <a:cs typeface="Aptos" pitchFamily="34" charset="-120"/>
              </a:rPr>
              <a:t>β̂</a:t>
            </a:r>
            <a:r>
              <a:rPr lang="en-US" sz="1800" dirty="0">
                <a:solidFill>
                  <a:srgbClr val="3A3A3A"/>
                </a:solidFill>
                <a:latin typeface="Aptos" pitchFamily="34" charset="0"/>
                <a:ea typeface="Aptos" pitchFamily="34" charset="-122"/>
                <a:cs typeface="Aptos" pitchFamily="34" charset="-120"/>
              </a:rPr>
              <a:t> changes with every sample. What is fixed? β₀. </a:t>
            </a:r>
            <a:r>
              <a:rPr lang="en-US" sz="1800" b="1" dirty="0">
                <a:solidFill>
                  <a:srgbClr val="FF42A1"/>
                </a:solidFill>
                <a:latin typeface="Aptos" pitchFamily="34" charset="0"/>
                <a:ea typeface="Aptos" pitchFamily="34" charset="-122"/>
                <a:cs typeface="Aptos" pitchFamily="34" charset="-120"/>
              </a:rPr>
              <a:t>The 95% describes the procedure, not any one interval</a:t>
            </a:r>
            <a:endParaRPr lang="en-US" sz="1800" dirty="0"/>
          </a:p>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Rearrange to get:</a:t>
            </a:r>
            <a:endParaRPr lang="en-US" sz="1800" dirty="0"/>
          </a:p>
        </p:txBody>
      </p:sp>
      <p:pic>
        <p:nvPicPr>
          <p:cNvPr id="8" name="Image 2" descr="ci_rearr"/>
          <p:cNvPicPr>
            <a:picLocks noChangeAspect="1"/>
          </p:cNvPicPr>
          <p:nvPr/>
        </p:nvPicPr>
        <p:blipFill>
          <a:blip r:embed="rId5"/>
          <a:stretch>
            <a:fillRect/>
          </a:stretch>
        </p:blipFill>
        <p:spPr>
          <a:xfrm>
            <a:off x="914400" y="3858768"/>
            <a:ext cx="6366460" cy="593395"/>
          </a:xfrm>
          <a:prstGeom prst="rect">
            <a:avLst/>
          </a:prstGeom>
        </p:spPr>
      </p:pic>
      <p:sp>
        <p:nvSpPr>
          <p:cNvPr id="9" name="Text 4"/>
          <p:cNvSpPr txBox="1"/>
          <p:nvPr/>
        </p:nvSpPr>
        <p:spPr>
          <a:xfrm>
            <a:off x="548640" y="4680763"/>
            <a:ext cx="11064240" cy="459486"/>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This is a statistical reliability claim, not a statement about the value of the true parameter β₀</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4</a:t>
            </a:fld>
            <a:endParaRPr lang="en-US"/>
          </a:p>
        </p:txBody>
      </p:sp>
    </p:spTree>
    <p:extLst>
      <p:ext uri="{BB962C8B-B14F-4D97-AF65-F5344CB8AC3E}">
        <p14:creationId xmlns:p14="http://schemas.microsoft.com/office/powerpoint/2010/main" val="2200311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Constructing Confidence Intervals</a:t>
            </a:r>
            <a:endParaRPr lang="en-US" sz="3000" dirty="0"/>
          </a:p>
        </p:txBody>
      </p:sp>
      <p:pic>
        <p:nvPicPr>
          <p:cNvPr id="3" name="Image 0" descr="ci90"/>
          <p:cNvPicPr>
            <a:picLocks noChangeAspect="1"/>
          </p:cNvPicPr>
          <p:nvPr/>
        </p:nvPicPr>
        <p:blipFill>
          <a:blip r:embed="rId3"/>
          <a:stretch>
            <a:fillRect/>
          </a:stretch>
        </p:blipFill>
        <p:spPr>
          <a:xfrm>
            <a:off x="914400" y="1463040"/>
            <a:ext cx="7426117" cy="566791"/>
          </a:xfrm>
          <a:prstGeom prst="rect">
            <a:avLst/>
          </a:prstGeom>
        </p:spPr>
      </p:pic>
      <p:pic>
        <p:nvPicPr>
          <p:cNvPr id="4" name="Image 1" descr="ci95"/>
          <p:cNvPicPr>
            <a:picLocks noChangeAspect="1"/>
          </p:cNvPicPr>
          <p:nvPr/>
        </p:nvPicPr>
        <p:blipFill>
          <a:blip r:embed="rId4"/>
          <a:stretch>
            <a:fillRect/>
          </a:stretch>
        </p:blipFill>
        <p:spPr>
          <a:xfrm>
            <a:off x="914400" y="2441311"/>
            <a:ext cx="7426117" cy="566791"/>
          </a:xfrm>
          <a:prstGeom prst="rect">
            <a:avLst/>
          </a:prstGeom>
        </p:spPr>
      </p:pic>
      <p:pic>
        <p:nvPicPr>
          <p:cNvPr id="5" name="Image 2" descr="ci99"/>
          <p:cNvPicPr>
            <a:picLocks noChangeAspect="1"/>
          </p:cNvPicPr>
          <p:nvPr/>
        </p:nvPicPr>
        <p:blipFill>
          <a:blip r:embed="rId5"/>
          <a:stretch>
            <a:fillRect/>
          </a:stretch>
        </p:blipFill>
        <p:spPr>
          <a:xfrm>
            <a:off x="914400" y="3419582"/>
            <a:ext cx="7426117" cy="566791"/>
          </a:xfrm>
          <a:prstGeom prst="rect">
            <a:avLst/>
          </a:prstGeom>
        </p:spPr>
      </p:pic>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Thought Experiment: Would the CLT </a:t>
            </a:r>
            <a:r>
              <a:rPr lang="en-US" dirty="0"/>
              <a:t>work in each case</a:t>
            </a:r>
            <a:r>
              <a:rPr lang="en-US" sz="3000" b="1" dirty="0">
                <a:solidFill>
                  <a:schemeClr val="tx1"/>
                </a:solidFill>
              </a:rPr>
              <a:t>?</a:t>
            </a:r>
            <a:endParaRPr lang="en-US" sz="3000" dirty="0"/>
          </a:p>
        </p:txBody>
      </p:sp>
      <p:sp>
        <p:nvSpPr>
          <p:cNvPr id="3" name="Text 1"/>
          <p:cNvSpPr txBox="1"/>
          <p:nvPr/>
        </p:nvSpPr>
        <p:spPr>
          <a:xfrm>
            <a:off x="548640" y="1280160"/>
            <a:ext cx="11064240" cy="4846320"/>
          </a:xfrm>
          <a:prstGeom prst="rect">
            <a:avLst/>
          </a:prstGeom>
          <a:noFill/>
          <a:ln/>
        </p:spPr>
        <p:txBody>
          <a:bodyPr wrap="square" lIns="0" tIns="0" rIns="0" bIns="0" rtlCol="0" anchor="t"/>
          <a:lstStyle/>
          <a:p>
            <a:pPr>
              <a:spcAft>
                <a:spcPts val="600"/>
              </a:spcAft>
              <a:buSzPct val="100000"/>
            </a:pPr>
            <a:r>
              <a:rPr lang="en-US" sz="2000" dirty="0">
                <a:solidFill>
                  <a:srgbClr val="3A3A3A"/>
                </a:solidFill>
                <a:latin typeface="Aptos" pitchFamily="34" charset="0"/>
                <a:ea typeface="Aptos" pitchFamily="34" charset="-122"/>
                <a:cs typeface="Aptos" pitchFamily="34" charset="-120"/>
              </a:rPr>
              <a:t> For each one: does "estimate ± 1.96 SE" work for a 95% CI? If not, what breaks down each time?</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1. You survey 100 students that come in 10 friend groups whose members answer the same way</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2. You average the profit ratio (this year's profit ÷ last year's) across 100 stores, where many stores roughly broke even last year</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3. A condition affects 1 in 100 people. You test 100 people and find 0 cases</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4. You bootstrap the largest sale price in the Ames data</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5. You poll 10,000 people, but only those who answer a landline at 2 pm</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6</a:t>
            </a:fld>
            <a:endParaRPr lang="en-US"/>
          </a:p>
        </p:txBody>
      </p:sp>
    </p:spTree>
    <p:extLst>
      <p:ext uri="{BB962C8B-B14F-4D97-AF65-F5344CB8AC3E}">
        <p14:creationId xmlns:p14="http://schemas.microsoft.com/office/powerpoint/2010/main" val="1696703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Thought Experiment: Answers</a:t>
            </a:r>
            <a:endParaRPr lang="en-US" sz="3000" dirty="0"/>
          </a:p>
        </p:txBody>
      </p:sp>
      <p:sp>
        <p:nvSpPr>
          <p:cNvPr id="3" name="Text 1"/>
          <p:cNvSpPr txBox="1"/>
          <p:nvPr/>
        </p:nvSpPr>
        <p:spPr>
          <a:xfrm>
            <a:off x="548640" y="1280160"/>
            <a:ext cx="11064240" cy="4846320"/>
          </a:xfrm>
          <a:prstGeom prst="rect">
            <a:avLst/>
          </a:prstGeom>
          <a:noFill/>
          <a:ln/>
        </p:spPr>
        <p:txBody>
          <a:bodyPr wrap="square" lIns="0" tIns="0" rIns="0" bIns="0" rtlCol="0" anchor="t"/>
          <a:lstStyle/>
          <a:p>
            <a:pPr marL="228600" indent="-228600">
              <a:spcAft>
                <a:spcPts val="600"/>
              </a:spcAft>
              <a:buSzPct val="100000"/>
              <a:buChar char="•"/>
            </a:pPr>
            <a:r>
              <a:rPr lang="en-US" sz="1700" dirty="0">
                <a:solidFill>
                  <a:srgbClr val="3A3A3A"/>
                </a:solidFill>
                <a:latin typeface="Aptos" pitchFamily="34" charset="0"/>
                <a:ea typeface="Aptos" pitchFamily="34" charset="-122"/>
                <a:cs typeface="Aptos" pitchFamily="34" charset="-120"/>
              </a:rPr>
              <a:t>1. </a:t>
            </a:r>
            <a:r>
              <a:rPr lang="en-US" sz="1700" b="1" dirty="0">
                <a:solidFill>
                  <a:srgbClr val="FF42A1"/>
                </a:solidFill>
                <a:latin typeface="Aptos" pitchFamily="34" charset="0"/>
                <a:ea typeface="Aptos" pitchFamily="34" charset="-122"/>
                <a:cs typeface="Aptos" pitchFamily="34" charset="-120"/>
              </a:rPr>
              <a:t>Dependence.</a:t>
            </a:r>
            <a:r>
              <a:rPr lang="en-US" sz="1700" dirty="0">
                <a:solidFill>
                  <a:srgbClr val="3A3A3A"/>
                </a:solidFill>
                <a:latin typeface="Aptos" pitchFamily="34" charset="0"/>
                <a:ea typeface="Aptos" pitchFamily="34" charset="-122"/>
                <a:cs typeface="Aptos" pitchFamily="34" charset="-120"/>
              </a:rPr>
              <a:t> The 100 answers carry about 10 independent pieces of information, so s/√100 is too small</a:t>
            </a:r>
            <a:endParaRPr lang="en-US" sz="1700" dirty="0"/>
          </a:p>
          <a:p>
            <a:pPr marL="228600" indent="-228600">
              <a:spcAft>
                <a:spcPts val="600"/>
              </a:spcAft>
              <a:buSzPct val="100000"/>
              <a:buChar char="•"/>
            </a:pPr>
            <a:r>
              <a:rPr lang="en-US" sz="1700" dirty="0">
                <a:solidFill>
                  <a:srgbClr val="3A3A3A"/>
                </a:solidFill>
                <a:latin typeface="Aptos" pitchFamily="34" charset="0"/>
                <a:ea typeface="Aptos" pitchFamily="34" charset="-122"/>
                <a:cs typeface="Aptos" pitchFamily="34" charset="-120"/>
              </a:rPr>
              <a:t>2. </a:t>
            </a:r>
            <a:r>
              <a:rPr lang="en-US" sz="1700" b="1" dirty="0">
                <a:solidFill>
                  <a:srgbClr val="FF42A1"/>
                </a:solidFill>
                <a:latin typeface="Aptos" pitchFamily="34" charset="0"/>
                <a:ea typeface="Aptos" pitchFamily="34" charset="-122"/>
                <a:cs typeface="Aptos" pitchFamily="34" charset="-120"/>
              </a:rPr>
              <a:t>Infinite variance.</a:t>
            </a:r>
            <a:r>
              <a:rPr lang="en-US" sz="1700" dirty="0">
                <a:solidFill>
                  <a:srgbClr val="3A3A3A"/>
                </a:solidFill>
                <a:latin typeface="Aptos" pitchFamily="34" charset="0"/>
                <a:ea typeface="Aptos" pitchFamily="34" charset="-122"/>
                <a:cs typeface="Aptos" pitchFamily="34" charset="-120"/>
              </a:rPr>
              <a:t> A store that broke even has a denominator near 0, so one ratio can be enormous, of either sign. Ratios like this have Cauchy-type tails: the mean of 100 is as spread out as a single ratio</a:t>
            </a:r>
            <a:endParaRPr lang="en-US" sz="1700" dirty="0"/>
          </a:p>
          <a:p>
            <a:pPr marL="228600" indent="-228600">
              <a:spcAft>
                <a:spcPts val="600"/>
              </a:spcAft>
              <a:buSzPct val="100000"/>
              <a:buChar char="•"/>
            </a:pPr>
            <a:r>
              <a:rPr lang="en-US" sz="1700" dirty="0">
                <a:solidFill>
                  <a:srgbClr val="3A3A3A"/>
                </a:solidFill>
                <a:latin typeface="Aptos" pitchFamily="34" charset="0"/>
                <a:ea typeface="Aptos" pitchFamily="34" charset="-122"/>
                <a:cs typeface="Aptos" pitchFamily="34" charset="-120"/>
              </a:rPr>
              <a:t>3. </a:t>
            </a:r>
            <a:r>
              <a:rPr lang="en-US" sz="1700" b="1" dirty="0">
                <a:solidFill>
                  <a:srgbClr val="FF42A1"/>
                </a:solidFill>
                <a:latin typeface="Aptos" pitchFamily="34" charset="0"/>
                <a:ea typeface="Aptos" pitchFamily="34" charset="-122"/>
                <a:cs typeface="Aptos" pitchFamily="34" charset="-120"/>
              </a:rPr>
              <a:t>Too little data for the skew.</a:t>
            </a:r>
            <a:r>
              <a:rPr lang="en-US" sz="1700" dirty="0">
                <a:solidFill>
                  <a:srgbClr val="3A3A3A"/>
                </a:solidFill>
                <a:latin typeface="Aptos" pitchFamily="34" charset="0"/>
                <a:ea typeface="Aptos" pitchFamily="34" charset="-122"/>
                <a:cs typeface="Aptos" pitchFamily="34" charset="-120"/>
              </a:rPr>
              <a:t> Pr[0 cases] = 0.99¹⁰⁰ = 0.37. Then </a:t>
            </a:r>
            <a:r>
              <a:rPr lang="en-US" sz="1700" dirty="0">
                <a:solidFill>
                  <a:srgbClr val="3A3A3A"/>
                </a:solidFill>
                <a:latin typeface="Cambria Math" panose="02040503050406030204" pitchFamily="18" charset="0"/>
                <a:ea typeface="Aptos" pitchFamily="34" charset="-122"/>
                <a:cs typeface="Aptos" pitchFamily="34" charset="-120"/>
              </a:rPr>
              <a:t>p̂</a:t>
            </a:r>
            <a:r>
              <a:rPr lang="en-US" sz="1700" dirty="0">
                <a:solidFill>
                  <a:srgbClr val="3A3A3A"/>
                </a:solidFill>
                <a:latin typeface="Aptos" pitchFamily="34" charset="0"/>
                <a:ea typeface="Aptos" pitchFamily="34" charset="-122"/>
                <a:cs typeface="Aptos" pitchFamily="34" charset="-120"/>
              </a:rPr>
              <a:t> = 0, SE = 0, and the "95% CI" is [0, 0]</a:t>
            </a:r>
            <a:endParaRPr lang="en-US" sz="1700" dirty="0"/>
          </a:p>
          <a:p>
            <a:pPr marL="228600" indent="-228600">
              <a:spcAft>
                <a:spcPts val="600"/>
              </a:spcAft>
              <a:buSzPct val="100000"/>
              <a:buChar char="•"/>
            </a:pPr>
            <a:r>
              <a:rPr lang="en-US" sz="1700" dirty="0">
                <a:solidFill>
                  <a:srgbClr val="3A3A3A"/>
                </a:solidFill>
                <a:latin typeface="Aptos" pitchFamily="34" charset="0"/>
                <a:ea typeface="Aptos" pitchFamily="34" charset="-122"/>
                <a:cs typeface="Aptos" pitchFamily="34" charset="-120"/>
              </a:rPr>
              <a:t>4. </a:t>
            </a:r>
            <a:r>
              <a:rPr lang="en-US" sz="1700" b="1" dirty="0">
                <a:solidFill>
                  <a:srgbClr val="FF42A1"/>
                </a:solidFill>
                <a:latin typeface="Aptos" pitchFamily="34" charset="0"/>
                <a:ea typeface="Aptos" pitchFamily="34" charset="-122"/>
                <a:cs typeface="Aptos" pitchFamily="34" charset="-120"/>
              </a:rPr>
              <a:t>Not a sum.</a:t>
            </a:r>
            <a:r>
              <a:rPr lang="en-US" sz="1700" dirty="0">
                <a:solidFill>
                  <a:srgbClr val="3A3A3A"/>
                </a:solidFill>
                <a:latin typeface="Aptos" pitchFamily="34" charset="0"/>
                <a:ea typeface="Aptos" pitchFamily="34" charset="-122"/>
                <a:cs typeface="Aptos" pitchFamily="34" charset="-120"/>
              </a:rPr>
              <a:t> The max is not an average of many pieces. A resample can never exceed the sample's largest price, so the bootstrap max piles up at one value</a:t>
            </a:r>
            <a:endParaRPr lang="en-US" sz="1700" dirty="0"/>
          </a:p>
          <a:p>
            <a:pPr marL="228600" indent="-228600">
              <a:spcAft>
                <a:spcPts val="600"/>
              </a:spcAft>
              <a:buSzPct val="100000"/>
              <a:buChar char="•"/>
            </a:pPr>
            <a:r>
              <a:rPr lang="en-US" sz="1700" dirty="0">
                <a:solidFill>
                  <a:srgbClr val="3A3A3A"/>
                </a:solidFill>
                <a:latin typeface="Aptos" pitchFamily="34" charset="0"/>
                <a:ea typeface="Aptos" pitchFamily="34" charset="-122"/>
                <a:cs typeface="Aptos" pitchFamily="34" charset="-120"/>
              </a:rPr>
              <a:t>5. </a:t>
            </a:r>
            <a:r>
              <a:rPr lang="en-US" sz="1700" b="1" dirty="0">
                <a:solidFill>
                  <a:srgbClr val="FF42A1"/>
                </a:solidFill>
                <a:latin typeface="Aptos" pitchFamily="34" charset="0"/>
                <a:ea typeface="Aptos" pitchFamily="34" charset="-122"/>
                <a:cs typeface="Aptos" pitchFamily="34" charset="-120"/>
              </a:rPr>
              <a:t>Wrong target.</a:t>
            </a:r>
            <a:r>
              <a:rPr lang="en-US" sz="1700" dirty="0">
                <a:solidFill>
                  <a:srgbClr val="3A3A3A"/>
                </a:solidFill>
                <a:latin typeface="Aptos" pitchFamily="34" charset="0"/>
                <a:ea typeface="Aptos" pitchFamily="34" charset="-122"/>
                <a:cs typeface="Aptos" pitchFamily="34" charset="-120"/>
              </a:rPr>
              <a:t> The CLT still holds: x̄ is normal around the mean of landline-at-2-pm answerers. The interval is precise about the wrong number, and more data only makes it more confidently wrong</a:t>
            </a:r>
            <a:endParaRPr lang="en-US" sz="1700" dirty="0"/>
          </a:p>
          <a:p>
            <a:pPr>
              <a:buNone/>
            </a:pPr>
            <a:r>
              <a:rPr lang="en-US" sz="1800" b="1" dirty="0">
                <a:solidFill>
                  <a:srgbClr val="FF42A1"/>
                </a:solidFill>
                <a:latin typeface="Aptos" pitchFamily="34" charset="0"/>
                <a:ea typeface="Aptos" pitchFamily="34" charset="-122"/>
                <a:cs typeface="Aptos" pitchFamily="34" charset="-120"/>
              </a:rPr>
              <a:t>Estimate ± 1.96 SE can fail because the CLT fails (2, 4), the SE is wrong (1, 3), or the target is wrong (5)</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7</a:t>
            </a:fld>
            <a:endParaRPr lang="en-US"/>
          </a:p>
        </p:txBody>
      </p:sp>
    </p:spTree>
    <p:extLst>
      <p:ext uri="{BB962C8B-B14F-4D97-AF65-F5344CB8AC3E}">
        <p14:creationId xmlns:p14="http://schemas.microsoft.com/office/powerpoint/2010/main" val="3066763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Confidence </a:t>
            </a:r>
            <a:r>
              <a:rPr lang="en-US" sz="3000" b="1">
                <a:solidFill>
                  <a:schemeClr val="tx1"/>
                </a:solidFill>
              </a:rPr>
              <a:t>interval calculation exercise</a:t>
            </a:r>
            <a:endParaRPr lang="en-US" sz="3000" dirty="0"/>
          </a:p>
        </p:txBody>
      </p:sp>
      <p:sp>
        <p:nvSpPr>
          <p:cNvPr id="3" name="Text 1"/>
          <p:cNvSpPr txBox="1"/>
          <p:nvPr/>
        </p:nvSpPr>
        <p:spPr>
          <a:xfrm>
            <a:off x="548640" y="1280160"/>
            <a:ext cx="11064240" cy="2084578"/>
          </a:xfrm>
          <a:prstGeom prst="rect">
            <a:avLst/>
          </a:prstGeom>
          <a:noFill/>
          <a:ln/>
        </p:spPr>
        <p:txBody>
          <a:bodyPr wrap="square" lIns="0" tIns="0" rIns="0" bIns="0" rtlCol="0" anchor="t"/>
          <a:lstStyle/>
          <a:p>
            <a:pPr marL="228600" indent="-228600">
              <a:spcAft>
                <a:spcPts val="600"/>
              </a:spcAft>
              <a:buSzPct val="100000"/>
              <a:buChar char="•"/>
            </a:pPr>
            <a:r>
              <a:rPr lang="en-US" sz="2200" dirty="0">
                <a:solidFill>
                  <a:srgbClr val="3A3A3A"/>
                </a:solidFill>
                <a:latin typeface="Aptos" pitchFamily="34" charset="0"/>
                <a:ea typeface="Aptos" pitchFamily="34" charset="-122"/>
                <a:cs typeface="Aptos" pitchFamily="34" charset="-120"/>
              </a:rPr>
              <a:t>You run a regression and get a coefficient of 10 with a standard error of 5 for a key coefficient</a:t>
            </a:r>
            <a:endParaRPr lang="en-US" sz="2200" dirty="0"/>
          </a:p>
          <a:p>
            <a:pPr marL="228600" indent="-228600">
              <a:spcAft>
                <a:spcPts val="600"/>
              </a:spcAft>
              <a:buSzPct val="100000"/>
              <a:buChar char="•"/>
            </a:pPr>
            <a:r>
              <a:rPr lang="en-US" sz="2200" dirty="0">
                <a:solidFill>
                  <a:srgbClr val="3A3A3A"/>
                </a:solidFill>
                <a:latin typeface="Aptos" pitchFamily="34" charset="0"/>
                <a:ea typeface="Aptos" pitchFamily="34" charset="-122"/>
                <a:cs typeface="Aptos" pitchFamily="34" charset="-120"/>
              </a:rPr>
              <a:t>Compute 90/95/99% confidence intervals for the coefficient</a:t>
            </a:r>
            <a:endParaRPr lang="en-US" sz="2200" dirty="0"/>
          </a:p>
          <a:p>
            <a:pPr marL="228600" indent="-228600">
              <a:spcAft>
                <a:spcPts val="600"/>
              </a:spcAft>
              <a:buSzPct val="100000"/>
              <a:buChar char="•"/>
            </a:pPr>
            <a:r>
              <a:rPr lang="en-US" sz="2200" dirty="0">
                <a:solidFill>
                  <a:srgbClr val="3A3A3A"/>
                </a:solidFill>
                <a:latin typeface="Aptos" pitchFamily="34" charset="0"/>
                <a:ea typeface="Aptos" pitchFamily="34" charset="-122"/>
                <a:cs typeface="Aptos" pitchFamily="34" charset="-120"/>
              </a:rPr>
              <a:t>For which levels of confidence is a statistically significant difference from 0 detected?</a:t>
            </a:r>
            <a:endParaRPr lang="en-US" sz="22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Exercise: Answers</a:t>
            </a:r>
            <a:endParaRPr lang="en-US" sz="3000" dirty="0"/>
          </a:p>
        </p:txBody>
      </p:sp>
      <p:sp>
        <p:nvSpPr>
          <p:cNvPr id="3" name="Text 1"/>
          <p:cNvSpPr txBox="1"/>
          <p:nvPr/>
        </p:nvSpPr>
        <p:spPr>
          <a:xfrm>
            <a:off x="548640" y="1280160"/>
            <a:ext cx="11064240" cy="4206240"/>
          </a:xfrm>
          <a:prstGeom prst="rect">
            <a:avLst/>
          </a:prstGeom>
          <a:noFill/>
          <a:ln/>
        </p:spPr>
        <p:txBody>
          <a:bodyPr wrap="square" lIns="0" tIns="0" rIns="0" bIns="0" rtlCol="0" anchor="t"/>
          <a:lstStyle/>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Coefficient 10, SE 5</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90% CI: (10 − 1.645 × 5, 10 + 1.645 × 5) = (1.78, 18.23)</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95% CI: (10 − 1.960 × 5, 10 + 1.960 × 5) = (0.20, 19.80)</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99% CI: (10 − 2.576 × 5, 10 + 2.576 × 5) = (−2.88, 22.88)</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Significantly different from 0 at </a:t>
            </a:r>
            <a:r>
              <a:rPr lang="en-US" sz="2000" b="1" dirty="0">
                <a:solidFill>
                  <a:srgbClr val="FF42A1"/>
                </a:solidFill>
                <a:latin typeface="Aptos" pitchFamily="34" charset="0"/>
                <a:ea typeface="Aptos" pitchFamily="34" charset="-122"/>
                <a:cs typeface="Aptos" pitchFamily="34" charset="-120"/>
              </a:rPr>
              <a:t>90% and 95%</a:t>
            </a:r>
            <a:r>
              <a:rPr lang="en-US" sz="2000" dirty="0">
                <a:solidFill>
                  <a:srgbClr val="3A3A3A"/>
                </a:solidFill>
                <a:latin typeface="Aptos" pitchFamily="34" charset="0"/>
                <a:ea typeface="Aptos" pitchFamily="34" charset="-122"/>
                <a:cs typeface="Aptos" pitchFamily="34" charset="-120"/>
              </a:rPr>
              <a:t> (0 is outside), but </a:t>
            </a:r>
            <a:r>
              <a:rPr lang="en-US" sz="2000" b="1" dirty="0">
                <a:solidFill>
                  <a:srgbClr val="FF42A1"/>
                </a:solidFill>
                <a:latin typeface="Aptos" pitchFamily="34" charset="0"/>
                <a:ea typeface="Aptos" pitchFamily="34" charset="-122"/>
                <a:cs typeface="Aptos" pitchFamily="34" charset="-120"/>
              </a:rPr>
              <a:t>not at 99%</a:t>
            </a:r>
            <a:r>
              <a:rPr lang="en-US" sz="2000" dirty="0">
                <a:solidFill>
                  <a:srgbClr val="3A3A3A"/>
                </a:solidFill>
                <a:latin typeface="Aptos" pitchFamily="34" charset="0"/>
                <a:ea typeface="Aptos" pitchFamily="34" charset="-122"/>
                <a:cs typeface="Aptos" pitchFamily="34" charset="-120"/>
              </a:rPr>
              <a:t> (0 is inside)</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Shortcut: the estimate is 10/5 = 2 SEs from 0. It's significant whenever 2 beats the critical value: 2 &gt; 1.645, 2 &gt; 1.960, 2 &lt; 2.576</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CI to Hypothesis Test: TEST = INTERVAL</a:t>
            </a:r>
            <a:endParaRPr lang="en-US" sz="3000" dirty="0"/>
          </a:p>
        </p:txBody>
      </p:sp>
      <p:sp>
        <p:nvSpPr>
          <p:cNvPr id="3" name="Text 1"/>
          <p:cNvSpPr txBox="1"/>
          <p:nvPr/>
        </p:nvSpPr>
        <p:spPr>
          <a:xfrm>
            <a:off x="563880" y="2380298"/>
            <a:ext cx="11064240" cy="808736"/>
          </a:xfrm>
          <a:prstGeom prst="rect">
            <a:avLst/>
          </a:prstGeom>
          <a:noFill/>
          <a:ln/>
        </p:spPr>
        <p:txBody>
          <a:bodyPr wrap="square" lIns="0" tIns="0" rIns="0" bIns="0" rtlCol="0" anchor="t"/>
          <a:lstStyle/>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If we hypothesize β₀ takes some value, usually zero, this becomes a </a:t>
            </a:r>
            <a:r>
              <a:rPr lang="en-US" sz="2000" b="1" dirty="0">
                <a:solidFill>
                  <a:srgbClr val="FF42A1"/>
                </a:solidFill>
                <a:latin typeface="Aptos" pitchFamily="34" charset="0"/>
                <a:ea typeface="Aptos" pitchFamily="34" charset="-122"/>
                <a:cs typeface="Aptos" pitchFamily="34" charset="-120"/>
              </a:rPr>
              <a:t>hypothesis test</a:t>
            </a:r>
            <a:r>
              <a:rPr lang="en-US" sz="2000" dirty="0">
                <a:solidFill>
                  <a:srgbClr val="3A3A3A"/>
                </a:solidFill>
                <a:latin typeface="Aptos" pitchFamily="34" charset="0"/>
                <a:ea typeface="Aptos" pitchFamily="34" charset="-122"/>
                <a:cs typeface="Aptos" pitchFamily="34" charset="-120"/>
              </a:rPr>
              <a:t>: is the hypothesized value β₀ in the interval or not?</a:t>
            </a:r>
            <a:endParaRPr lang="en-US" sz="2000" dirty="0"/>
          </a:p>
        </p:txBody>
      </p:sp>
      <p:pic>
        <p:nvPicPr>
          <p:cNvPr id="4" name="Image 0" descr="test"/>
          <p:cNvPicPr>
            <a:picLocks noChangeAspect="1"/>
          </p:cNvPicPr>
          <p:nvPr/>
        </p:nvPicPr>
        <p:blipFill>
          <a:blip r:embed="rId3"/>
          <a:stretch>
            <a:fillRect/>
          </a:stretch>
        </p:blipFill>
        <p:spPr>
          <a:xfrm>
            <a:off x="929640" y="3280474"/>
            <a:ext cx="6926626" cy="659328"/>
          </a:xfrm>
          <a:prstGeom prst="rect">
            <a:avLst/>
          </a:prstGeom>
        </p:spPr>
      </p:pic>
      <p:sp>
        <p:nvSpPr>
          <p:cNvPr id="5" name="Text 2"/>
          <p:cNvSpPr txBox="1"/>
          <p:nvPr/>
        </p:nvSpPr>
        <p:spPr>
          <a:xfrm>
            <a:off x="563880" y="4214122"/>
            <a:ext cx="11064240" cy="491236"/>
          </a:xfrm>
          <a:prstGeom prst="rect">
            <a:avLst/>
          </a:prstGeom>
          <a:noFill/>
          <a:ln/>
        </p:spPr>
        <p:txBody>
          <a:bodyPr wrap="square" lIns="0" tIns="0" rIns="0" bIns="0" rtlCol="0" anchor="t"/>
          <a:lstStyle/>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Is β₀ (often 0) outside the CI? If so, reject H₀; if it is inside the CI, fail to reject H₀</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10</a:t>
            </a:fld>
            <a:endParaRPr lang="en-US"/>
          </a:p>
        </p:txBody>
      </p:sp>
      <p:pic>
        <p:nvPicPr>
          <p:cNvPr id="6" name="Image 2" descr="ci_rearr">
            <a:extLst>
              <a:ext uri="{FF2B5EF4-FFF2-40B4-BE49-F238E27FC236}">
                <a16:creationId xmlns:a16="http://schemas.microsoft.com/office/drawing/2014/main" id="{7FF62062-648C-7DBB-CFDF-F36F49DA99D2}"/>
              </a:ext>
            </a:extLst>
          </p:cNvPr>
          <p:cNvPicPr>
            <a:picLocks noChangeAspect="1"/>
          </p:cNvPicPr>
          <p:nvPr/>
        </p:nvPicPr>
        <p:blipFill>
          <a:blip r:embed="rId4"/>
          <a:stretch>
            <a:fillRect/>
          </a:stretch>
        </p:blipFill>
        <p:spPr>
          <a:xfrm>
            <a:off x="1085850" y="1494747"/>
            <a:ext cx="6366460" cy="59339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From Test to p-Value</a:t>
            </a:r>
            <a:endParaRPr lang="en-US" sz="3000" dirty="0"/>
          </a:p>
        </p:txBody>
      </p:sp>
      <p:sp>
        <p:nvSpPr>
          <p:cNvPr id="3" name="Text 1"/>
          <p:cNvSpPr txBox="1"/>
          <p:nvPr/>
        </p:nvSpPr>
        <p:spPr>
          <a:xfrm>
            <a:off x="548640" y="1280160"/>
            <a:ext cx="11064240" cy="4846320"/>
          </a:xfrm>
          <a:prstGeom prst="rect">
            <a:avLst/>
          </a:prstGeom>
          <a:noFill/>
          <a:ln/>
        </p:spPr>
        <p:txBody>
          <a:bodyPr wrap="square" lIns="0" tIns="0" rIns="0" bIns="0" rtlCol="0" anchor="t"/>
          <a:lstStyle/>
          <a:p>
            <a:pPr marL="228600" indent="-228600">
              <a:spcAft>
                <a:spcPts val="900"/>
              </a:spcAft>
              <a:buSzPct val="100000"/>
              <a:buChar char="•"/>
            </a:pPr>
            <a:r>
              <a:rPr lang="en-US" sz="2000" dirty="0">
                <a:solidFill>
                  <a:srgbClr val="3A3A3A"/>
                </a:solidFill>
                <a:latin typeface="Aptos" pitchFamily="34" charset="0"/>
                <a:ea typeface="Aptos" pitchFamily="34" charset="-122"/>
                <a:cs typeface="Aptos" pitchFamily="34" charset="-120"/>
              </a:rPr>
              <a:t>The test on the last slide, like a confidence interval, gives a yes/no at one α. The </a:t>
            </a:r>
            <a:r>
              <a:rPr lang="en-US" sz="2000" b="1" dirty="0">
                <a:solidFill>
                  <a:srgbClr val="FF42A1"/>
                </a:solidFill>
                <a:latin typeface="Aptos" pitchFamily="34" charset="0"/>
                <a:ea typeface="Aptos" pitchFamily="34" charset="-122"/>
                <a:cs typeface="Aptos" pitchFamily="34" charset="-120"/>
              </a:rPr>
              <a:t>p-value</a:t>
            </a:r>
            <a:r>
              <a:rPr lang="en-US" sz="2000" dirty="0">
                <a:solidFill>
                  <a:srgbClr val="3A3A3A"/>
                </a:solidFill>
                <a:latin typeface="Aptos" pitchFamily="34" charset="0"/>
                <a:ea typeface="Aptos" pitchFamily="34" charset="-122"/>
                <a:cs typeface="Aptos" pitchFamily="34" charset="-120"/>
              </a:rPr>
              <a:t> tells you every α at which you would reject</a:t>
            </a:r>
          </a:p>
          <a:p>
            <a:pPr marL="228600" indent="-228600">
              <a:spcAft>
                <a:spcPts val="900"/>
              </a:spcAft>
              <a:buSzPct val="100000"/>
              <a:buChar char="•"/>
            </a:pPr>
            <a:r>
              <a:rPr lang="en-US" sz="2000" dirty="0">
                <a:solidFill>
                  <a:srgbClr val="3A3A3A"/>
                </a:solidFill>
                <a:latin typeface="Aptos" pitchFamily="34" charset="0"/>
                <a:ea typeface="Aptos" pitchFamily="34" charset="-122"/>
                <a:cs typeface="Aptos" pitchFamily="34" charset="-120"/>
              </a:rPr>
              <a:t>Compute z = (estimate − θ</a:t>
            </a:r>
            <a:r>
              <a:rPr lang="en-US" sz="2000" baseline="-25000" dirty="0">
                <a:solidFill>
                  <a:srgbClr val="3A3A3A"/>
                </a:solidFill>
                <a:latin typeface="Aptos" pitchFamily="34" charset="0"/>
                <a:ea typeface="Aptos" pitchFamily="34" charset="-122"/>
                <a:cs typeface="Aptos" pitchFamily="34" charset="-120"/>
              </a:rPr>
              <a:t>0</a:t>
            </a:r>
            <a:r>
              <a:rPr lang="en-US" sz="2000" dirty="0">
                <a:solidFill>
                  <a:srgbClr val="3A3A3A"/>
                </a:solidFill>
                <a:latin typeface="Aptos" pitchFamily="34" charset="0"/>
                <a:ea typeface="Aptos" pitchFamily="34" charset="-122"/>
                <a:cs typeface="Aptos" pitchFamily="34" charset="-120"/>
              </a:rPr>
              <a:t>) / SE, then </a:t>
            </a:r>
            <a:r>
              <a:rPr lang="en-US" sz="2000" b="1" dirty="0">
                <a:solidFill>
                  <a:srgbClr val="FF42A1"/>
                </a:solidFill>
                <a:latin typeface="Aptos" pitchFamily="34" charset="0"/>
                <a:ea typeface="Aptos" pitchFamily="34" charset="-122"/>
                <a:cs typeface="Aptos" pitchFamily="34" charset="-120"/>
              </a:rPr>
              <a:t>p = 2Φ(−|z|)</a:t>
            </a:r>
            <a:r>
              <a:rPr lang="en-US" sz="2000" dirty="0">
                <a:solidFill>
                  <a:srgbClr val="3A3A3A"/>
                </a:solidFill>
                <a:latin typeface="Aptos" pitchFamily="34" charset="0"/>
                <a:ea typeface="Aptos" pitchFamily="34" charset="-122"/>
                <a:cs typeface="Aptos" pitchFamily="34" charset="-120"/>
              </a:rPr>
              <a:t>: the probability, </a:t>
            </a:r>
            <a:r>
              <a:rPr lang="en-US" sz="2000" b="1" dirty="0">
                <a:solidFill>
                  <a:srgbClr val="FF42A1"/>
                </a:solidFill>
                <a:latin typeface="Aptos" pitchFamily="34" charset="0"/>
                <a:ea typeface="Aptos" pitchFamily="34" charset="-122"/>
                <a:cs typeface="Aptos" pitchFamily="34" charset="-120"/>
              </a:rPr>
              <a:t>if the null were true</a:t>
            </a:r>
            <a:r>
              <a:rPr lang="en-US" sz="2000" dirty="0">
                <a:solidFill>
                  <a:srgbClr val="3A3A3A"/>
                </a:solidFill>
                <a:latin typeface="Aptos" pitchFamily="34" charset="0"/>
                <a:ea typeface="Aptos" pitchFamily="34" charset="-122"/>
                <a:cs typeface="Aptos" pitchFamily="34" charset="-120"/>
              </a:rPr>
              <a:t>, of an estimate at least as far from θ</a:t>
            </a:r>
            <a:r>
              <a:rPr lang="en-US" sz="2000" baseline="-25000" dirty="0">
                <a:solidFill>
                  <a:srgbClr val="3A3A3A"/>
                </a:solidFill>
                <a:latin typeface="Aptos" pitchFamily="34" charset="0"/>
                <a:ea typeface="Aptos" pitchFamily="34" charset="-122"/>
                <a:cs typeface="Aptos" pitchFamily="34" charset="-120"/>
              </a:rPr>
              <a:t>0</a:t>
            </a:r>
            <a:r>
              <a:rPr lang="en-US" sz="2000" dirty="0">
                <a:solidFill>
                  <a:srgbClr val="3A3A3A"/>
                </a:solidFill>
                <a:latin typeface="Aptos" pitchFamily="34" charset="0"/>
                <a:ea typeface="Aptos" pitchFamily="34" charset="-122"/>
                <a:cs typeface="Aptos" pitchFamily="34" charset="-120"/>
              </a:rPr>
              <a:t> as ours </a:t>
            </a:r>
          </a:p>
          <a:p>
            <a:pPr marL="228600" indent="-228600">
              <a:spcAft>
                <a:spcPts val="900"/>
              </a:spcAft>
              <a:buSzPct val="100000"/>
              <a:buChar char="•"/>
            </a:pPr>
            <a:r>
              <a:rPr lang="en-US" sz="2000" dirty="0">
                <a:solidFill>
                  <a:srgbClr val="3A3A3A"/>
                </a:solidFill>
                <a:latin typeface="Aptos" pitchFamily="34" charset="0"/>
                <a:ea typeface="Aptos" pitchFamily="34" charset="-122"/>
                <a:cs typeface="Aptos" pitchFamily="34" charset="-120"/>
              </a:rPr>
              <a:t>Coefficient 10, SE 5: z = 2, so p = 2Φ(−2) = 0.046. Reject at α = .10 and .05, not at .01: the same answers the 90/95/99% CIs gave</a:t>
            </a:r>
          </a:p>
          <a:p>
            <a:pPr marL="228600" indent="-228600">
              <a:spcAft>
                <a:spcPts val="900"/>
              </a:spcAft>
              <a:buSzPct val="100000"/>
              <a:buChar char="•"/>
            </a:pPr>
            <a:r>
              <a:rPr lang="en-US" sz="2000" b="1" dirty="0">
                <a:solidFill>
                  <a:srgbClr val="FF42A1"/>
                </a:solidFill>
                <a:latin typeface="Aptos" pitchFamily="34" charset="0"/>
                <a:ea typeface="Aptos" pitchFamily="34" charset="-122"/>
                <a:cs typeface="Aptos" pitchFamily="34" charset="-120"/>
              </a:rPr>
              <a:t>Reject H₀ exactly when p &lt; α</a:t>
            </a:r>
            <a:r>
              <a:rPr lang="en-US" sz="2000" dirty="0">
                <a:solidFill>
                  <a:srgbClr val="3A3A3A"/>
                </a:solidFill>
                <a:latin typeface="Aptos" pitchFamily="34" charset="0"/>
                <a:ea typeface="Aptos" pitchFamily="34" charset="-122"/>
                <a:cs typeface="Aptos" pitchFamily="34" charset="-120"/>
              </a:rPr>
              <a:t>, which is exactly when θ</a:t>
            </a:r>
            <a:r>
              <a:rPr lang="en-US" sz="2000" baseline="-25000" dirty="0">
                <a:solidFill>
                  <a:srgbClr val="3A3A3A"/>
                </a:solidFill>
                <a:latin typeface="Aptos" pitchFamily="34" charset="0"/>
                <a:ea typeface="Aptos" pitchFamily="34" charset="-122"/>
                <a:cs typeface="Aptos" pitchFamily="34" charset="-120"/>
              </a:rPr>
              <a:t>0</a:t>
            </a:r>
            <a:r>
              <a:rPr lang="en-US" sz="2000" dirty="0">
                <a:solidFill>
                  <a:srgbClr val="3A3A3A"/>
                </a:solidFill>
                <a:latin typeface="Aptos" pitchFamily="34" charset="0"/>
                <a:ea typeface="Aptos" pitchFamily="34" charset="-122"/>
                <a:cs typeface="Aptos" pitchFamily="34" charset="-120"/>
              </a:rPr>
              <a:t> is outside the (1 − α) CI. Same information, two ways to report it</a:t>
            </a:r>
          </a:p>
          <a:p>
            <a:pPr marL="228600" indent="-228600">
              <a:spcAft>
                <a:spcPts val="900"/>
              </a:spcAft>
              <a:buSzPct val="100000"/>
              <a:buChar char="•"/>
            </a:pPr>
            <a:r>
              <a:rPr lang="en-US" sz="2000" dirty="0">
                <a:solidFill>
                  <a:srgbClr val="3A3A3A"/>
                </a:solidFill>
                <a:latin typeface="Aptos" pitchFamily="34" charset="0"/>
                <a:ea typeface="Aptos" pitchFamily="34" charset="-122"/>
                <a:cs typeface="Aptos" pitchFamily="34" charset="-120"/>
              </a:rPr>
              <a:t>The p-value is </a:t>
            </a:r>
            <a:r>
              <a:rPr lang="en-US" sz="2000" b="1" dirty="0">
                <a:solidFill>
                  <a:srgbClr val="FF42A1"/>
                </a:solidFill>
                <a:latin typeface="Aptos" pitchFamily="34" charset="0"/>
                <a:ea typeface="Aptos" pitchFamily="34" charset="-122"/>
                <a:cs typeface="Aptos" pitchFamily="34" charset="-120"/>
              </a:rPr>
              <a:t>not</a:t>
            </a:r>
            <a:r>
              <a:rPr lang="en-US" sz="2000" dirty="0">
                <a:solidFill>
                  <a:srgbClr val="3A3A3A"/>
                </a:solidFill>
                <a:latin typeface="Aptos" pitchFamily="34" charset="0"/>
                <a:ea typeface="Aptos" pitchFamily="34" charset="-122"/>
                <a:cs typeface="Aptos" pitchFamily="34" charset="-120"/>
              </a:rPr>
              <a:t> the probability that H₀ is true. It is computed assuming H₀ is true</a:t>
            </a:r>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11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Where Φ Comes In</a:t>
            </a:r>
            <a:endParaRPr lang="en-US" sz="3000" dirty="0"/>
          </a:p>
        </p:txBody>
      </p:sp>
      <p:sp>
        <p:nvSpPr>
          <p:cNvPr id="3" name="Text 1"/>
          <p:cNvSpPr txBox="1"/>
          <p:nvPr/>
        </p:nvSpPr>
        <p:spPr>
          <a:xfrm>
            <a:off x="548640" y="1280160"/>
            <a:ext cx="5394960" cy="4754880"/>
          </a:xfrm>
          <a:prstGeom prst="rect">
            <a:avLst/>
          </a:prstGeom>
          <a:noFill/>
          <a:ln/>
        </p:spPr>
        <p:txBody>
          <a:bodyPr wrap="square" lIns="0" tIns="0" rIns="0" bIns="0" rtlCol="0" anchor="t"/>
          <a:lstStyle/>
          <a:p>
            <a:pPr marL="228600" indent="-228600">
              <a:spcAft>
                <a:spcPts val="900"/>
              </a:spcAft>
              <a:buSzPct val="100000"/>
              <a:buChar char="•"/>
            </a:pPr>
            <a:r>
              <a:rPr lang="en-US" sz="1800" b="1" dirty="0">
                <a:solidFill>
                  <a:srgbClr val="FF42A1"/>
                </a:solidFill>
                <a:latin typeface="Aptos" pitchFamily="34" charset="0"/>
                <a:ea typeface="Aptos" pitchFamily="34" charset="-122"/>
                <a:cs typeface="Aptos" pitchFamily="34" charset="-120"/>
              </a:rPr>
              <a:t>Φ is the standard normal CDF</a:t>
            </a:r>
            <a:r>
              <a:rPr lang="en-US" sz="1800" dirty="0">
                <a:solidFill>
                  <a:srgbClr val="3A3A3A"/>
                </a:solidFill>
                <a:latin typeface="Aptos" pitchFamily="34" charset="0"/>
                <a:ea typeface="Aptos" pitchFamily="34" charset="-122"/>
                <a:cs typeface="Aptos" pitchFamily="34" charset="-120"/>
              </a:rPr>
              <a:t>: Φ(z) is the area under the N(0, 1) curve to the left of z</a:t>
            </a:r>
          </a:p>
          <a:p>
            <a:pPr marL="228600" indent="-228600">
              <a:spcAft>
                <a:spcPts val="900"/>
              </a:spcAft>
              <a:buSzPct val="100000"/>
              <a:buChar char="•"/>
            </a:pPr>
            <a:r>
              <a:rPr lang="en-US" sz="1800" dirty="0">
                <a:solidFill>
                  <a:srgbClr val="3A3A3A"/>
                </a:solidFill>
                <a:latin typeface="Aptos" pitchFamily="34" charset="0"/>
                <a:ea typeface="Aptos" pitchFamily="34" charset="-122"/>
                <a:cs typeface="Aptos" pitchFamily="34" charset="-120"/>
              </a:rPr>
              <a:t>By symmetry, Φ(−2) = 0.023 is also the area to the right of +2. </a:t>
            </a:r>
            <a:r>
              <a:rPr lang="en-US" sz="1800" b="1" dirty="0">
                <a:solidFill>
                  <a:srgbClr val="FF42A1"/>
                </a:solidFill>
                <a:latin typeface="Aptos" pitchFamily="34" charset="0"/>
                <a:ea typeface="Aptos" pitchFamily="34" charset="-122"/>
                <a:cs typeface="Aptos" pitchFamily="34" charset="-120"/>
              </a:rPr>
              <a:t>2Φ(−|z|) adds both tails</a:t>
            </a:r>
            <a:r>
              <a:rPr lang="en-US" sz="1800" dirty="0">
                <a:solidFill>
                  <a:srgbClr val="3A3A3A"/>
                </a:solidFill>
                <a:latin typeface="Aptos" pitchFamily="34" charset="0"/>
                <a:ea typeface="Aptos" pitchFamily="34" charset="-122"/>
                <a:cs typeface="Aptos" pitchFamily="34" charset="-120"/>
              </a:rPr>
              <a:t>: estimates at least this far from the null, in either direction</a:t>
            </a:r>
          </a:p>
          <a:p>
            <a:pPr marL="228600" indent="-228600">
              <a:spcAft>
                <a:spcPts val="900"/>
              </a:spcAft>
              <a:buSzPct val="100000"/>
              <a:buChar char="•"/>
            </a:pPr>
            <a:r>
              <a:rPr lang="en-US" sz="1800" dirty="0">
                <a:solidFill>
                  <a:srgbClr val="3A3A3A"/>
                </a:solidFill>
                <a:latin typeface="Aptos" pitchFamily="34" charset="0"/>
                <a:ea typeface="Aptos" pitchFamily="34" charset="-122"/>
                <a:cs typeface="Aptos" pitchFamily="34" charset="-120"/>
              </a:rPr>
              <a:t>It is the same function behind the critical values: Φ(−1.96) = 0.025, so 2Φ(−1.96) = 0.05. That is where 1.96 comes from</a:t>
            </a:r>
          </a:p>
          <a:p>
            <a:pPr marL="228600" indent="-228600">
              <a:spcAft>
                <a:spcPts val="900"/>
              </a:spcAft>
              <a:buSzPct val="100000"/>
              <a:buChar char="•"/>
            </a:pPr>
            <a:r>
              <a:rPr lang="en-US" sz="1800" dirty="0">
                <a:solidFill>
                  <a:srgbClr val="3A3A3A"/>
                </a:solidFill>
                <a:latin typeface="Aptos" pitchFamily="34" charset="0"/>
                <a:ea typeface="Aptos" pitchFamily="34" charset="-122"/>
                <a:cs typeface="Aptos" pitchFamily="34" charset="-120"/>
              </a:rPr>
              <a:t>In Python: </a:t>
            </a:r>
            <a:r>
              <a:rPr lang="en-US" sz="1800" dirty="0">
                <a:solidFill>
                  <a:srgbClr val="000000"/>
                </a:solidFill>
                <a:latin typeface="Courier New" pitchFamily="49" charset="0"/>
                <a:cs typeface="Courier New" pitchFamily="49" charset="0"/>
              </a:rPr>
              <a:t>from scipy.stats import norm</a:t>
            </a:r>
            <a:r>
              <a:rPr lang="en-US" sz="1800" dirty="0">
                <a:solidFill>
                  <a:srgbClr val="3A3A3A"/>
                </a:solidFill>
                <a:latin typeface="Aptos" pitchFamily="34" charset="0"/>
                <a:ea typeface="Aptos" pitchFamily="34" charset="-122"/>
                <a:cs typeface="Aptos" pitchFamily="34" charset="-120"/>
              </a:rPr>
              <a:t>, then </a:t>
            </a:r>
            <a:r>
              <a:rPr lang="en-US" sz="1800" dirty="0">
                <a:solidFill>
                  <a:srgbClr val="000000"/>
                </a:solidFill>
                <a:latin typeface="Courier New" pitchFamily="49" charset="0"/>
                <a:cs typeface="Courier New" pitchFamily="49" charset="0"/>
              </a:rPr>
              <a:t>p = 2 * norm.cdf(-abs(z))</a:t>
            </a:r>
          </a:p>
          <a:p>
            <a:pPr marL="228600" indent="-228600">
              <a:spcAft>
                <a:spcPts val="900"/>
              </a:spcAft>
              <a:buSzPct val="100000"/>
              <a:buChar char="•"/>
            </a:pPr>
            <a:r>
              <a:rPr lang="en-US" sz="1800" dirty="0">
                <a:solidFill>
                  <a:srgbClr val="3A3A3A"/>
                </a:solidFill>
                <a:latin typeface="Aptos" pitchFamily="34" charset="0"/>
                <a:ea typeface="Aptos" pitchFamily="34" charset="-122"/>
                <a:cs typeface="Aptos" pitchFamily="34" charset="-120"/>
              </a:rPr>
              <a:t>Going the other way, Φ⁻¹ gives critical values: </a:t>
            </a:r>
            <a:r>
              <a:rPr lang="en-US" sz="1800" dirty="0">
                <a:solidFill>
                  <a:srgbClr val="000000"/>
                </a:solidFill>
                <a:latin typeface="Courier New" pitchFamily="49" charset="0"/>
                <a:cs typeface="Courier New" pitchFamily="49" charset="0"/>
              </a:rPr>
              <a:t>norm.ppf(0.975)</a:t>
            </a:r>
            <a:r>
              <a:rPr lang="en-US" sz="1800" dirty="0">
                <a:solidFill>
                  <a:srgbClr val="3A3A3A"/>
                </a:solidFill>
                <a:latin typeface="Aptos" pitchFamily="34" charset="0"/>
                <a:ea typeface="Aptos" pitchFamily="34" charset="-122"/>
                <a:cs typeface="Aptos" pitchFamily="34" charset="-120"/>
              </a:rPr>
              <a:t> = 1.96</a:t>
            </a:r>
          </a:p>
        </p:txBody>
      </p:sp>
      <p:pic>
        <p:nvPicPr>
          <p:cNvPr id="40" name="Phi tails" descr="Standard normal curve with both tails beyond ±2 shaded: each tail 0.023, total p = 0.046"/>
          <p:cNvPicPr>
            <a:picLocks noChangeAspect="1"/>
          </p:cNvPicPr>
          <p:nvPr/>
        </p:nvPicPr>
        <p:blipFill>
          <a:blip r:embed="rId2"/>
          <a:stretch>
            <a:fillRect/>
          </a:stretch>
        </p:blipFill>
        <p:spPr>
          <a:xfrm>
            <a:off x="6172200" y="1463040"/>
            <a:ext cx="5577840" cy="3160776"/>
          </a:xfrm>
          <a:prstGeom prst="rect">
            <a:avLst/>
          </a:prstGeom>
        </p:spPr>
      </p:pic>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12</a:t>
            </a:fld>
            <a:endParaRPr lang="en-US"/>
          </a:p>
        </p:txBody>
      </p:sp>
      <p:sp>
        <p:nvSpPr>
          <p:cNvPr id="4" name="TextBox 3">
            <a:extLst>
              <a:ext uri="{FF2B5EF4-FFF2-40B4-BE49-F238E27FC236}">
                <a16:creationId xmlns:a16="http://schemas.microsoft.com/office/drawing/2014/main" id="{795C566A-CBEF-3384-3BC2-CBDE4EA84511}"/>
              </a:ext>
            </a:extLst>
          </p:cNvPr>
          <p:cNvSpPr txBox="1"/>
          <p:nvPr/>
        </p:nvSpPr>
        <p:spPr>
          <a:xfrm>
            <a:off x="7017603" y="5166282"/>
            <a:ext cx="4503837" cy="646331"/>
          </a:xfrm>
          <a:prstGeom prst="rect">
            <a:avLst/>
          </a:prstGeom>
          <a:noFill/>
        </p:spPr>
        <p:txBody>
          <a:bodyPr wrap="square" rtlCol="0">
            <a:spAutoFit/>
          </a:bodyPr>
          <a:lstStyle/>
          <a:p>
            <a:r>
              <a:rPr lang="en-US" dirty="0"/>
              <a:t>Remember, the area under the PDF curve to the left of z = CDF evaluated at z</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The CI Is </a:t>
            </a:r>
            <a:r>
              <a:rPr lang="en-US" sz="3000" dirty="0">
                <a:solidFill>
                  <a:schemeClr val="accent1"/>
                </a:solidFill>
              </a:rPr>
              <a:t>Not</a:t>
            </a:r>
            <a:r>
              <a:rPr lang="en-US" sz="3000" b="1" dirty="0">
                <a:solidFill>
                  <a:schemeClr val="tx1"/>
                </a:solidFill>
              </a:rPr>
              <a:t>...</a:t>
            </a:r>
            <a:endParaRPr lang="en-US" sz="3000" dirty="0"/>
          </a:p>
        </p:txBody>
      </p:sp>
      <p:sp>
        <p:nvSpPr>
          <p:cNvPr id="3" name="Text 1"/>
          <p:cNvSpPr txBox="1"/>
          <p:nvPr/>
        </p:nvSpPr>
        <p:spPr>
          <a:xfrm>
            <a:off x="548640" y="1280160"/>
            <a:ext cx="11064240" cy="3042920"/>
          </a:xfrm>
          <a:prstGeom prst="rect">
            <a:avLst/>
          </a:prstGeom>
          <a:noFill/>
          <a:ln/>
        </p:spPr>
        <p:txBody>
          <a:bodyPr wrap="square" lIns="0" tIns="0" rIns="0" bIns="0" rtlCol="0" anchor="t"/>
          <a:lstStyle/>
          <a:p>
            <a:pPr marL="228600" indent="-228600">
              <a:spcAft>
                <a:spcPts val="600"/>
              </a:spcAft>
              <a:buSzPct val="100000"/>
              <a:buChar char="•"/>
            </a:pPr>
            <a:r>
              <a:rPr lang="en-US" sz="2000" dirty="0"/>
              <a:t>the probability that β₀ is in the interval you computed</a:t>
            </a:r>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It couldn't be this: we don't know the true β₀</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If β₀ was random, and had a distribution associated with it, then you'd use Bayes' Rule to observe data and update that distribution</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We often say things like, "Gravity is −9.81 m/s²." We don't often say things like, "Gravity is normally distributed with mean −9.81 m/s² and standard deviation .0051"</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If you </a:t>
            </a:r>
            <a:r>
              <a:rPr lang="en-US" sz="2000" b="1" dirty="0">
                <a:solidFill>
                  <a:srgbClr val="FF42A1"/>
                </a:solidFill>
                <a:latin typeface="Aptos" pitchFamily="34" charset="0"/>
                <a:ea typeface="Aptos" pitchFamily="34" charset="-122"/>
                <a:cs typeface="Aptos" pitchFamily="34" charset="-120"/>
              </a:rPr>
              <a:t>did</a:t>
            </a:r>
            <a:r>
              <a:rPr lang="en-US" sz="2000" dirty="0">
                <a:solidFill>
                  <a:srgbClr val="3A3A3A"/>
                </a:solidFill>
                <a:latin typeface="Aptos" pitchFamily="34" charset="0"/>
                <a:ea typeface="Aptos" pitchFamily="34" charset="-122"/>
                <a:cs typeface="Aptos" pitchFamily="34" charset="-120"/>
              </a:rPr>
              <a:t> talk like that, you'd be a Bayesian statistician, and we'll talk about Bayesian statistics at the end of the course</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The CI Is...</a:t>
            </a:r>
            <a:endParaRPr lang="en-US" sz="3000" dirty="0"/>
          </a:p>
        </p:txBody>
      </p:sp>
      <p:sp>
        <p:nvSpPr>
          <p:cNvPr id="3" name="Text 1"/>
          <p:cNvSpPr txBox="1"/>
          <p:nvPr/>
        </p:nvSpPr>
        <p:spPr>
          <a:xfrm>
            <a:off x="548640" y="1280160"/>
            <a:ext cx="11064240" cy="2783078"/>
          </a:xfrm>
          <a:prstGeom prst="rect">
            <a:avLst/>
          </a:prstGeom>
          <a:noFill/>
          <a:ln/>
        </p:spPr>
        <p:txBody>
          <a:bodyPr wrap="square" lIns="0" tIns="0" rIns="0" bIns="0" rtlCol="0" anchor="t"/>
          <a:lstStyle/>
          <a:p>
            <a:pPr marL="228600" indent="-228600">
              <a:spcAft>
                <a:spcPts val="600"/>
              </a:spcAft>
              <a:buSzPct val="100000"/>
              <a:buChar char="•"/>
            </a:pPr>
            <a:r>
              <a:rPr lang="en-US" sz="2200" dirty="0">
                <a:solidFill>
                  <a:srgbClr val="3A3A3A"/>
                </a:solidFill>
                <a:latin typeface="Aptos" pitchFamily="34" charset="0"/>
                <a:ea typeface="Aptos" pitchFamily="34" charset="-122"/>
                <a:cs typeface="Aptos" pitchFamily="34" charset="-120"/>
              </a:rPr>
              <a:t>If we did this kind of analysis many times, what range of values is plausible for our estimates?</a:t>
            </a:r>
          </a:p>
          <a:p>
            <a:pPr marL="228600" indent="-228600">
              <a:spcAft>
                <a:spcPts val="600"/>
              </a:spcAft>
              <a:buSzPct val="100000"/>
              <a:buFontTx/>
              <a:buChar char="•"/>
            </a:pPr>
            <a:r>
              <a:rPr lang="en-US" sz="2000" dirty="0"/>
              <a:t>A set of parameter values that our data do not allow us to reject, using a procedure designed to exclude the true parameter only a specified fraction of the time (the Type 1 error probability).</a:t>
            </a:r>
          </a:p>
          <a:p>
            <a:pPr marL="228600" indent="-228600">
              <a:spcAft>
                <a:spcPts val="600"/>
              </a:spcAft>
              <a:buSzPct val="100000"/>
              <a:buChar char="•"/>
            </a:pPr>
            <a:r>
              <a:rPr lang="en-US" sz="2200" dirty="0">
                <a:solidFill>
                  <a:srgbClr val="3A3A3A"/>
                </a:solidFill>
                <a:latin typeface="Aptos" pitchFamily="34" charset="0"/>
                <a:ea typeface="Aptos" pitchFamily="34" charset="-122"/>
                <a:cs typeface="Aptos" pitchFamily="34" charset="-120"/>
              </a:rPr>
              <a:t>The probability that the </a:t>
            </a:r>
            <a:r>
              <a:rPr lang="en-US" sz="2200" b="1" dirty="0">
                <a:solidFill>
                  <a:srgbClr val="FF42A1"/>
                </a:solidFill>
                <a:latin typeface="Aptos" pitchFamily="34" charset="0"/>
                <a:ea typeface="Aptos" pitchFamily="34" charset="-122"/>
                <a:cs typeface="Aptos" pitchFamily="34" charset="-120"/>
              </a:rPr>
              <a:t>random</a:t>
            </a:r>
            <a:r>
              <a:rPr lang="en-US" sz="2200" dirty="0">
                <a:solidFill>
                  <a:srgbClr val="3A3A3A"/>
                </a:solidFill>
                <a:latin typeface="Aptos" pitchFamily="34" charset="0"/>
                <a:ea typeface="Aptos" pitchFamily="34" charset="-122"/>
                <a:cs typeface="Aptos" pitchFamily="34" charset="-120"/>
              </a:rPr>
              <a:t> CI covers the true β₀ is 1 − α; we </a:t>
            </a:r>
            <a:r>
              <a:rPr lang="en-US" sz="2200" b="1" dirty="0">
                <a:solidFill>
                  <a:srgbClr val="FF42A1"/>
                </a:solidFill>
                <a:latin typeface="Aptos" pitchFamily="34" charset="0"/>
                <a:ea typeface="Aptos" pitchFamily="34" charset="-122"/>
                <a:cs typeface="Aptos" pitchFamily="34" charset="-120"/>
              </a:rPr>
              <a:t>expect</a:t>
            </a:r>
            <a:r>
              <a:rPr lang="en-US" sz="2200" dirty="0">
                <a:solidFill>
                  <a:srgbClr val="3A3A3A"/>
                </a:solidFill>
                <a:latin typeface="Aptos" pitchFamily="34" charset="0"/>
                <a:ea typeface="Aptos" pitchFamily="34" charset="-122"/>
                <a:cs typeface="Aptos" pitchFamily="34" charset="-120"/>
              </a:rPr>
              <a:t> the CI to cover the true β₀ with probability 1 − α</a:t>
            </a:r>
            <a:endParaRPr lang="en-US" sz="2200" dirty="0"/>
          </a:p>
          <a:p>
            <a:pPr marL="228600" indent="-228600">
              <a:spcAft>
                <a:spcPts val="600"/>
              </a:spcAft>
              <a:buSzPct val="100000"/>
              <a:buChar char="•"/>
            </a:pPr>
            <a:r>
              <a:rPr lang="en-US" sz="2200" dirty="0">
                <a:solidFill>
                  <a:srgbClr val="3A3A3A"/>
                </a:solidFill>
                <a:latin typeface="Aptos" pitchFamily="34" charset="0"/>
                <a:ea typeface="Aptos" pitchFamily="34" charset="-122"/>
                <a:cs typeface="Aptos" pitchFamily="34" charset="-120"/>
              </a:rPr>
              <a:t>If we repeatedly sampled data and constructed a new confidence interval each time, approximately 95% of those intervals would contain the fixed, unknown parameter β₀ (the bootstrapping connection is clear here)</a:t>
            </a:r>
            <a:endParaRPr lang="en-US" sz="22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Coverage You Can Count</a:t>
            </a:r>
            <a:endParaRPr lang="en-US" sz="3000" dirty="0"/>
          </a:p>
        </p:txBody>
      </p:sp>
      <p:sp>
        <p:nvSpPr>
          <p:cNvPr id="3" name="Text 1"/>
          <p:cNvSpPr txBox="1"/>
          <p:nvPr/>
        </p:nvSpPr>
        <p:spPr>
          <a:xfrm>
            <a:off x="548640" y="1294448"/>
            <a:ext cx="11064240" cy="4023360"/>
          </a:xfrm>
          <a:prstGeom prst="rect">
            <a:avLst/>
          </a:prstGeom>
          <a:noFill/>
          <a:ln/>
        </p:spPr>
        <p:txBody>
          <a:bodyPr wrap="square" lIns="0" tIns="0" rIns="0" bIns="0" rtlCol="0" anchor="t"/>
          <a:lstStyle/>
          <a:p>
            <a:pPr>
              <a:spcAft>
                <a:spcPts val="600"/>
              </a:spcAft>
              <a:buSzPct val="100000"/>
            </a:pPr>
            <a:r>
              <a:rPr lang="en-US" sz="2000" dirty="0">
                <a:solidFill>
                  <a:srgbClr val="3A3A3A"/>
                </a:solidFill>
                <a:latin typeface="Aptos" pitchFamily="34" charset="0"/>
                <a:ea typeface="Aptos" pitchFamily="34" charset="-122"/>
                <a:cs typeface="Aptos" pitchFamily="34" charset="-120"/>
              </a:rPr>
              <a:t>Population {1, 3, 5}, draw n = 2 with replacement, so μ = 3</a:t>
            </a:r>
            <a:endParaRPr lang="en-US" sz="2000" dirty="0"/>
          </a:p>
          <a:p>
            <a:pPr>
              <a:spcAft>
                <a:spcPts val="600"/>
              </a:spcAft>
              <a:buSzPct val="100000"/>
            </a:pPr>
            <a:r>
              <a:rPr lang="en-US" sz="2000" dirty="0">
                <a:solidFill>
                  <a:srgbClr val="3A3A3A"/>
                </a:solidFill>
                <a:latin typeface="Aptos" pitchFamily="34" charset="0"/>
                <a:ea typeface="Aptos" pitchFamily="34" charset="-122"/>
                <a:cs typeface="Aptos" pitchFamily="34" charset="-120"/>
              </a:rPr>
              <a:t>Listing out all 9 possible samples and their x̄</a:t>
            </a:r>
            <a:endParaRPr lang="en-US" sz="2000" dirty="0"/>
          </a:p>
          <a:p>
            <a:pPr marL="228600" indent="-228600">
              <a:spcAft>
                <a:spcPts val="600"/>
              </a:spcAft>
              <a:buSzPct val="100000"/>
              <a:buChar char="•"/>
            </a:pPr>
            <a:endParaRPr lang="en-US" sz="2000" dirty="0">
              <a:solidFill>
                <a:srgbClr val="3A3A3A"/>
              </a:solidFill>
              <a:latin typeface="Aptos" pitchFamily="34" charset="0"/>
              <a:ea typeface="Aptos" pitchFamily="34" charset="-122"/>
              <a:cs typeface="Aptos" pitchFamily="34" charset="-120"/>
            </a:endParaRPr>
          </a:p>
          <a:p>
            <a:pPr marL="228600" indent="-228600">
              <a:spcAft>
                <a:spcPts val="600"/>
              </a:spcAft>
              <a:buSzPct val="100000"/>
              <a:buChar char="•"/>
            </a:pPr>
            <a:endParaRPr lang="en-US" sz="2000" dirty="0">
              <a:solidFill>
                <a:srgbClr val="3A3A3A"/>
              </a:solidFill>
              <a:latin typeface="Aptos" pitchFamily="34" charset="0"/>
              <a:ea typeface="Aptos" pitchFamily="34" charset="-122"/>
              <a:cs typeface="Aptos" pitchFamily="34" charset="-120"/>
            </a:endParaRPr>
          </a:p>
          <a:p>
            <a:pPr marL="228600" indent="-228600">
              <a:spcAft>
                <a:spcPts val="600"/>
              </a:spcAft>
              <a:buSzPct val="100000"/>
              <a:buChar char="•"/>
            </a:pPr>
            <a:endParaRPr lang="en-US" sz="2000" dirty="0">
              <a:solidFill>
                <a:srgbClr val="3A3A3A"/>
              </a:solidFill>
              <a:latin typeface="Aptos" pitchFamily="34" charset="0"/>
              <a:ea typeface="Aptos" pitchFamily="34" charset="-122"/>
              <a:cs typeface="Aptos" pitchFamily="34" charset="-120"/>
            </a:endParaRPr>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1. Our interval rule is x̄ ± 1.5. Normally, we don’t know exactly from how many samples would contain the true mean, because don’t know what the true mean is. Instead, we use the CLT and normal curve to figure out the coverage of an interval. Here, we do know the true mean. </a:t>
            </a:r>
            <a:r>
              <a:rPr lang="en-US" sz="2000" b="1" dirty="0">
                <a:solidFill>
                  <a:srgbClr val="3A3A3A"/>
                </a:solidFill>
                <a:latin typeface="Aptos" pitchFamily="34" charset="0"/>
                <a:ea typeface="Aptos" pitchFamily="34" charset="-122"/>
                <a:cs typeface="Aptos" pitchFamily="34" charset="-120"/>
              </a:rPr>
              <a:t>For how many of the 9 samples does the interval contain μ = 3? What is the coverage?</a:t>
            </a:r>
            <a:endParaRPr lang="en-US" sz="2000" b="1"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2.  You drew (1, 1), so your interval is [−0.5, 2.5]. </a:t>
            </a:r>
            <a:r>
              <a:rPr lang="en-US" sz="2000" b="1" dirty="0">
                <a:solidFill>
                  <a:srgbClr val="3A3A3A"/>
                </a:solidFill>
                <a:latin typeface="Aptos" pitchFamily="34" charset="0"/>
                <a:ea typeface="Aptos" pitchFamily="34" charset="-122"/>
                <a:cs typeface="Aptos" pitchFamily="34" charset="-120"/>
              </a:rPr>
              <a:t>What is the probability that this interval contains μ?</a:t>
            </a:r>
            <a:endParaRPr lang="en-US" sz="2000" b="1"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15</a:t>
            </a:fld>
            <a:endParaRPr lang="en-US"/>
          </a:p>
        </p:txBody>
      </p:sp>
      <p:graphicFrame>
        <p:nvGraphicFramePr>
          <p:cNvPr id="4" name="Table 0">
            <a:extLst>
              <a:ext uri="{FF2B5EF4-FFF2-40B4-BE49-F238E27FC236}">
                <a16:creationId xmlns:a16="http://schemas.microsoft.com/office/drawing/2014/main" id="{DED50B46-2370-2392-DB7E-734548C7F4AE}"/>
              </a:ext>
            </a:extLst>
          </p:cNvPr>
          <p:cNvGraphicFramePr>
            <a:graphicFrameLocks noGrp="1"/>
          </p:cNvGraphicFramePr>
          <p:nvPr>
            <p:extLst>
              <p:ext uri="{D42A27DB-BD31-4B8C-83A1-F6EECF244321}">
                <p14:modId xmlns:p14="http://schemas.microsoft.com/office/powerpoint/2010/main" val="4129279513"/>
              </p:ext>
            </p:extLst>
          </p:nvPr>
        </p:nvGraphicFramePr>
        <p:xfrm>
          <a:off x="3078480" y="2220146"/>
          <a:ext cx="6603403" cy="633984"/>
        </p:xfrm>
        <a:graphic>
          <a:graphicData uri="http://schemas.openxmlformats.org/drawingml/2006/table">
            <a:tbl>
              <a:tblPr/>
              <a:tblGrid>
                <a:gridCol w="840433">
                  <a:extLst>
                    <a:ext uri="{9D8B030D-6E8A-4147-A177-3AD203B41FA5}">
                      <a16:colId xmlns:a16="http://schemas.microsoft.com/office/drawing/2014/main" val="20000"/>
                    </a:ext>
                  </a:extLst>
                </a:gridCol>
                <a:gridCol w="640330">
                  <a:extLst>
                    <a:ext uri="{9D8B030D-6E8A-4147-A177-3AD203B41FA5}">
                      <a16:colId xmlns:a16="http://schemas.microsoft.com/office/drawing/2014/main" val="20001"/>
                    </a:ext>
                  </a:extLst>
                </a:gridCol>
                <a:gridCol w="640330">
                  <a:extLst>
                    <a:ext uri="{9D8B030D-6E8A-4147-A177-3AD203B41FA5}">
                      <a16:colId xmlns:a16="http://schemas.microsoft.com/office/drawing/2014/main" val="20002"/>
                    </a:ext>
                  </a:extLst>
                </a:gridCol>
                <a:gridCol w="640330">
                  <a:extLst>
                    <a:ext uri="{9D8B030D-6E8A-4147-A177-3AD203B41FA5}">
                      <a16:colId xmlns:a16="http://schemas.microsoft.com/office/drawing/2014/main" val="20003"/>
                    </a:ext>
                  </a:extLst>
                </a:gridCol>
                <a:gridCol w="640330">
                  <a:extLst>
                    <a:ext uri="{9D8B030D-6E8A-4147-A177-3AD203B41FA5}">
                      <a16:colId xmlns:a16="http://schemas.microsoft.com/office/drawing/2014/main" val="20004"/>
                    </a:ext>
                  </a:extLst>
                </a:gridCol>
                <a:gridCol w="640330">
                  <a:extLst>
                    <a:ext uri="{9D8B030D-6E8A-4147-A177-3AD203B41FA5}">
                      <a16:colId xmlns:a16="http://schemas.microsoft.com/office/drawing/2014/main" val="20005"/>
                    </a:ext>
                  </a:extLst>
                </a:gridCol>
                <a:gridCol w="640330">
                  <a:extLst>
                    <a:ext uri="{9D8B030D-6E8A-4147-A177-3AD203B41FA5}">
                      <a16:colId xmlns:a16="http://schemas.microsoft.com/office/drawing/2014/main" val="20006"/>
                    </a:ext>
                  </a:extLst>
                </a:gridCol>
                <a:gridCol w="640330">
                  <a:extLst>
                    <a:ext uri="{9D8B030D-6E8A-4147-A177-3AD203B41FA5}">
                      <a16:colId xmlns:a16="http://schemas.microsoft.com/office/drawing/2014/main" val="20007"/>
                    </a:ext>
                  </a:extLst>
                </a:gridCol>
                <a:gridCol w="640330">
                  <a:extLst>
                    <a:ext uri="{9D8B030D-6E8A-4147-A177-3AD203B41FA5}">
                      <a16:colId xmlns:a16="http://schemas.microsoft.com/office/drawing/2014/main" val="20008"/>
                    </a:ext>
                  </a:extLst>
                </a:gridCol>
                <a:gridCol w="640330">
                  <a:extLst>
                    <a:ext uri="{9D8B030D-6E8A-4147-A177-3AD203B41FA5}">
                      <a16:colId xmlns:a16="http://schemas.microsoft.com/office/drawing/2014/main" val="20009"/>
                    </a:ext>
                  </a:extLst>
                </a:gridCol>
              </a:tblGrid>
              <a:tr h="313690">
                <a:tc>
                  <a:txBody>
                    <a:bodyPr/>
                    <a:lstStyle/>
                    <a:p>
                      <a:pPr marL="0" indent="0">
                        <a:buNone/>
                      </a:pPr>
                      <a:r>
                        <a:rPr lang="en-US" sz="1600" b="1" dirty="0">
                          <a:solidFill>
                            <a:srgbClr val="000000"/>
                          </a:solidFill>
                          <a:latin typeface="Aptos" pitchFamily="34" charset="0"/>
                          <a:ea typeface="Aptos" pitchFamily="34" charset="-122"/>
                          <a:cs typeface="Aptos" pitchFamily="34" charset="-120"/>
                        </a:rPr>
                        <a:t>sample</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600" b="1" dirty="0">
                          <a:solidFill>
                            <a:srgbClr val="000000"/>
                          </a:solidFill>
                          <a:latin typeface="Aptos" pitchFamily="34" charset="0"/>
                          <a:ea typeface="Aptos" pitchFamily="34" charset="-122"/>
                          <a:cs typeface="Aptos" pitchFamily="34" charset="-120"/>
                        </a:rPr>
                        <a:t>(1,1)</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600" b="1" dirty="0">
                          <a:solidFill>
                            <a:srgbClr val="000000"/>
                          </a:solidFill>
                          <a:latin typeface="Aptos" pitchFamily="34" charset="0"/>
                          <a:ea typeface="Aptos" pitchFamily="34" charset="-122"/>
                          <a:cs typeface="Aptos" pitchFamily="34" charset="-120"/>
                        </a:rPr>
                        <a:t>(1,3)</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600" b="1" dirty="0">
                          <a:solidFill>
                            <a:srgbClr val="000000"/>
                          </a:solidFill>
                          <a:latin typeface="Aptos" pitchFamily="34" charset="0"/>
                          <a:ea typeface="Aptos" pitchFamily="34" charset="-122"/>
                          <a:cs typeface="Aptos" pitchFamily="34" charset="-120"/>
                        </a:rPr>
                        <a:t>(1,5)</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600" b="1" dirty="0">
                          <a:solidFill>
                            <a:srgbClr val="000000"/>
                          </a:solidFill>
                          <a:latin typeface="Aptos" pitchFamily="34" charset="0"/>
                          <a:ea typeface="Aptos" pitchFamily="34" charset="-122"/>
                          <a:cs typeface="Aptos" pitchFamily="34" charset="-120"/>
                        </a:rPr>
                        <a:t>(3,1)</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600" b="1" dirty="0">
                          <a:solidFill>
                            <a:srgbClr val="000000"/>
                          </a:solidFill>
                          <a:latin typeface="Aptos" pitchFamily="34" charset="0"/>
                          <a:ea typeface="Aptos" pitchFamily="34" charset="-122"/>
                          <a:cs typeface="Aptos" pitchFamily="34" charset="-120"/>
                        </a:rPr>
                        <a:t>(3,3)</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600" b="1" dirty="0">
                          <a:solidFill>
                            <a:srgbClr val="000000"/>
                          </a:solidFill>
                          <a:latin typeface="Aptos" pitchFamily="34" charset="0"/>
                          <a:ea typeface="Aptos" pitchFamily="34" charset="-122"/>
                          <a:cs typeface="Aptos" pitchFamily="34" charset="-120"/>
                        </a:rPr>
                        <a:t>(3,5)</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600" b="1" dirty="0">
                          <a:solidFill>
                            <a:srgbClr val="000000"/>
                          </a:solidFill>
                          <a:latin typeface="Aptos" pitchFamily="34" charset="0"/>
                          <a:ea typeface="Aptos" pitchFamily="34" charset="-122"/>
                          <a:cs typeface="Aptos" pitchFamily="34" charset="-120"/>
                        </a:rPr>
                        <a:t>(5,1)</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600" b="1" dirty="0">
                          <a:solidFill>
                            <a:srgbClr val="000000"/>
                          </a:solidFill>
                          <a:latin typeface="Aptos" pitchFamily="34" charset="0"/>
                          <a:ea typeface="Aptos" pitchFamily="34" charset="-122"/>
                          <a:cs typeface="Aptos" pitchFamily="34" charset="-120"/>
                        </a:rPr>
                        <a:t>(5,3)</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600" b="1" dirty="0">
                          <a:solidFill>
                            <a:srgbClr val="000000"/>
                          </a:solidFill>
                          <a:latin typeface="Aptos" pitchFamily="34" charset="0"/>
                          <a:ea typeface="Aptos" pitchFamily="34" charset="-122"/>
                          <a:cs typeface="Aptos" pitchFamily="34" charset="-120"/>
                        </a:rPr>
                        <a:t>(5,5)</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13690">
                <a:tc>
                  <a:txBody>
                    <a:bodyPr/>
                    <a:lstStyle/>
                    <a:p>
                      <a:pPr marL="0" indent="0">
                        <a:buNone/>
                      </a:pPr>
                      <a:r>
                        <a:rPr lang="en-US" sz="1600" dirty="0">
                          <a:solidFill>
                            <a:srgbClr val="3A3A3A"/>
                          </a:solidFill>
                          <a:latin typeface="Aptos" pitchFamily="34" charset="0"/>
                          <a:ea typeface="Aptos" pitchFamily="34" charset="-122"/>
                          <a:cs typeface="Aptos" pitchFamily="34" charset="-120"/>
                        </a:rPr>
                        <a:t>x̄</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1</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2</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3</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2</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3</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4</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3</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4</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600" dirty="0">
                          <a:solidFill>
                            <a:srgbClr val="3A3A3A"/>
                          </a:solidFill>
                          <a:latin typeface="Aptos" pitchFamily="34" charset="0"/>
                          <a:ea typeface="Aptos" pitchFamily="34" charset="-122"/>
                          <a:cs typeface="Aptos" pitchFamily="34" charset="-120"/>
                        </a:rPr>
                        <a:t>5</a:t>
                      </a:r>
                      <a:endParaRPr lang="en-US" sz="16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name="Slide 3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Coverage You Can Count: Answers</a:t>
            </a:r>
            <a:endParaRPr lang="en-US" sz="3000" dirty="0"/>
          </a:p>
        </p:txBody>
      </p:sp>
      <p:sp>
        <p:nvSpPr>
          <p:cNvPr id="3" name="Text 1"/>
          <p:cNvSpPr txBox="1"/>
          <p:nvPr/>
        </p:nvSpPr>
        <p:spPr>
          <a:xfrm>
            <a:off x="548640" y="1280160"/>
            <a:ext cx="11064240" cy="1290828"/>
          </a:xfrm>
          <a:prstGeom prst="rect">
            <a:avLst/>
          </a:prstGeom>
          <a:noFill/>
          <a:ln/>
        </p:spPr>
        <p:txBody>
          <a:bodyPr wrap="square" lIns="0" tIns="0" rIns="0" bIns="0" rtlCol="0" anchor="t"/>
          <a:lstStyle/>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Back to {1, 3, 5} with n = 2: μ = 3, and the 9 sample means are 1, 2, 3, 2, 3, 4, 3, 4, 5</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The rule "x̄ ± 1.5" covers μ when x̄ ∈ {2, 3, 4}: 7 of the 9 samples</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So x̄ ± 1.5 is a </a:t>
            </a:r>
            <a:r>
              <a:rPr lang="en-US" sz="2000" b="1" dirty="0">
                <a:solidFill>
                  <a:srgbClr val="FF42A1"/>
                </a:solidFill>
                <a:latin typeface="Aptos" pitchFamily="34" charset="0"/>
                <a:ea typeface="Aptos" pitchFamily="34" charset="-122"/>
                <a:cs typeface="Aptos" pitchFamily="34" charset="-120"/>
              </a:rPr>
              <a:t>78% confidence interval</a:t>
            </a:r>
            <a:r>
              <a:rPr lang="en-US" sz="2000" dirty="0">
                <a:solidFill>
                  <a:srgbClr val="3A3A3A"/>
                </a:solidFill>
                <a:latin typeface="Aptos" pitchFamily="34" charset="0"/>
                <a:ea typeface="Aptos" pitchFamily="34" charset="-122"/>
                <a:cs typeface="Aptos" pitchFamily="34" charset="-120"/>
              </a:rPr>
              <a:t>, by counting</a:t>
            </a:r>
          </a:p>
          <a:p>
            <a:pPr marL="228600" indent="-228600">
              <a:spcAft>
                <a:spcPts val="600"/>
              </a:spcAft>
              <a:buSzPct val="100000"/>
              <a:buFontTx/>
              <a:buChar char="•"/>
            </a:pPr>
            <a:r>
              <a:rPr lang="en-US" sz="2000" b="1" dirty="0">
                <a:solidFill>
                  <a:srgbClr val="FF42A1"/>
                </a:solidFill>
                <a:latin typeface="Aptos" pitchFamily="34" charset="0"/>
                <a:ea typeface="Aptos" pitchFamily="34" charset="-122"/>
                <a:cs typeface="Aptos" pitchFamily="34" charset="-120"/>
              </a:rPr>
              <a:t>Zero.</a:t>
            </a:r>
            <a:r>
              <a:rPr lang="en-US" sz="2000" dirty="0">
                <a:solidFill>
                  <a:srgbClr val="3A3A3A"/>
                </a:solidFill>
                <a:latin typeface="Aptos" pitchFamily="34" charset="0"/>
                <a:ea typeface="Aptos" pitchFamily="34" charset="-122"/>
                <a:cs typeface="Aptos" pitchFamily="34" charset="-120"/>
              </a:rPr>
              <a:t> [−0.5, 2.5] misses 3, and nothing random is left once you've drawn your sample. The 78% belongs to the rule, not to your interval</a:t>
            </a:r>
            <a:endParaRPr lang="en-US" sz="2000" dirty="0"/>
          </a:p>
          <a:p>
            <a:pPr marL="228600" indent="-228600">
              <a:spcAft>
                <a:spcPts val="600"/>
              </a:spcAft>
              <a:buSzPct val="100000"/>
              <a:buChar char="•"/>
            </a:pPr>
            <a:endParaRPr lang="en-US" sz="2000" dirty="0"/>
          </a:p>
        </p:txBody>
      </p:sp>
      <p:sp>
        <p:nvSpPr>
          <p:cNvPr id="5" name="Text 2"/>
          <p:cNvSpPr txBox="1"/>
          <p:nvPr/>
        </p:nvSpPr>
        <p:spPr>
          <a:xfrm>
            <a:off x="548640" y="5989320"/>
            <a:ext cx="11064240" cy="457200"/>
          </a:xfrm>
          <a:prstGeom prst="rect">
            <a:avLst/>
          </a:prstGeom>
          <a:noFill/>
          <a:ln/>
        </p:spPr>
        <p:txBody>
          <a:bodyPr wrap="square" lIns="0" tIns="0" rIns="0" bIns="0" rtlCol="0" anchor="ctr"/>
          <a:lstStyle/>
          <a:p>
            <a:pPr marL="0" indent="0" algn="ctr">
              <a:buNone/>
            </a:pPr>
            <a:r>
              <a:rPr lang="en-US" sz="2000" b="1" dirty="0">
                <a:solidFill>
                  <a:srgbClr val="FF42A1"/>
                </a:solidFill>
              </a:rPr>
              <a:t>coverage is a property of the rule, computed over all samples before you see yours</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16</a:t>
            </a:fld>
            <a:endParaRPr lang="en-US"/>
          </a:p>
        </p:txBody>
      </p:sp>
      <p:sp>
        <p:nvSpPr>
          <p:cNvPr id="37" name="Text Q4"/>
          <p:cNvSpPr txBox="1"/>
          <p:nvPr/>
        </p:nvSpPr>
        <p:spPr>
          <a:xfrm>
            <a:off x="548640" y="2479548"/>
            <a:ext cx="11064240" cy="914400"/>
          </a:xfrm>
          <a:prstGeom prst="rect">
            <a:avLst/>
          </a:prstGeom>
          <a:noFill/>
        </p:spPr>
        <p:txBody>
          <a:bodyPr wrap="square" lIns="0" tIns="0" rIns="0" bIns="0" rtlCol="0" anchor="t"/>
          <a:lstStyle/>
          <a:p>
            <a:pPr marL="228600" indent="-228600">
              <a:spcAft>
                <a:spcPts val="600"/>
              </a:spcAft>
              <a:buSzPct val="100000"/>
              <a:buChar char="•"/>
            </a:pP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Comparing Two Groups: the SE of a Difference</a:t>
            </a:r>
            <a:endParaRPr lang="en-US" sz="3000" dirty="0"/>
          </a:p>
        </p:txBody>
      </p:sp>
      <p:sp>
        <p:nvSpPr>
          <p:cNvPr id="3" name="Text 1"/>
          <p:cNvSpPr txBox="1"/>
          <p:nvPr/>
        </p:nvSpPr>
        <p:spPr>
          <a:xfrm>
            <a:off x="548640" y="1280160"/>
            <a:ext cx="11064240" cy="4846320"/>
          </a:xfrm>
          <a:prstGeom prst="rect">
            <a:avLst/>
          </a:prstGeom>
          <a:noFill/>
          <a:ln/>
        </p:spPr>
        <p:txBody>
          <a:bodyPr wrap="square" lIns="0" tIns="0" rIns="0" bIns="0" rtlCol="0" anchor="t"/>
          <a:lstStyle/>
          <a:p>
            <a:pPr marL="228600" indent="-228600">
              <a:spcAft>
                <a:spcPts val="900"/>
              </a:spcAft>
              <a:buSzPct val="100000"/>
              <a:buChar char="•"/>
            </a:pPr>
            <a:r>
              <a:rPr lang="en-US" sz="2000" dirty="0">
                <a:solidFill>
                  <a:srgbClr val="3A3A3A"/>
                </a:solidFill>
                <a:latin typeface="Aptos" pitchFamily="34" charset="0"/>
                <a:ea typeface="Aptos" pitchFamily="34" charset="-122"/>
                <a:cs typeface="Aptos" pitchFamily="34" charset="-120"/>
              </a:rPr>
              <a:t>Drug trial: 25 patients on the standard drug (A) live an average of 10 months; 25 on a new drug (B) live 13. SD = 5 in each group, so each SE = 5/√25 = 1</a:t>
            </a:r>
          </a:p>
          <a:p>
            <a:pPr marL="228600" indent="-228600">
              <a:spcAft>
                <a:spcPts val="900"/>
              </a:spcAft>
              <a:buSzPct val="100000"/>
              <a:buChar char="•"/>
            </a:pPr>
            <a:r>
              <a:rPr lang="en-US" sz="2000" dirty="0">
                <a:solidFill>
                  <a:srgbClr val="3A3A3A"/>
                </a:solidFill>
                <a:latin typeface="Aptos" pitchFamily="34" charset="0"/>
                <a:ea typeface="Aptos" pitchFamily="34" charset="-122"/>
                <a:cs typeface="Aptos" pitchFamily="34" charset="-120"/>
              </a:rPr>
              <a:t>We care about the gap: x̄</a:t>
            </a:r>
            <a:r>
              <a:rPr lang="en-US" sz="2000" baseline="-25000" dirty="0">
                <a:solidFill>
                  <a:srgbClr val="3A3A3A"/>
                </a:solidFill>
                <a:latin typeface="Aptos" pitchFamily="34" charset="0"/>
                <a:ea typeface="Aptos" pitchFamily="34" charset="-122"/>
                <a:cs typeface="Aptos" pitchFamily="34" charset="-120"/>
              </a:rPr>
              <a:t>B</a:t>
            </a:r>
            <a:r>
              <a:rPr lang="en-US" sz="2000" dirty="0">
                <a:solidFill>
                  <a:srgbClr val="3A3A3A"/>
                </a:solidFill>
                <a:latin typeface="Aptos" pitchFamily="34" charset="0"/>
                <a:ea typeface="Aptos" pitchFamily="34" charset="-122"/>
                <a:cs typeface="Aptos" pitchFamily="34" charset="-120"/>
              </a:rPr>
              <a:t> − x̄</a:t>
            </a:r>
            <a:r>
              <a:rPr lang="en-US" sz="2000" baseline="-25000" dirty="0">
                <a:solidFill>
                  <a:srgbClr val="3A3A3A"/>
                </a:solidFill>
                <a:latin typeface="Aptos" pitchFamily="34" charset="0"/>
                <a:ea typeface="Aptos" pitchFamily="34" charset="-122"/>
                <a:cs typeface="Aptos" pitchFamily="34" charset="-120"/>
              </a:rPr>
              <a:t>A</a:t>
            </a:r>
            <a:r>
              <a:rPr lang="en-US" sz="2000" dirty="0">
                <a:solidFill>
                  <a:srgbClr val="3A3A3A"/>
                </a:solidFill>
                <a:latin typeface="Aptos" pitchFamily="34" charset="0"/>
                <a:ea typeface="Aptos" pitchFamily="34" charset="-122"/>
                <a:cs typeface="Aptos" pitchFamily="34" charset="-120"/>
              </a:rPr>
              <a:t> = 3 months. What is its SE?</a:t>
            </a:r>
          </a:p>
          <a:p>
            <a:pPr marL="228600" indent="-228600">
              <a:spcAft>
                <a:spcPts val="900"/>
              </a:spcAft>
              <a:buSzPct val="100000"/>
              <a:buChar char="•"/>
            </a:pPr>
            <a:r>
              <a:rPr lang="en-US" sz="2000" dirty="0">
                <a:solidFill>
                  <a:srgbClr val="3A3A3A"/>
                </a:solidFill>
                <a:latin typeface="Aptos" pitchFamily="34" charset="0"/>
                <a:ea typeface="Aptos" pitchFamily="34" charset="-122"/>
                <a:cs typeface="Aptos" pitchFamily="34" charset="-120"/>
              </a:rPr>
              <a:t>For </a:t>
            </a:r>
            <a:r>
              <a:rPr lang="en-US" sz="2000" b="1" dirty="0">
                <a:solidFill>
                  <a:srgbClr val="FF42A1"/>
                </a:solidFill>
                <a:latin typeface="Aptos" pitchFamily="34" charset="0"/>
                <a:ea typeface="Aptos" pitchFamily="34" charset="-122"/>
                <a:cs typeface="Aptos" pitchFamily="34" charset="-120"/>
              </a:rPr>
              <a:t>independent</a:t>
            </a:r>
            <a:r>
              <a:rPr lang="en-US" sz="2000" dirty="0">
                <a:solidFill>
                  <a:srgbClr val="3A3A3A"/>
                </a:solidFill>
                <a:latin typeface="Aptos" pitchFamily="34" charset="0"/>
                <a:ea typeface="Aptos" pitchFamily="34" charset="-122"/>
                <a:cs typeface="Aptos" pitchFamily="34" charset="-120"/>
              </a:rPr>
              <a:t> groups, </a:t>
            </a:r>
            <a:r>
              <a:rPr lang="en-US" sz="2000" b="1" dirty="0">
                <a:solidFill>
                  <a:srgbClr val="FF42A1"/>
                </a:solidFill>
                <a:latin typeface="Aptos" pitchFamily="34" charset="0"/>
                <a:ea typeface="Aptos" pitchFamily="34" charset="-122"/>
                <a:cs typeface="Aptos" pitchFamily="34" charset="-120"/>
              </a:rPr>
              <a:t>variances add</a:t>
            </a:r>
            <a:r>
              <a:rPr lang="en-US" sz="2000" dirty="0">
                <a:solidFill>
                  <a:srgbClr val="3A3A3A"/>
                </a:solidFill>
                <a:latin typeface="Aptos" pitchFamily="34" charset="0"/>
                <a:ea typeface="Aptos" pitchFamily="34" charset="-122"/>
                <a:cs typeface="Aptos" pitchFamily="34" charset="-120"/>
              </a:rPr>
              <a:t>: V[x̄</a:t>
            </a:r>
            <a:r>
              <a:rPr lang="en-US" sz="2000" baseline="-25000" dirty="0">
                <a:solidFill>
                  <a:srgbClr val="3A3A3A"/>
                </a:solidFill>
                <a:latin typeface="Aptos" pitchFamily="34" charset="0"/>
                <a:ea typeface="Aptos" pitchFamily="34" charset="-122"/>
                <a:cs typeface="Aptos" pitchFamily="34" charset="-120"/>
              </a:rPr>
              <a:t>B</a:t>
            </a:r>
            <a:r>
              <a:rPr lang="en-US" sz="2000" dirty="0">
                <a:solidFill>
                  <a:srgbClr val="3A3A3A"/>
                </a:solidFill>
                <a:latin typeface="Aptos" pitchFamily="34" charset="0"/>
                <a:ea typeface="Aptos" pitchFamily="34" charset="-122"/>
                <a:cs typeface="Aptos" pitchFamily="34" charset="-120"/>
              </a:rPr>
              <a:t> − x̄</a:t>
            </a:r>
            <a:r>
              <a:rPr lang="en-US" sz="2000" baseline="-25000" dirty="0">
                <a:solidFill>
                  <a:srgbClr val="3A3A3A"/>
                </a:solidFill>
                <a:latin typeface="Aptos" pitchFamily="34" charset="0"/>
                <a:ea typeface="Aptos" pitchFamily="34" charset="-122"/>
                <a:cs typeface="Aptos" pitchFamily="34" charset="-120"/>
              </a:rPr>
              <a:t>A</a:t>
            </a:r>
            <a:r>
              <a:rPr lang="en-US" sz="2000" dirty="0">
                <a:solidFill>
                  <a:srgbClr val="3A3A3A"/>
                </a:solidFill>
                <a:latin typeface="Aptos" pitchFamily="34" charset="0"/>
                <a:ea typeface="Aptos" pitchFamily="34" charset="-122"/>
                <a:cs typeface="Aptos" pitchFamily="34" charset="-120"/>
              </a:rPr>
              <a:t>] = V[x̄</a:t>
            </a:r>
            <a:r>
              <a:rPr lang="en-US" sz="2000" baseline="-25000" dirty="0">
                <a:solidFill>
                  <a:srgbClr val="3A3A3A"/>
                </a:solidFill>
                <a:latin typeface="Aptos" pitchFamily="34" charset="0"/>
                <a:ea typeface="Aptos" pitchFamily="34" charset="-122"/>
                <a:cs typeface="Aptos" pitchFamily="34" charset="-120"/>
              </a:rPr>
              <a:t>B</a:t>
            </a:r>
            <a:r>
              <a:rPr lang="en-US" sz="2000" dirty="0">
                <a:solidFill>
                  <a:srgbClr val="3A3A3A"/>
                </a:solidFill>
                <a:latin typeface="Aptos" pitchFamily="34" charset="0"/>
                <a:ea typeface="Aptos" pitchFamily="34" charset="-122"/>
                <a:cs typeface="Aptos" pitchFamily="34" charset="-120"/>
              </a:rPr>
              <a:t>] + V[x̄</a:t>
            </a:r>
            <a:r>
              <a:rPr lang="en-US" sz="2000" baseline="-25000" dirty="0">
                <a:solidFill>
                  <a:srgbClr val="3A3A3A"/>
                </a:solidFill>
                <a:latin typeface="Aptos" pitchFamily="34" charset="0"/>
                <a:ea typeface="Aptos" pitchFamily="34" charset="-122"/>
                <a:cs typeface="Aptos" pitchFamily="34" charset="-120"/>
              </a:rPr>
              <a:t>A</a:t>
            </a:r>
            <a:r>
              <a:rPr lang="en-US" sz="2000" dirty="0">
                <a:solidFill>
                  <a:srgbClr val="3A3A3A"/>
                </a:solidFill>
                <a:latin typeface="Aptos" pitchFamily="34" charset="0"/>
                <a:ea typeface="Aptos" pitchFamily="34" charset="-122"/>
                <a:cs typeface="Aptos" pitchFamily="34" charset="-120"/>
              </a:rPr>
              <a:t>] = 1 + 1 = 2, so </a:t>
            </a:r>
            <a:r>
              <a:rPr lang="en-US" sz="2000" b="1" dirty="0">
                <a:solidFill>
                  <a:srgbClr val="FF42A1"/>
                </a:solidFill>
                <a:latin typeface="Aptos" pitchFamily="34" charset="0"/>
                <a:ea typeface="Aptos" pitchFamily="34" charset="-122"/>
                <a:cs typeface="Aptos" pitchFamily="34" charset="-120"/>
              </a:rPr>
              <a:t>SE = √2 = 1.41</a:t>
            </a:r>
          </a:p>
          <a:p>
            <a:pPr marL="228600" indent="-228600">
              <a:spcAft>
                <a:spcPts val="900"/>
              </a:spcAft>
              <a:buSzPct val="100000"/>
              <a:buChar char="•"/>
            </a:pPr>
            <a:r>
              <a:rPr lang="en-US" sz="2000" b="1" dirty="0">
                <a:solidFill>
                  <a:srgbClr val="FF42A1"/>
                </a:solidFill>
                <a:latin typeface="Aptos" pitchFamily="34" charset="0"/>
                <a:ea typeface="Aptos" pitchFamily="34" charset="-122"/>
                <a:cs typeface="Aptos" pitchFamily="34" charset="-120"/>
              </a:rPr>
              <a:t>SEs do not add</a:t>
            </a:r>
            <a:r>
              <a:rPr lang="en-US" sz="2000" dirty="0">
                <a:solidFill>
                  <a:srgbClr val="3A3A3A"/>
                </a:solidFill>
                <a:latin typeface="Aptos" pitchFamily="34" charset="0"/>
                <a:ea typeface="Aptos" pitchFamily="34" charset="-122"/>
                <a:cs typeface="Aptos" pitchFamily="34" charset="-120"/>
              </a:rPr>
              <a:t> (1 + 1 = 2 is wrong). In general: SE(gap) = √(SE</a:t>
            </a:r>
            <a:r>
              <a:rPr lang="en-US" sz="2000" baseline="-25000" dirty="0">
                <a:solidFill>
                  <a:srgbClr val="3A3A3A"/>
                </a:solidFill>
                <a:latin typeface="Aptos" pitchFamily="34" charset="0"/>
                <a:ea typeface="Aptos" pitchFamily="34" charset="-122"/>
                <a:cs typeface="Aptos" pitchFamily="34" charset="-120"/>
              </a:rPr>
              <a:t>A</a:t>
            </a:r>
            <a:r>
              <a:rPr lang="en-US" sz="2000" dirty="0">
                <a:solidFill>
                  <a:srgbClr val="3A3A3A"/>
                </a:solidFill>
                <a:latin typeface="Aptos" pitchFamily="34" charset="0"/>
                <a:ea typeface="Aptos" pitchFamily="34" charset="-122"/>
                <a:cs typeface="Aptos" pitchFamily="34" charset="-120"/>
              </a:rPr>
              <a:t>² + SE</a:t>
            </a:r>
            <a:r>
              <a:rPr lang="en-US" sz="2000" baseline="-25000" dirty="0">
                <a:solidFill>
                  <a:srgbClr val="3A3A3A"/>
                </a:solidFill>
                <a:latin typeface="Aptos" pitchFamily="34" charset="0"/>
                <a:ea typeface="Aptos" pitchFamily="34" charset="-122"/>
                <a:cs typeface="Aptos" pitchFamily="34" charset="-120"/>
              </a:rPr>
              <a:t>B</a:t>
            </a:r>
            <a:r>
              <a:rPr lang="en-US" sz="2000" dirty="0">
                <a:solidFill>
                  <a:srgbClr val="3A3A3A"/>
                </a:solidFill>
                <a:latin typeface="Aptos" pitchFamily="34" charset="0"/>
                <a:ea typeface="Aptos" pitchFamily="34" charset="-122"/>
                <a:cs typeface="Aptos" pitchFamily="34" charset="-120"/>
              </a:rPr>
              <a:t>²). Bootstrap version: resample each group separately, compute the gap each time, take the SD of the gaps</a:t>
            </a:r>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Comparing Two Groups: a CI for the Difference</a:t>
            </a:r>
            <a:endParaRPr lang="en-US" sz="3000" dirty="0"/>
          </a:p>
        </p:txBody>
      </p:sp>
      <p:sp>
        <p:nvSpPr>
          <p:cNvPr id="3" name="Text 1"/>
          <p:cNvSpPr txBox="1"/>
          <p:nvPr/>
        </p:nvSpPr>
        <p:spPr>
          <a:xfrm>
            <a:off x="548640" y="1280160"/>
            <a:ext cx="11064240" cy="4846320"/>
          </a:xfrm>
          <a:prstGeom prst="rect">
            <a:avLst/>
          </a:prstGeom>
          <a:noFill/>
          <a:ln/>
        </p:spPr>
        <p:txBody>
          <a:bodyPr wrap="square" lIns="0" tIns="0" rIns="0" bIns="0" rtlCol="0" anchor="t"/>
          <a:lstStyle/>
          <a:p>
            <a:pPr marL="228600" indent="-228600">
              <a:spcAft>
                <a:spcPts val="900"/>
              </a:spcAft>
              <a:buSzPct val="100000"/>
              <a:buChar char="•"/>
            </a:pPr>
            <a:r>
              <a:rPr lang="en-US" sz="2000" dirty="0">
                <a:solidFill>
                  <a:srgbClr val="3A3A3A"/>
                </a:solidFill>
                <a:latin typeface="Aptos" pitchFamily="34" charset="0"/>
                <a:ea typeface="Aptos" pitchFamily="34" charset="-122"/>
                <a:cs typeface="Aptos" pitchFamily="34" charset="-120"/>
              </a:rPr>
              <a:t>95% CI for the gap: 3 ± 1.96 × 1.41 = 3 ± 2.77 = </a:t>
            </a:r>
            <a:r>
              <a:rPr lang="en-US" sz="2000" b="1" dirty="0">
                <a:solidFill>
                  <a:srgbClr val="FF42A1"/>
                </a:solidFill>
                <a:latin typeface="Aptos" pitchFamily="34" charset="0"/>
                <a:ea typeface="Aptos" pitchFamily="34" charset="-122"/>
                <a:cs typeface="Aptos" pitchFamily="34" charset="-120"/>
              </a:rPr>
              <a:t>(0.23, 5.77)</a:t>
            </a:r>
            <a:r>
              <a:rPr lang="en-US" sz="2000" dirty="0">
                <a:solidFill>
                  <a:srgbClr val="3A3A3A"/>
                </a:solidFill>
                <a:latin typeface="Aptos" pitchFamily="34" charset="0"/>
                <a:ea typeface="Aptos" pitchFamily="34" charset="-122"/>
                <a:cs typeface="Aptos" pitchFamily="34" charset="-120"/>
              </a:rPr>
              <a:t>. 0 is outside, so the new drug adds months at α = .05</a:t>
            </a:r>
          </a:p>
          <a:p>
            <a:pPr marL="228600" indent="-228600">
              <a:spcAft>
                <a:spcPts val="900"/>
              </a:spcAft>
              <a:buSzPct val="100000"/>
              <a:buChar char="•"/>
            </a:pPr>
            <a:r>
              <a:rPr lang="en-US" sz="2000" dirty="0">
                <a:solidFill>
                  <a:srgbClr val="3A3A3A"/>
                </a:solidFill>
                <a:latin typeface="Aptos" pitchFamily="34" charset="0"/>
                <a:ea typeface="Aptos" pitchFamily="34" charset="-122"/>
                <a:cs typeface="Aptos" pitchFamily="34" charset="-120"/>
              </a:rPr>
              <a:t>To get z, remember we will do estimated difference (3) – null difference (0) divided by SE:</a:t>
            </a:r>
          </a:p>
          <a:p>
            <a:pPr marL="228600" indent="-228600">
              <a:spcAft>
                <a:spcPts val="900"/>
              </a:spcAft>
              <a:buSzPct val="100000"/>
              <a:buChar char="•"/>
            </a:pPr>
            <a:r>
              <a:rPr lang="en-US" sz="2000" dirty="0">
                <a:solidFill>
                  <a:srgbClr val="3A3A3A"/>
                </a:solidFill>
                <a:latin typeface="Aptos" pitchFamily="34" charset="0"/>
                <a:ea typeface="Aptos" pitchFamily="34" charset="-122"/>
                <a:cs typeface="Aptos" pitchFamily="34" charset="-120"/>
              </a:rPr>
              <a:t>z = 3 / 1.41 = 2.12, and p = 2Φ(−2.12) = 0.03</a:t>
            </a:r>
          </a:p>
          <a:p>
            <a:pPr marL="228600" indent="-228600">
              <a:spcAft>
                <a:spcPts val="900"/>
              </a:spcAft>
              <a:buSzPct val="100000"/>
              <a:buChar char="•"/>
            </a:pPr>
            <a:r>
              <a:rPr lang="en-US" sz="2000" dirty="0">
                <a:solidFill>
                  <a:srgbClr val="3A3A3A"/>
                </a:solidFill>
                <a:latin typeface="Aptos" pitchFamily="34" charset="0"/>
                <a:ea typeface="Aptos" pitchFamily="34" charset="-122"/>
                <a:cs typeface="Aptos" pitchFamily="34" charset="-120"/>
              </a:rPr>
              <a:t>But each drug’s own 95% CI is (8.04, 11.96) for A and (11.04, 14.96) for B: </a:t>
            </a:r>
            <a:r>
              <a:rPr lang="en-US" sz="2000" b="1" dirty="0">
                <a:solidFill>
                  <a:srgbClr val="FF42A1"/>
                </a:solidFill>
                <a:latin typeface="Aptos" pitchFamily="34" charset="0"/>
                <a:ea typeface="Aptos" pitchFamily="34" charset="-122"/>
                <a:cs typeface="Aptos" pitchFamily="34" charset="-120"/>
              </a:rPr>
              <a:t>they overlap</a:t>
            </a:r>
          </a:p>
          <a:p>
            <a:pPr marL="228600" indent="-228600">
              <a:spcAft>
                <a:spcPts val="900"/>
              </a:spcAft>
              <a:buSzPct val="100000"/>
              <a:buChar char="•"/>
            </a:pPr>
            <a:r>
              <a:rPr lang="en-US" sz="2000" b="1" dirty="0">
                <a:solidFill>
                  <a:srgbClr val="FF42A1"/>
                </a:solidFill>
                <a:latin typeface="Aptos" pitchFamily="34" charset="0"/>
                <a:ea typeface="Aptos" pitchFamily="34" charset="-122"/>
                <a:cs typeface="Aptos" pitchFamily="34" charset="-120"/>
              </a:rPr>
              <a:t>Overlapping CIs do not mean “no difference.”</a:t>
            </a:r>
            <a:r>
              <a:rPr lang="en-US" sz="2000" dirty="0">
                <a:solidFill>
                  <a:srgbClr val="3A3A3A"/>
                </a:solidFill>
                <a:latin typeface="Aptos" pitchFamily="34" charset="0"/>
                <a:ea typeface="Aptos" pitchFamily="34" charset="-122"/>
                <a:cs typeface="Aptos" pitchFamily="34" charset="-120"/>
              </a:rPr>
              <a:t> But non-overlapping CIs DO mean a difference.</a:t>
            </a:r>
          </a:p>
          <a:p>
            <a:pPr marL="228600" indent="-228600">
              <a:spcAft>
                <a:spcPts val="900"/>
              </a:spcAft>
              <a:buSzPct val="100000"/>
              <a:buChar char="•"/>
            </a:pPr>
            <a:r>
              <a:rPr lang="en-US" sz="2000" dirty="0">
                <a:solidFill>
                  <a:srgbClr val="3A3A3A"/>
                </a:solidFill>
                <a:latin typeface="Aptos" pitchFamily="34" charset="0"/>
                <a:ea typeface="Aptos" pitchFamily="34" charset="-122"/>
                <a:cs typeface="Aptos" pitchFamily="34" charset="-120"/>
              </a:rPr>
              <a:t>Rule of thumb (independent groups, similar SEs): 95% CIs that just touch give p ≈ 0.006, and they can overlap by about half an arm and still give p &lt; .05</a:t>
            </a:r>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Paired Data: Take Differences First</a:t>
            </a:r>
            <a:endParaRPr lang="en-US" sz="3000" dirty="0"/>
          </a:p>
        </p:txBody>
      </p:sp>
      <p:sp>
        <p:nvSpPr>
          <p:cNvPr id="3" name="Text 1"/>
          <p:cNvSpPr txBox="1"/>
          <p:nvPr/>
        </p:nvSpPr>
        <p:spPr>
          <a:xfrm>
            <a:off x="548640" y="1280160"/>
            <a:ext cx="11064240" cy="4846320"/>
          </a:xfrm>
          <a:prstGeom prst="rect">
            <a:avLst/>
          </a:prstGeom>
          <a:noFill/>
          <a:ln/>
        </p:spPr>
        <p:txBody>
          <a:bodyPr wrap="square" lIns="0" tIns="0" rIns="0" bIns="0" rtlCol="0" anchor="t"/>
          <a:lstStyle/>
          <a:p>
            <a:pPr marL="228600" indent="-228600">
              <a:spcAft>
                <a:spcPts val="900"/>
              </a:spcAft>
              <a:buSzPct val="100000"/>
              <a:buChar char="•"/>
            </a:pPr>
            <a:r>
              <a:rPr lang="en-US" sz="2000" dirty="0">
                <a:solidFill>
                  <a:srgbClr val="3A3A3A"/>
                </a:solidFill>
                <a:latin typeface="Aptos" pitchFamily="34" charset="0"/>
                <a:ea typeface="Aptos" pitchFamily="34" charset="-122"/>
                <a:cs typeface="Aptos" pitchFamily="34" charset="-120"/>
              </a:rPr>
              <a:t>Crossover migraine trial: the </a:t>
            </a:r>
            <a:r>
              <a:rPr lang="en-US" sz="2000" b="1" dirty="0">
                <a:solidFill>
                  <a:srgbClr val="FF42A1"/>
                </a:solidFill>
                <a:latin typeface="Aptos" pitchFamily="34" charset="0"/>
                <a:ea typeface="Aptos" pitchFamily="34" charset="-122"/>
                <a:cs typeface="Aptos" pitchFamily="34" charset="-120"/>
              </a:rPr>
              <a:t>same 30 patients</a:t>
            </a:r>
            <a:r>
              <a:rPr lang="en-US" sz="2000" dirty="0">
                <a:solidFill>
                  <a:srgbClr val="3A3A3A"/>
                </a:solidFill>
                <a:latin typeface="Aptos" pitchFamily="34" charset="0"/>
                <a:ea typeface="Aptos" pitchFamily="34" charset="-122"/>
                <a:cs typeface="Aptos" pitchFamily="34" charset="-120"/>
              </a:rPr>
              <a:t> spend a month on placebo (A) and a month on the drug (B). Averages: 10 and 11.5 migraine-free days; SE = 1 each</a:t>
            </a:r>
          </a:p>
          <a:p>
            <a:pPr marL="228600" indent="-228600">
              <a:spcAft>
                <a:spcPts val="900"/>
              </a:spcAft>
              <a:buSzPct val="100000"/>
              <a:buChar char="•"/>
            </a:pPr>
            <a:r>
              <a:rPr lang="en-US" sz="2000" dirty="0">
                <a:solidFill>
                  <a:srgbClr val="3A3A3A"/>
                </a:solidFill>
                <a:latin typeface="Aptos" pitchFamily="34" charset="0"/>
                <a:ea typeface="Aptos" pitchFamily="34" charset="-122"/>
                <a:cs typeface="Aptos" pitchFamily="34" charset="-120"/>
              </a:rPr>
              <a:t>As if the groups were independent: SE(gap) = √(1 + 1) = 1.41, z = 1.5/1.41 = 1.06, p ≈ 0.29</a:t>
            </a:r>
          </a:p>
          <a:p>
            <a:pPr marL="228600" indent="-228600">
              <a:spcAft>
                <a:spcPts val="900"/>
              </a:spcAft>
              <a:buSzPct val="100000"/>
              <a:buChar char="•"/>
            </a:pPr>
            <a:r>
              <a:rPr lang="en-US" sz="2000" dirty="0">
                <a:solidFill>
                  <a:srgbClr val="3A3A3A"/>
                </a:solidFill>
                <a:latin typeface="Aptos" pitchFamily="34" charset="0"/>
                <a:ea typeface="Aptos" pitchFamily="34" charset="-122"/>
                <a:cs typeface="Aptos" pitchFamily="34" charset="-120"/>
              </a:rPr>
              <a:t>But patients with frequent migraines have few good days in both months, so each patient’s two counts are correlated (r ≈ 0.8)</a:t>
            </a:r>
          </a:p>
          <a:p>
            <a:pPr marL="228600" indent="-228600">
              <a:spcAft>
                <a:spcPts val="900"/>
              </a:spcAft>
              <a:buSzPct val="100000"/>
              <a:buChar char="•"/>
            </a:pPr>
            <a:r>
              <a:rPr lang="en-US" sz="2000" b="1" dirty="0">
                <a:solidFill>
                  <a:srgbClr val="FF42A1"/>
                </a:solidFill>
                <a:latin typeface="Aptos" pitchFamily="34" charset="0"/>
                <a:ea typeface="Aptos" pitchFamily="34" charset="-122"/>
                <a:cs typeface="Aptos" pitchFamily="34" charset="-120"/>
              </a:rPr>
              <a:t>Take each patient’s difference d = B − A first</a:t>
            </a:r>
            <a:r>
              <a:rPr lang="en-US" sz="2000" dirty="0">
                <a:solidFill>
                  <a:srgbClr val="3A3A3A"/>
                </a:solidFill>
                <a:latin typeface="Aptos" pitchFamily="34" charset="0"/>
                <a:ea typeface="Aptos" pitchFamily="34" charset="-122"/>
                <a:cs typeface="Aptos" pitchFamily="34" charset="-120"/>
              </a:rPr>
              <a:t>, then do a one-sample CI on the 30 d’s: SE = s</a:t>
            </a:r>
            <a:r>
              <a:rPr lang="en-US" sz="2000" baseline="-25000" dirty="0">
                <a:solidFill>
                  <a:srgbClr val="3A3A3A"/>
                </a:solidFill>
                <a:latin typeface="Aptos" pitchFamily="34" charset="0"/>
                <a:ea typeface="Aptos" pitchFamily="34" charset="-122"/>
                <a:cs typeface="Aptos" pitchFamily="34" charset="-120"/>
              </a:rPr>
              <a:t>d</a:t>
            </a:r>
            <a:r>
              <a:rPr lang="en-US" sz="2000" dirty="0">
                <a:solidFill>
                  <a:srgbClr val="3A3A3A"/>
                </a:solidFill>
                <a:latin typeface="Aptos" pitchFamily="34" charset="0"/>
                <a:ea typeface="Aptos" pitchFamily="34" charset="-122"/>
                <a:cs typeface="Aptos" pitchFamily="34" charset="-120"/>
              </a:rPr>
              <a:t>/√30 = 0.63, CI = 1.5 ± 1.24 = </a:t>
            </a:r>
            <a:r>
              <a:rPr lang="en-US" sz="2000" b="1" dirty="0">
                <a:solidFill>
                  <a:srgbClr val="FF42A1"/>
                </a:solidFill>
                <a:latin typeface="Aptos" pitchFamily="34" charset="0"/>
                <a:ea typeface="Aptos" pitchFamily="34" charset="-122"/>
                <a:cs typeface="Aptos" pitchFamily="34" charset="-120"/>
              </a:rPr>
              <a:t>(0.26, 2.74)</a:t>
            </a:r>
            <a:r>
              <a:rPr lang="en-US" sz="2000" dirty="0">
                <a:solidFill>
                  <a:srgbClr val="3A3A3A"/>
                </a:solidFill>
                <a:latin typeface="Aptos" pitchFamily="34" charset="0"/>
                <a:ea typeface="Aptos" pitchFamily="34" charset="-122"/>
                <a:cs typeface="Aptos" pitchFamily="34" charset="-120"/>
              </a:rPr>
              <a:t>, p ≈ 0.02</a:t>
            </a:r>
          </a:p>
          <a:p>
            <a:pPr marL="228600" indent="-228600">
              <a:spcAft>
                <a:spcPts val="900"/>
              </a:spcAft>
              <a:buSzPct val="100000"/>
              <a:buChar char="•"/>
            </a:pPr>
            <a:r>
              <a:rPr lang="en-US" sz="2000" dirty="0">
                <a:solidFill>
                  <a:srgbClr val="3A3A3A"/>
                </a:solidFill>
                <a:latin typeface="Aptos" pitchFamily="34" charset="0"/>
                <a:ea typeface="Aptos" pitchFamily="34" charset="-122"/>
                <a:cs typeface="Aptos" pitchFamily="34" charset="-120"/>
              </a:rPr>
              <a:t>Why: V[x̄</a:t>
            </a:r>
            <a:r>
              <a:rPr lang="en-US" sz="2000" baseline="-25000" dirty="0">
                <a:solidFill>
                  <a:srgbClr val="3A3A3A"/>
                </a:solidFill>
                <a:latin typeface="Aptos" pitchFamily="34" charset="0"/>
                <a:ea typeface="Aptos" pitchFamily="34" charset="-122"/>
                <a:cs typeface="Aptos" pitchFamily="34" charset="-120"/>
              </a:rPr>
              <a:t>B</a:t>
            </a:r>
            <a:r>
              <a:rPr lang="en-US" sz="2000" dirty="0">
                <a:solidFill>
                  <a:srgbClr val="3A3A3A"/>
                </a:solidFill>
                <a:latin typeface="Aptos" pitchFamily="34" charset="0"/>
                <a:ea typeface="Aptos" pitchFamily="34" charset="-122"/>
                <a:cs typeface="Aptos" pitchFamily="34" charset="-120"/>
              </a:rPr>
              <a:t> − x̄</a:t>
            </a:r>
            <a:r>
              <a:rPr lang="en-US" sz="2000" baseline="-25000" dirty="0">
                <a:solidFill>
                  <a:srgbClr val="3A3A3A"/>
                </a:solidFill>
                <a:latin typeface="Aptos" pitchFamily="34" charset="0"/>
                <a:ea typeface="Aptos" pitchFamily="34" charset="-122"/>
                <a:cs typeface="Aptos" pitchFamily="34" charset="-120"/>
              </a:rPr>
              <a:t>A</a:t>
            </a:r>
            <a:r>
              <a:rPr lang="en-US" sz="2000" dirty="0">
                <a:solidFill>
                  <a:srgbClr val="3A3A3A"/>
                </a:solidFill>
                <a:latin typeface="Aptos" pitchFamily="34" charset="0"/>
                <a:ea typeface="Aptos" pitchFamily="34" charset="-122"/>
                <a:cs typeface="Aptos" pitchFamily="34" charset="-120"/>
              </a:rPr>
              <a:t>] = V[x̄</a:t>
            </a:r>
            <a:r>
              <a:rPr lang="en-US" sz="2000" baseline="-25000" dirty="0">
                <a:solidFill>
                  <a:srgbClr val="3A3A3A"/>
                </a:solidFill>
                <a:latin typeface="Aptos" pitchFamily="34" charset="0"/>
                <a:ea typeface="Aptos" pitchFamily="34" charset="-122"/>
                <a:cs typeface="Aptos" pitchFamily="34" charset="-120"/>
              </a:rPr>
              <a:t>A</a:t>
            </a:r>
            <a:r>
              <a:rPr lang="en-US" sz="2000" dirty="0">
                <a:solidFill>
                  <a:srgbClr val="3A3A3A"/>
                </a:solidFill>
                <a:latin typeface="Aptos" pitchFamily="34" charset="0"/>
                <a:ea typeface="Aptos" pitchFamily="34" charset="-122"/>
                <a:cs typeface="Aptos" pitchFamily="34" charset="-120"/>
              </a:rPr>
              <a:t>] + V[x̄</a:t>
            </a:r>
            <a:r>
              <a:rPr lang="en-US" sz="2000" baseline="-25000" dirty="0">
                <a:solidFill>
                  <a:srgbClr val="3A3A3A"/>
                </a:solidFill>
                <a:latin typeface="Aptos" pitchFamily="34" charset="0"/>
                <a:ea typeface="Aptos" pitchFamily="34" charset="-122"/>
                <a:cs typeface="Aptos" pitchFamily="34" charset="-120"/>
              </a:rPr>
              <a:t>B</a:t>
            </a:r>
            <a:r>
              <a:rPr lang="en-US" sz="2000" dirty="0">
                <a:solidFill>
                  <a:srgbClr val="3A3A3A"/>
                </a:solidFill>
                <a:latin typeface="Aptos" pitchFamily="34" charset="0"/>
                <a:ea typeface="Aptos" pitchFamily="34" charset="-122"/>
                <a:cs typeface="Aptos" pitchFamily="34" charset="-120"/>
              </a:rPr>
              <a:t>] − 2Cov(x̄</a:t>
            </a:r>
            <a:r>
              <a:rPr lang="en-US" sz="2000" baseline="-25000" dirty="0">
                <a:solidFill>
                  <a:srgbClr val="3A3A3A"/>
                </a:solidFill>
                <a:latin typeface="Aptos" pitchFamily="34" charset="0"/>
                <a:ea typeface="Aptos" pitchFamily="34" charset="-122"/>
                <a:cs typeface="Aptos" pitchFamily="34" charset="-120"/>
              </a:rPr>
              <a:t>A</a:t>
            </a:r>
            <a:r>
              <a:rPr lang="en-US" sz="2000" dirty="0">
                <a:solidFill>
                  <a:srgbClr val="3A3A3A"/>
                </a:solidFill>
                <a:latin typeface="Aptos" pitchFamily="34" charset="0"/>
                <a:ea typeface="Aptos" pitchFamily="34" charset="-122"/>
                <a:cs typeface="Aptos" pitchFamily="34" charset="-120"/>
              </a:rPr>
              <a:t>, x̄</a:t>
            </a:r>
            <a:r>
              <a:rPr lang="en-US" sz="2000" baseline="-25000" dirty="0">
                <a:solidFill>
                  <a:srgbClr val="3A3A3A"/>
                </a:solidFill>
                <a:latin typeface="Aptos" pitchFamily="34" charset="0"/>
                <a:ea typeface="Aptos" pitchFamily="34" charset="-122"/>
                <a:cs typeface="Aptos" pitchFamily="34" charset="-120"/>
              </a:rPr>
              <a:t>B</a:t>
            </a:r>
            <a:r>
              <a:rPr lang="en-US" sz="2000" dirty="0">
                <a:solidFill>
                  <a:srgbClr val="3A3A3A"/>
                </a:solidFill>
                <a:latin typeface="Aptos" pitchFamily="34" charset="0"/>
                <a:ea typeface="Aptos" pitchFamily="34" charset="-122"/>
                <a:cs typeface="Aptos" pitchFamily="34" charset="-120"/>
              </a:rPr>
              <a:t>). Positive correlation shrinks the SE, and two separate CIs can’t show it</a:t>
            </a:r>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99942-CF32-54B6-1AD8-9960C7E8C294}"/>
              </a:ext>
            </a:extLst>
          </p:cNvPr>
          <p:cNvSpPr>
            <a:spLocks noGrp="1"/>
          </p:cNvSpPr>
          <p:nvPr>
            <p:ph type="title" idx="100"/>
          </p:nvPr>
        </p:nvSpPr>
        <p:spPr/>
        <p:txBody>
          <a:bodyPr/>
          <a:lstStyle/>
          <a:p>
            <a:r>
              <a:rPr lang="en-US" dirty="0"/>
              <a:t>If you are getting confused about what to calculate…</a:t>
            </a:r>
            <a:br>
              <a:rPr lang="en-US" dirty="0"/>
            </a:br>
            <a:br>
              <a:rPr lang="en-US" dirty="0"/>
            </a:br>
            <a:r>
              <a:rPr lang="en-US" dirty="0"/>
              <a:t>you can’t go wrong with </a:t>
            </a:r>
            <a:r>
              <a:rPr lang="en-US" sz="3200" dirty="0">
                <a:solidFill>
                  <a:srgbClr val="3A3A3A"/>
                </a:solidFill>
                <a:latin typeface="Aptos" pitchFamily="34" charset="0"/>
              </a:rPr>
              <a:t>the b</a:t>
            </a:r>
            <a:r>
              <a:rPr lang="en-US" sz="3200" dirty="0">
                <a:solidFill>
                  <a:srgbClr val="3A3A3A"/>
                </a:solidFill>
                <a:latin typeface="Aptos" pitchFamily="34" charset="0"/>
                <a:ea typeface="Aptos" pitchFamily="34" charset="-122"/>
                <a:cs typeface="Aptos" pitchFamily="34" charset="-120"/>
              </a:rPr>
              <a:t>ootstrap version: </a:t>
            </a:r>
            <a:br>
              <a:rPr lang="en-US" sz="3200" dirty="0">
                <a:solidFill>
                  <a:srgbClr val="3A3A3A"/>
                </a:solidFill>
                <a:latin typeface="Aptos" pitchFamily="34" charset="0"/>
                <a:ea typeface="Aptos" pitchFamily="34" charset="-122"/>
                <a:cs typeface="Aptos" pitchFamily="34" charset="-120"/>
              </a:rPr>
            </a:br>
            <a:br>
              <a:rPr lang="en-US" dirty="0"/>
            </a:br>
            <a:r>
              <a:rPr lang="en-US" dirty="0"/>
              <a:t>Two independent groups: </a:t>
            </a:r>
            <a:r>
              <a:rPr lang="en-US" b="0" dirty="0"/>
              <a:t>resample each group separately, compute the gap each time, take the SD of the gaps.</a:t>
            </a:r>
            <a:br>
              <a:rPr lang="en-US" b="0" dirty="0"/>
            </a:br>
            <a:r>
              <a:rPr lang="en-US" dirty="0"/>
              <a:t>Paired data (same units measured twice): </a:t>
            </a:r>
            <a:r>
              <a:rPr lang="en-US" b="0" dirty="0"/>
              <a:t>compute each unit’s difference, resample the differences, and take the SD of their means.</a:t>
            </a:r>
            <a:br>
              <a:rPr lang="en-US" b="0" dirty="0"/>
            </a:br>
            <a:endParaRPr lang="en-US" b="0" dirty="0"/>
          </a:p>
        </p:txBody>
      </p:sp>
    </p:spTree>
    <p:extLst>
      <p:ext uri="{BB962C8B-B14F-4D97-AF65-F5344CB8AC3E}">
        <p14:creationId xmlns:p14="http://schemas.microsoft.com/office/powerpoint/2010/main" val="25859979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ACFA8-48C2-8380-EA59-B9770CA0A5E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902BE8E-0A58-415E-4F47-F216C021AE0B}"/>
              </a:ext>
            </a:extLst>
          </p:cNvPr>
          <p:cNvSpPr>
            <a:spLocks noGrp="1"/>
          </p:cNvSpPr>
          <p:nvPr>
            <p:ph type="title" idx="100" hasCustomPrompt="1"/>
          </p:nvPr>
        </p:nvSpPr>
        <p:spPr>
          <a:xfrm>
            <a:off x="731520" y="1645920"/>
            <a:ext cx="10698480" cy="3566160"/>
          </a:xfrm>
          <a:prstGeom prst="rect">
            <a:avLst/>
          </a:prstGeom>
          <a:noFill/>
          <a:ln/>
        </p:spPr>
        <p:txBody>
          <a:bodyPr wrap="square" lIns="0" tIns="0" rIns="0" bIns="0" rtlCol="0" anchor="ctr"/>
          <a:lstStyle/>
          <a:p>
            <a:pPr marL="0" indent="0" algn="ctr">
              <a:buNone/>
            </a:pPr>
            <a:r>
              <a:rPr lang="en-US" sz="6000" b="1" dirty="0">
                <a:solidFill>
                  <a:schemeClr val="tx1"/>
                </a:solidFill>
              </a:rPr>
              <a:t>Inference routine</a:t>
            </a:r>
            <a:endParaRPr lang="en-US" sz="6000" dirty="0"/>
          </a:p>
        </p:txBody>
      </p:sp>
      <p:sp>
        <p:nvSpPr>
          <p:cNvPr id="25" name="Slide Number Placeholder 0">
            <a:extLst>
              <a:ext uri="{FF2B5EF4-FFF2-40B4-BE49-F238E27FC236}">
                <a16:creationId xmlns:a16="http://schemas.microsoft.com/office/drawing/2014/main" id="{93C43E0E-482C-A3FF-8300-1990A6DCFAB8}"/>
              </a:ext>
            </a:extLst>
          </p:cNvPr>
          <p:cNvSpPr>
            <a:spLocks noGrp="1"/>
          </p:cNvSpPr>
          <p:nvPr>
            <p:ph type="sldNum" sz="quarter" idx="4294967295"/>
          </p:nvPr>
        </p:nvSpPr>
        <p:spPr>
          <a:xfrm>
            <a:off x="1124712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21</a:t>
            </a:fld>
            <a:endParaRPr lang="en-US"/>
          </a:p>
        </p:txBody>
      </p:sp>
    </p:spTree>
    <p:extLst>
      <p:ext uri="{BB962C8B-B14F-4D97-AF65-F5344CB8AC3E}">
        <p14:creationId xmlns:p14="http://schemas.microsoft.com/office/powerpoint/2010/main" val="29175381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DC8DE-F6AD-A279-1F50-C274F884180D}"/>
              </a:ext>
            </a:extLst>
          </p:cNvPr>
          <p:cNvSpPr>
            <a:spLocks noGrp="1"/>
          </p:cNvSpPr>
          <p:nvPr>
            <p:ph type="title" idx="100"/>
          </p:nvPr>
        </p:nvSpPr>
        <p:spPr>
          <a:xfrm>
            <a:off x="731520" y="2332382"/>
            <a:ext cx="10698480" cy="2879697"/>
          </a:xfrm>
        </p:spPr>
        <p:txBody>
          <a:bodyPr/>
          <a:lstStyle/>
          <a:p>
            <a:r>
              <a:rPr lang="en-US" dirty="0"/>
              <a:t>Non-parametric exploration of data </a:t>
            </a:r>
            <a:r>
              <a:rPr lang="en-US" dirty="0">
                <a:solidFill>
                  <a:schemeClr val="accent1"/>
                </a:solidFill>
              </a:rPr>
              <a:t>BEFORE</a:t>
            </a:r>
            <a:r>
              <a:rPr lang="en-US" dirty="0"/>
              <a:t> modeling</a:t>
            </a:r>
          </a:p>
        </p:txBody>
      </p:sp>
      <p:sp>
        <p:nvSpPr>
          <p:cNvPr id="3" name="TextBox 2">
            <a:extLst>
              <a:ext uri="{FF2B5EF4-FFF2-40B4-BE49-F238E27FC236}">
                <a16:creationId xmlns:a16="http://schemas.microsoft.com/office/drawing/2014/main" id="{16C1142F-6BC3-DECB-2DBA-7E150F0DB4AD}"/>
              </a:ext>
            </a:extLst>
          </p:cNvPr>
          <p:cNvSpPr txBox="1"/>
          <p:nvPr/>
        </p:nvSpPr>
        <p:spPr>
          <a:xfrm>
            <a:off x="4237146" y="1809162"/>
            <a:ext cx="3687228" cy="523220"/>
          </a:xfrm>
          <a:prstGeom prst="rect">
            <a:avLst/>
          </a:prstGeom>
          <a:noFill/>
        </p:spPr>
        <p:txBody>
          <a:bodyPr wrap="none" rtlCol="0">
            <a:spAutoFit/>
          </a:bodyPr>
          <a:lstStyle/>
          <a:p>
            <a:r>
              <a:rPr lang="en-US" sz="2800" i="1" dirty="0"/>
              <a:t>You should ALWAYS do</a:t>
            </a:r>
          </a:p>
        </p:txBody>
      </p:sp>
    </p:spTree>
    <p:extLst>
      <p:ext uri="{BB962C8B-B14F-4D97-AF65-F5344CB8AC3E}">
        <p14:creationId xmlns:p14="http://schemas.microsoft.com/office/powerpoint/2010/main" val="24690334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DB993-7009-73DA-9963-8F4EABD2C9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F3BBEB-DBBC-EAA6-08AA-5723BC8B1098}"/>
              </a:ext>
            </a:extLst>
          </p:cNvPr>
          <p:cNvSpPr>
            <a:spLocks noGrp="1"/>
          </p:cNvSpPr>
          <p:nvPr>
            <p:ph type="title" idx="100"/>
          </p:nvPr>
        </p:nvSpPr>
        <p:spPr>
          <a:xfrm>
            <a:off x="265043" y="2478156"/>
            <a:ext cx="11661913" cy="2879697"/>
          </a:xfrm>
        </p:spPr>
        <p:txBody>
          <a:bodyPr/>
          <a:lstStyle/>
          <a:p>
            <a:r>
              <a:rPr lang="en-US" dirty="0"/>
              <a:t>Inference to evaluate estimators </a:t>
            </a:r>
            <a:r>
              <a:rPr lang="en-US" dirty="0">
                <a:solidFill>
                  <a:schemeClr val="accent1"/>
                </a:solidFill>
              </a:rPr>
              <a:t>NOT JUST</a:t>
            </a:r>
            <a:r>
              <a:rPr lang="en-US" dirty="0"/>
              <a:t> prediction</a:t>
            </a:r>
          </a:p>
        </p:txBody>
      </p:sp>
      <p:sp>
        <p:nvSpPr>
          <p:cNvPr id="3" name="TextBox 2">
            <a:extLst>
              <a:ext uri="{FF2B5EF4-FFF2-40B4-BE49-F238E27FC236}">
                <a16:creationId xmlns:a16="http://schemas.microsoft.com/office/drawing/2014/main" id="{F49946F9-BC83-C17B-E317-D54915CED310}"/>
              </a:ext>
            </a:extLst>
          </p:cNvPr>
          <p:cNvSpPr txBox="1"/>
          <p:nvPr/>
        </p:nvSpPr>
        <p:spPr>
          <a:xfrm>
            <a:off x="4237146" y="1809162"/>
            <a:ext cx="3687228" cy="523220"/>
          </a:xfrm>
          <a:prstGeom prst="rect">
            <a:avLst/>
          </a:prstGeom>
          <a:noFill/>
        </p:spPr>
        <p:txBody>
          <a:bodyPr wrap="none" rtlCol="0">
            <a:spAutoFit/>
          </a:bodyPr>
          <a:lstStyle/>
          <a:p>
            <a:r>
              <a:rPr lang="en-US" sz="2800" i="1" dirty="0"/>
              <a:t>You should ALWAYS do</a:t>
            </a:r>
          </a:p>
        </p:txBody>
      </p:sp>
    </p:spTree>
    <p:extLst>
      <p:ext uri="{BB962C8B-B14F-4D97-AF65-F5344CB8AC3E}">
        <p14:creationId xmlns:p14="http://schemas.microsoft.com/office/powerpoint/2010/main" val="27979071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525778BB-5B0C-8810-7002-FB3E326E5B74}"/>
                  </a:ext>
                </a:extLst>
              </p:cNvPr>
              <p:cNvSpPr>
                <a:spLocks noGrp="1"/>
              </p:cNvSpPr>
              <p:nvPr>
                <p:ph type="title" idx="100"/>
              </p:nvPr>
            </p:nvSpPr>
            <p:spPr>
              <a:xfrm>
                <a:off x="317500" y="698500"/>
                <a:ext cx="7713317" cy="5740400"/>
              </a:xfrm>
            </p:spPr>
            <p:txBody>
              <a:bodyPr/>
              <a:lstStyle/>
              <a:p>
                <a:pPr algn="l"/>
                <a:br>
                  <a:rPr lang="en-US" sz="2000" b="0" dirty="0"/>
                </a:br>
                <a:br>
                  <a:rPr lang="en-US" sz="2000" b="0" dirty="0"/>
                </a:br>
                <a:r>
                  <a:rPr lang="en-US" sz="2000" b="0" dirty="0"/>
                  <a:t>1. State the population parameter </a:t>
                </a:r>
                <a14:m>
                  <m:oMath xmlns:m="http://schemas.openxmlformats.org/officeDocument/2006/math">
                    <m:r>
                      <a:rPr lang="en-US" sz="2000" b="0" i="1" smtClean="0">
                        <a:latin typeface="Cambria Math" panose="02040503050406030204" pitchFamily="18" charset="0"/>
                        <a:ea typeface="Cambria Math" panose="02040503050406030204" pitchFamily="18" charset="0"/>
                      </a:rPr>
                      <m:t>𝜃</m:t>
                    </m:r>
                  </m:oMath>
                </a14:m>
                <a:r>
                  <a:rPr lang="en-US" sz="2000" b="0" dirty="0"/>
                  <a:t> in words and define the estimator </a:t>
                </a:r>
                <a14:m>
                  <m:oMath xmlns:m="http://schemas.openxmlformats.org/officeDocument/2006/math">
                    <m:acc>
                      <m:accPr>
                        <m:chr m:val="̂"/>
                        <m:ctrlPr>
                          <a:rPr lang="en-US" sz="2000" b="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𝜃</m:t>
                        </m:r>
                      </m:e>
                    </m:acc>
                  </m:oMath>
                </a14:m>
                <a:br>
                  <a:rPr lang="en-US" sz="2000" b="0" dirty="0"/>
                </a:br>
                <a:r>
                  <a:rPr lang="en-US" sz="2000" b="0" dirty="0"/>
                  <a:t>2. Clean only the needed variables and report the resulting sample size(s).</a:t>
                </a:r>
                <a:br>
                  <a:rPr lang="en-US" sz="2000" b="0" dirty="0"/>
                </a:br>
                <a:r>
                  <a:rPr lang="en-US" sz="2000" b="0" dirty="0"/>
                  <a:t>3. Compute </a:t>
                </a:r>
                <a14:m>
                  <m:oMath xmlns:m="http://schemas.openxmlformats.org/officeDocument/2006/math">
                    <m:acc>
                      <m:accPr>
                        <m:chr m:val="̂"/>
                        <m:ctrlPr>
                          <a:rPr lang="en-US" sz="2000" b="0" i="1">
                            <a:latin typeface="Cambria Math" panose="02040503050406030204" pitchFamily="18" charset="0"/>
                            <a:ea typeface="Cambria Math" panose="02040503050406030204" pitchFamily="18" charset="0"/>
                          </a:rPr>
                        </m:ctrlPr>
                      </m:accPr>
                      <m:e>
                        <m:r>
                          <a:rPr lang="en-US" sz="2000" b="0" i="1">
                            <a:latin typeface="Cambria Math" panose="02040503050406030204" pitchFamily="18" charset="0"/>
                            <a:ea typeface="Cambria Math" panose="02040503050406030204" pitchFamily="18" charset="0"/>
                          </a:rPr>
                          <m:t>𝜃</m:t>
                        </m:r>
                      </m:e>
                    </m:acc>
                    <m:r>
                      <a:rPr lang="en-US" sz="2000" b="0" i="1" smtClean="0">
                        <a:latin typeface="Cambria Math" panose="02040503050406030204" pitchFamily="18" charset="0"/>
                        <a:ea typeface="Cambria Math" panose="02040503050406030204" pitchFamily="18" charset="0"/>
                      </a:rPr>
                      <m:t>.</m:t>
                    </m:r>
                  </m:oMath>
                </a14:m>
                <a:br>
                  <a:rPr lang="en-US" sz="2000" b="0" dirty="0"/>
                </a:br>
                <a:r>
                  <a:rPr lang="en-US" sz="2000" b="0" dirty="0"/>
                  <a:t>4. Generate at least R=2,000 nonparametric bootstrap estimates with a reproducible RNG. For two groups, resample independently within groups; for regressions, resample whole rows.</a:t>
                </a:r>
                <a:br>
                  <a:rPr lang="en-US" sz="2000" b="0" dirty="0"/>
                </a:br>
                <a:r>
                  <a:rPr lang="en-US" sz="2000" b="0" dirty="0"/>
                  <a:t>5. Estimate </a:t>
                </a:r>
                <a14:m>
                  <m:oMath xmlns:m="http://schemas.openxmlformats.org/officeDocument/2006/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𝑆𝐸</m:t>
                        </m:r>
                      </m:e>
                    </m:acc>
                    <m:r>
                      <a:rPr lang="en-US" sz="2000" b="0" i="1" smtClean="0">
                        <a:latin typeface="Cambria Math" panose="02040503050406030204" pitchFamily="18" charset="0"/>
                      </a:rPr>
                      <m:t>(</m:t>
                    </m:r>
                    <m:acc>
                      <m:accPr>
                        <m:chr m:val="̂"/>
                        <m:ctrlPr>
                          <a:rPr lang="en-US" sz="2000" b="0" i="1">
                            <a:latin typeface="Cambria Math" panose="02040503050406030204" pitchFamily="18" charset="0"/>
                            <a:ea typeface="Cambria Math" panose="02040503050406030204" pitchFamily="18" charset="0"/>
                          </a:rPr>
                        </m:ctrlPr>
                      </m:accPr>
                      <m:e>
                        <m:r>
                          <a:rPr lang="en-US" sz="2000" b="0" i="1">
                            <a:latin typeface="Cambria Math" panose="02040503050406030204" pitchFamily="18" charset="0"/>
                            <a:ea typeface="Cambria Math" panose="02040503050406030204" pitchFamily="18" charset="0"/>
                          </a:rPr>
                          <m:t>𝜃</m:t>
                        </m:r>
                      </m:e>
                    </m:acc>
                    <m:r>
                      <a:rPr lang="en-US" sz="2000" b="0" i="1" smtClean="0">
                        <a:latin typeface="Cambria Math" panose="02040503050406030204" pitchFamily="18" charset="0"/>
                      </a:rPr>
                      <m:t>)</m:t>
                    </m:r>
                  </m:oMath>
                </a14:m>
                <a:r>
                  <a:rPr lang="en-US" sz="2000" b="0" dirty="0"/>
                  <a:t> with the bootstrap standard deviation (`ddof=1`).</a:t>
                </a:r>
                <a:br>
                  <a:rPr lang="en-US" sz="2000" b="0" dirty="0"/>
                </a:br>
                <a:r>
                  <a:rPr lang="en-US" sz="2000" b="0" dirty="0"/>
                  <a:t>6. Construct centered-Normal 90%, 95%, and 99% CIs: </a:t>
                </a:r>
                <a14:m>
                  <m:oMath xmlns:m="http://schemas.openxmlformats.org/officeDocument/2006/math">
                    <m:acc>
                      <m:accPr>
                        <m:chr m:val="̂"/>
                        <m:ctrlPr>
                          <a:rPr lang="en-US" sz="2000" b="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𝜃</m:t>
                        </m:r>
                      </m:e>
                    </m:acc>
                    <m:r>
                      <a:rPr lang="en-US" sz="2000" b="0" i="1" smtClean="0">
                        <a:latin typeface="Cambria Math" panose="02040503050406030204" pitchFamily="18" charset="0"/>
                        <a:ea typeface="Cambria Math" panose="02040503050406030204" pitchFamily="18" charset="0"/>
                      </a:rPr>
                      <m:t>±</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𝑧</m:t>
                        </m:r>
                      </m:e>
                      <m:sup>
                        <m:r>
                          <a:rPr lang="en-US" sz="2000" b="0" i="1" smtClean="0">
                            <a:latin typeface="Cambria Math" panose="02040503050406030204" pitchFamily="18" charset="0"/>
                            <a:ea typeface="Cambria Math" panose="02040503050406030204" pitchFamily="18" charset="0"/>
                          </a:rPr>
                          <m:t>∗</m:t>
                        </m:r>
                      </m:sup>
                    </m:sSup>
                    <m:acc>
                      <m:accPr>
                        <m:chr m:val="̂"/>
                        <m:ctrlPr>
                          <a:rPr lang="en-US" sz="2000" b="0" i="1">
                            <a:latin typeface="Cambria Math" panose="02040503050406030204" pitchFamily="18" charset="0"/>
                          </a:rPr>
                        </m:ctrlPr>
                      </m:accPr>
                      <m:e>
                        <m:r>
                          <a:rPr lang="en-US" sz="2000" b="0" i="1">
                            <a:latin typeface="Cambria Math" panose="02040503050406030204" pitchFamily="18" charset="0"/>
                          </a:rPr>
                          <m:t>𝑆𝐸</m:t>
                        </m:r>
                      </m:e>
                    </m:acc>
                    <m:d>
                      <m:dPr>
                        <m:ctrlPr>
                          <a:rPr lang="en-US" sz="2000" b="0" i="1">
                            <a:latin typeface="Cambria Math" panose="02040503050406030204" pitchFamily="18" charset="0"/>
                            <a:ea typeface="Cambria Math" panose="02040503050406030204" pitchFamily="18" charset="0"/>
                          </a:rPr>
                        </m:ctrlPr>
                      </m:dPr>
                      <m:e>
                        <m:acc>
                          <m:accPr>
                            <m:chr m:val="̂"/>
                            <m:ctrlPr>
                              <a:rPr lang="en-US" sz="2000" b="0" i="1">
                                <a:latin typeface="Cambria Math" panose="02040503050406030204" pitchFamily="18" charset="0"/>
                                <a:ea typeface="Cambria Math" panose="02040503050406030204" pitchFamily="18" charset="0"/>
                              </a:rPr>
                            </m:ctrlPr>
                          </m:accPr>
                          <m:e>
                            <m:r>
                              <a:rPr lang="en-US" sz="2000" b="0" i="1">
                                <a:latin typeface="Cambria Math" panose="02040503050406030204" pitchFamily="18" charset="0"/>
                                <a:ea typeface="Cambria Math" panose="02040503050406030204" pitchFamily="18" charset="0"/>
                              </a:rPr>
                              <m:t>𝜃</m:t>
                            </m:r>
                          </m:e>
                        </m:acc>
                      </m:e>
                    </m:d>
                    <m:r>
                      <a:rPr lang="en-US" sz="2000" b="0" i="1" smtClean="0">
                        <a:latin typeface="Cambria Math" panose="02040503050406030204" pitchFamily="18" charset="0"/>
                        <a:ea typeface="Cambria Math" panose="02040503050406030204" pitchFamily="18" charset="0"/>
                      </a:rPr>
                      <m:t>.</m:t>
                    </m:r>
                  </m:oMath>
                </a14:m>
                <a:br>
                  <a:rPr lang="en-US" sz="2000" b="0" dirty="0"/>
                </a:br>
                <a:r>
                  <a:rPr lang="en-US" sz="2000" b="0" dirty="0"/>
                  <a:t>7. Test the stated null using </a:t>
                </a:r>
                <a14:m>
                  <m:oMath xmlns:m="http://schemas.openxmlformats.org/officeDocument/2006/math">
                    <m:r>
                      <a:rPr lang="en-US" sz="2000" b="0" i="1">
                        <a:latin typeface="Cambria Math" panose="02040503050406030204" pitchFamily="18" charset="0"/>
                        <a:ea typeface="Cambria Math" panose="02040503050406030204" pitchFamily="18" charset="0"/>
                      </a:rPr>
                      <m:t>𝑧</m:t>
                    </m:r>
                    <m:r>
                      <a:rPr lang="en-US" sz="2000" b="0" i="1">
                        <a:latin typeface="Cambria Math" panose="02040503050406030204" pitchFamily="18" charset="0"/>
                        <a:ea typeface="Cambria Math" panose="02040503050406030204" pitchFamily="18" charset="0"/>
                      </a:rPr>
                      <m:t>=</m:t>
                    </m:r>
                    <m:f>
                      <m:fPr>
                        <m:ctrlPr>
                          <a:rPr lang="en-US" sz="2000" b="0" i="1">
                            <a:latin typeface="Cambria Math" panose="02040503050406030204" pitchFamily="18" charset="0"/>
                            <a:ea typeface="Cambria Math" panose="02040503050406030204" pitchFamily="18" charset="0"/>
                          </a:rPr>
                        </m:ctrlPr>
                      </m:fPr>
                      <m:num>
                        <m:acc>
                          <m:accPr>
                            <m:chr m:val="̂"/>
                            <m:ctrlPr>
                              <a:rPr lang="en-US" sz="2000" b="0" i="1">
                                <a:latin typeface="Cambria Math" panose="02040503050406030204" pitchFamily="18" charset="0"/>
                                <a:ea typeface="Cambria Math" panose="02040503050406030204" pitchFamily="18" charset="0"/>
                              </a:rPr>
                            </m:ctrlPr>
                          </m:accPr>
                          <m:e>
                            <m:r>
                              <a:rPr lang="en-US" sz="2000" b="0" i="1">
                                <a:latin typeface="Cambria Math" panose="02040503050406030204" pitchFamily="18" charset="0"/>
                                <a:ea typeface="Cambria Math" panose="02040503050406030204" pitchFamily="18" charset="0"/>
                              </a:rPr>
                              <m:t>𝜃</m:t>
                            </m:r>
                          </m:e>
                        </m:acc>
                        <m:r>
                          <a:rPr lang="en-US" sz="2000" b="0" i="1">
                            <a:latin typeface="Cambria Math" panose="02040503050406030204" pitchFamily="18" charset="0"/>
                            <a:ea typeface="Cambria Math" panose="02040503050406030204" pitchFamily="18" charset="0"/>
                          </a:rPr>
                          <m:t>−</m:t>
                        </m:r>
                        <m:sSub>
                          <m:sSubPr>
                            <m:ctrlPr>
                              <a:rPr lang="en-US" sz="2000" b="0" i="1">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𝜃</m:t>
                            </m:r>
                          </m:e>
                          <m:sub>
                            <m:r>
                              <a:rPr lang="en-US" sz="2000" b="0" i="1">
                                <a:latin typeface="Cambria Math" panose="02040503050406030204" pitchFamily="18" charset="0"/>
                                <a:ea typeface="Cambria Math" panose="02040503050406030204" pitchFamily="18" charset="0"/>
                              </a:rPr>
                              <m:t>0</m:t>
                            </m:r>
                          </m:sub>
                        </m:sSub>
                      </m:num>
                      <m:den>
                        <m:acc>
                          <m:accPr>
                            <m:chr m:val="̂"/>
                            <m:ctrlPr>
                              <a:rPr lang="en-US" sz="2000" b="0" i="1">
                                <a:latin typeface="Cambria Math" panose="02040503050406030204" pitchFamily="18" charset="0"/>
                                <a:ea typeface="Cambria Math" panose="02040503050406030204" pitchFamily="18" charset="0"/>
                              </a:rPr>
                            </m:ctrlPr>
                          </m:accPr>
                          <m:e>
                            <m:r>
                              <a:rPr lang="en-US" sz="2000" b="0" i="1">
                                <a:latin typeface="Cambria Math" panose="02040503050406030204" pitchFamily="18" charset="0"/>
                                <a:ea typeface="Cambria Math" panose="02040503050406030204" pitchFamily="18" charset="0"/>
                              </a:rPr>
                              <m:t>𝑆𝐸</m:t>
                            </m:r>
                          </m:e>
                        </m:acc>
                        <m:d>
                          <m:dPr>
                            <m:ctrlPr>
                              <a:rPr lang="en-US" sz="2000" b="0" i="1">
                                <a:latin typeface="Cambria Math" panose="02040503050406030204" pitchFamily="18" charset="0"/>
                                <a:ea typeface="Cambria Math" panose="02040503050406030204" pitchFamily="18" charset="0"/>
                              </a:rPr>
                            </m:ctrlPr>
                          </m:dPr>
                          <m:e>
                            <m:acc>
                              <m:accPr>
                                <m:chr m:val="̂"/>
                                <m:ctrlPr>
                                  <a:rPr lang="en-US" sz="2000" b="0" i="1">
                                    <a:latin typeface="Cambria Math" panose="02040503050406030204" pitchFamily="18" charset="0"/>
                                    <a:ea typeface="Cambria Math" panose="02040503050406030204" pitchFamily="18" charset="0"/>
                                  </a:rPr>
                                </m:ctrlPr>
                              </m:accPr>
                              <m:e>
                                <m:r>
                                  <a:rPr lang="en-US" sz="2000" b="0" i="1">
                                    <a:latin typeface="Cambria Math" panose="02040503050406030204" pitchFamily="18" charset="0"/>
                                    <a:ea typeface="Cambria Math" panose="02040503050406030204" pitchFamily="18" charset="0"/>
                                  </a:rPr>
                                  <m:t>𝜃</m:t>
                                </m:r>
                              </m:e>
                            </m:acc>
                          </m:e>
                        </m:d>
                      </m:den>
                    </m:f>
                  </m:oMath>
                </a14:m>
                <a:r>
                  <a:rPr lang="en-US" sz="2000" b="0" dirty="0"/>
                  <a:t> and </a:t>
                </a:r>
                <a14:m>
                  <m:oMath xmlns:m="http://schemas.openxmlformats.org/officeDocument/2006/math">
                    <m:r>
                      <a:rPr lang="en-US" sz="2000" b="0" i="1">
                        <a:latin typeface="Cambria Math" panose="02040503050406030204" pitchFamily="18" charset="0"/>
                        <a:ea typeface="Cambria Math" panose="02040503050406030204" pitchFamily="18" charset="0"/>
                      </a:rPr>
                      <m:t>𝑝</m:t>
                    </m:r>
                    <m:r>
                      <a:rPr lang="en-US" sz="2000" b="0" i="1">
                        <a:latin typeface="Cambria Math" panose="02040503050406030204" pitchFamily="18" charset="0"/>
                        <a:ea typeface="Cambria Math" panose="02040503050406030204" pitchFamily="18" charset="0"/>
                      </a:rPr>
                      <m:t>=2</m:t>
                    </m:r>
                    <m:r>
                      <m:rPr>
                        <m:sty m:val="p"/>
                      </m:rPr>
                      <a:rPr lang="en-US" sz="2000" b="0" i="1">
                        <a:latin typeface="Cambria Math" panose="02040503050406030204" pitchFamily="18" charset="0"/>
                        <a:ea typeface="Cambria Math" panose="02040503050406030204" pitchFamily="18" charset="0"/>
                      </a:rPr>
                      <m:t>Φ</m:t>
                    </m:r>
                    <m:d>
                      <m:dPr>
                        <m:ctrlPr>
                          <a:rPr lang="en-US" sz="2000" b="0" i="1">
                            <a:latin typeface="Cambria Math" panose="02040503050406030204" pitchFamily="18" charset="0"/>
                            <a:ea typeface="Cambria Math" panose="02040503050406030204" pitchFamily="18" charset="0"/>
                          </a:rPr>
                        </m:ctrlPr>
                      </m:dPr>
                      <m:e>
                        <m:r>
                          <a:rPr lang="en-US" sz="2000" b="0" i="1">
                            <a:latin typeface="Cambria Math" panose="02040503050406030204" pitchFamily="18" charset="0"/>
                            <a:ea typeface="Cambria Math" panose="02040503050406030204" pitchFamily="18" charset="0"/>
                          </a:rPr>
                          <m:t>−</m:t>
                        </m:r>
                        <m:d>
                          <m:dPr>
                            <m:begChr m:val="|"/>
                            <m:endChr m:val="|"/>
                            <m:ctrlPr>
                              <a:rPr lang="en-US" sz="2000" b="0" i="1">
                                <a:latin typeface="Cambria Math" panose="02040503050406030204" pitchFamily="18" charset="0"/>
                                <a:ea typeface="Cambria Math" panose="02040503050406030204" pitchFamily="18" charset="0"/>
                              </a:rPr>
                            </m:ctrlPr>
                          </m:dPr>
                          <m:e>
                            <m:r>
                              <a:rPr lang="en-US" sz="2000" b="0" i="1">
                                <a:latin typeface="Cambria Math" panose="02040503050406030204" pitchFamily="18" charset="0"/>
                                <a:ea typeface="Cambria Math" panose="02040503050406030204" pitchFamily="18" charset="0"/>
                              </a:rPr>
                              <m:t>𝑧</m:t>
                            </m:r>
                          </m:e>
                        </m:d>
                      </m:e>
                    </m:d>
                  </m:oMath>
                </a14:m>
                <a:r>
                  <a:rPr lang="en-US" sz="2000" b="0" dirty="0"/>
                  <a:t>. Decide at </a:t>
                </a:r>
                <a14:m>
                  <m:oMath xmlns:m="http://schemas.openxmlformats.org/officeDocument/2006/math">
                    <m:r>
                      <a:rPr lang="en-US" sz="2000" b="0" i="1">
                        <a:latin typeface="Cambria Math" panose="02040503050406030204" pitchFamily="18" charset="0"/>
                        <a:ea typeface="Cambria Math" panose="02040503050406030204" pitchFamily="18" charset="0"/>
                      </a:rPr>
                      <m:t>𝛼</m:t>
                    </m:r>
                    <m:r>
                      <a:rPr lang="en-US" sz="2000" b="0" i="1">
                        <a:latin typeface="Cambria Math" panose="02040503050406030204" pitchFamily="18" charset="0"/>
                        <a:ea typeface="Cambria Math" panose="02040503050406030204" pitchFamily="18" charset="0"/>
                      </a:rPr>
                      <m:t>=.10, .05, .01</m:t>
                    </m:r>
                  </m:oMath>
                </a14:m>
                <a:r>
                  <a:rPr lang="en-US" sz="2000" b="0" dirty="0"/>
                  <a:t>.</a:t>
                </a:r>
                <a:br>
                  <a:rPr lang="en-US" sz="2000" b="0" dirty="0"/>
                </a:br>
                <a:r>
                  <a:rPr lang="en-US" sz="2000" b="0" dirty="0"/>
                  <a:t>8. Confirm that every test decision agrees with whether the matching CI contains </a:t>
                </a:r>
                <a14:m>
                  <m:oMath xmlns:m="http://schemas.openxmlformats.org/officeDocument/2006/math">
                    <m:sSub>
                      <m:sSubPr>
                        <m:ctrlPr>
                          <a:rPr lang="en-US" sz="2000" b="0" i="1">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𝜃</m:t>
                        </m:r>
                      </m:e>
                      <m:sub>
                        <m:r>
                          <a:rPr lang="en-US" sz="2000" b="0" i="1">
                            <a:latin typeface="Cambria Math" panose="02040503050406030204" pitchFamily="18" charset="0"/>
                            <a:ea typeface="Cambria Math" panose="02040503050406030204" pitchFamily="18" charset="0"/>
                          </a:rPr>
                          <m:t>0</m:t>
                        </m:r>
                      </m:sub>
                    </m:sSub>
                  </m:oMath>
                </a14:m>
                <a:r>
                  <a:rPr lang="en-US" sz="2000" b="0" dirty="0"/>
                  <a:t>.</a:t>
                </a:r>
                <a:br>
                  <a:rPr lang="en-US" sz="2000" b="0" dirty="0"/>
                </a:br>
                <a:r>
                  <a:rPr lang="en-US" sz="2000" b="0" dirty="0"/>
                  <a:t>9. Interpret the estimate, interval, and test in context. These are observational data: do not turn association into causation.</a:t>
                </a:r>
                <a:br>
                  <a:rPr lang="en-US" sz="2000" b="0" dirty="0"/>
                </a:br>
                <a:endParaRPr lang="en-US" sz="2000" dirty="0"/>
              </a:p>
            </p:txBody>
          </p:sp>
        </mc:Choice>
        <mc:Fallback xmlns="">
          <p:sp>
            <p:nvSpPr>
              <p:cNvPr id="2" name="Title 1">
                <a:extLst>
                  <a:ext uri="{FF2B5EF4-FFF2-40B4-BE49-F238E27FC236}">
                    <a16:creationId xmlns:a16="http://schemas.microsoft.com/office/drawing/2014/main" id="{525778BB-5B0C-8810-7002-FB3E326E5B74}"/>
                  </a:ext>
                </a:extLst>
              </p:cNvPr>
              <p:cNvSpPr>
                <a:spLocks noGrp="1" noRot="1" noChangeAspect="1" noMove="1" noResize="1" noEditPoints="1" noAdjustHandles="1" noChangeArrowheads="1" noChangeShapeType="1" noTextEdit="1"/>
              </p:cNvSpPr>
              <p:nvPr>
                <p:ph type="title" idx="100"/>
              </p:nvPr>
            </p:nvSpPr>
            <p:spPr>
              <a:xfrm>
                <a:off x="317500" y="698500"/>
                <a:ext cx="7713317" cy="5740400"/>
              </a:xfrm>
              <a:blipFill>
                <a:blip r:embed="rId3"/>
                <a:stretch>
                  <a:fillRect l="-657" r="-657" b="-4646"/>
                </a:stretch>
              </a:blipFill>
            </p:spPr>
            <p:txBody>
              <a:bodyPr/>
              <a:lstStyle/>
              <a:p>
                <a:r>
                  <a:rPr lang="en-US">
                    <a:noFill/>
                  </a:rPr>
                  <a:t> </a:t>
                </a:r>
              </a:p>
            </p:txBody>
          </p:sp>
        </mc:Fallback>
      </mc:AlternateContent>
      <p:sp>
        <p:nvSpPr>
          <p:cNvPr id="3" name="Text 0">
            <a:extLst>
              <a:ext uri="{FF2B5EF4-FFF2-40B4-BE49-F238E27FC236}">
                <a16:creationId xmlns:a16="http://schemas.microsoft.com/office/drawing/2014/main" id="{DEFA7C62-8C57-FEB8-4E30-5F9C39886A42}"/>
              </a:ext>
            </a:extLst>
          </p:cNvPr>
          <p:cNvSpPr txBox="1">
            <a:spLocks/>
          </p:cNvSpPr>
          <p:nvPr/>
        </p:nvSpPr>
        <p:spPr>
          <a:xfrm>
            <a:off x="548640" y="320040"/>
            <a:ext cx="11064240" cy="777240"/>
          </a:xfrm>
          <a:prstGeom prst="rect">
            <a:avLst/>
          </a:prstGeom>
          <a:noFill/>
          <a:ln/>
        </p:spPr>
        <p:txBody>
          <a:bodyPr wrap="square" lIns="0" tIns="0" rIns="0" bIns="0" rtlCol="0" anchor="ctr"/>
          <a:lstStyle>
            <a:lvl1pPr marL="0" indent="0" algn="ctr" defTabSz="914400" rtl="0" eaLnBrk="1" latinLnBrk="0" hangingPunct="1">
              <a:spcBef>
                <a:spcPct val="0"/>
              </a:spcBef>
              <a:buNone/>
              <a:defRPr lang="en-US" sz="6000" b="1" kern="1200" dirty="0">
                <a:solidFill>
                  <a:schemeClr val="tx1"/>
                </a:solidFill>
                <a:latin typeface="+mj-lt"/>
                <a:ea typeface="+mj-ea"/>
                <a:cs typeface="+mj-cs"/>
              </a:defRPr>
            </a:lvl1pPr>
          </a:lstStyle>
          <a:p>
            <a:pPr algn="l"/>
            <a:r>
              <a:rPr lang="en-US" sz="3000" dirty="0"/>
              <a:t>Inference routine: </a:t>
            </a:r>
          </a:p>
          <a:p>
            <a:pPr algn="l"/>
            <a:r>
              <a:rPr lang="en-US" sz="3000" dirty="0"/>
              <a:t>bootstrapping an estimate to understand its uncertainty</a:t>
            </a:r>
          </a:p>
        </p:txBody>
      </p:sp>
      <p:sp>
        <p:nvSpPr>
          <p:cNvPr id="4" name="TextBox 3">
            <a:extLst>
              <a:ext uri="{FF2B5EF4-FFF2-40B4-BE49-F238E27FC236}">
                <a16:creationId xmlns:a16="http://schemas.microsoft.com/office/drawing/2014/main" id="{FE419903-A8B5-BB7A-2DD3-0C7A5AA14934}"/>
              </a:ext>
            </a:extLst>
          </p:cNvPr>
          <p:cNvSpPr txBox="1"/>
          <p:nvPr/>
        </p:nvSpPr>
        <p:spPr>
          <a:xfrm>
            <a:off x="8812696" y="1921430"/>
            <a:ext cx="2654410" cy="3970318"/>
          </a:xfrm>
          <a:prstGeom prst="rect">
            <a:avLst/>
          </a:prstGeom>
          <a:noFill/>
        </p:spPr>
        <p:txBody>
          <a:bodyPr wrap="square" rtlCol="0">
            <a:spAutoFit/>
          </a:bodyPr>
          <a:lstStyle/>
          <a:p>
            <a:pPr marL="342900" indent="-342900">
              <a:buAutoNum type="arabicPeriod"/>
            </a:pPr>
            <a:r>
              <a:rPr lang="en-US" b="1" dirty="0">
                <a:solidFill>
                  <a:schemeClr val="accent1"/>
                </a:solidFill>
              </a:rPr>
              <a:t>EXPLORE</a:t>
            </a:r>
            <a:r>
              <a:rPr lang="en-US" b="1" dirty="0"/>
              <a:t> the data non-parametrically before modeling</a:t>
            </a:r>
          </a:p>
          <a:p>
            <a:pPr marL="342900" indent="-342900">
              <a:buAutoNum type="arabicPeriod"/>
            </a:pPr>
            <a:r>
              <a:rPr lang="en-US" b="1" dirty="0">
                <a:solidFill>
                  <a:schemeClr val="accent1"/>
                </a:solidFill>
              </a:rPr>
              <a:t>ESTIMATION</a:t>
            </a:r>
            <a:r>
              <a:rPr lang="en-US" b="1" dirty="0"/>
              <a:t>: decide on what’s important</a:t>
            </a:r>
          </a:p>
          <a:p>
            <a:pPr marL="342900" indent="-342900">
              <a:buAutoNum type="arabicPeriod"/>
            </a:pPr>
            <a:r>
              <a:rPr lang="en-US" b="1" dirty="0">
                <a:solidFill>
                  <a:schemeClr val="accent1"/>
                </a:solidFill>
              </a:rPr>
              <a:t>INFERENCE</a:t>
            </a:r>
            <a:r>
              <a:rPr lang="en-US" b="1" dirty="0"/>
              <a:t>: non-parametric bootstrap evaluation of parameters</a:t>
            </a:r>
          </a:p>
          <a:p>
            <a:pPr marL="342900" indent="-342900">
              <a:buAutoNum type="arabicPeriod"/>
            </a:pPr>
            <a:r>
              <a:rPr lang="en-US" b="1" dirty="0">
                <a:solidFill>
                  <a:schemeClr val="accent1"/>
                </a:solidFill>
              </a:rPr>
              <a:t>PREDICTION</a:t>
            </a:r>
            <a:r>
              <a:rPr lang="en-US" b="1" dirty="0"/>
              <a:t> (and quantifying the uncertainty of predictions)</a:t>
            </a:r>
          </a:p>
        </p:txBody>
      </p:sp>
    </p:spTree>
    <p:extLst>
      <p:ext uri="{BB962C8B-B14F-4D97-AF65-F5344CB8AC3E}">
        <p14:creationId xmlns:p14="http://schemas.microsoft.com/office/powerpoint/2010/main" val="23152931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Does It Pay for Itself?</a:t>
            </a:r>
            <a:endParaRPr lang="en-US" sz="3000" dirty="0"/>
          </a:p>
        </p:txBody>
      </p:sp>
      <p:sp>
        <p:nvSpPr>
          <p:cNvPr id="3" name="Text 1"/>
          <p:cNvSpPr txBox="1"/>
          <p:nvPr/>
        </p:nvSpPr>
        <p:spPr>
          <a:xfrm>
            <a:off x="548640" y="1280160"/>
            <a:ext cx="11064240" cy="5029200"/>
          </a:xfrm>
          <a:prstGeom prst="rect">
            <a:avLst/>
          </a:prstGeom>
          <a:noFill/>
          <a:ln/>
        </p:spPr>
        <p:txBody>
          <a:bodyPr wrap="square" lIns="0" tIns="0" rIns="0" bIns="0" rtlCol="0" anchor="t"/>
          <a:lstStyle/>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A retail chain pilots an energy-management system in 5 stores. It costs </a:t>
            </a:r>
            <a:r>
              <a:rPr lang="en-US" sz="2000" b="1" dirty="0">
                <a:solidFill>
                  <a:srgbClr val="FF42A1"/>
                </a:solidFill>
                <a:latin typeface="Aptos" pitchFamily="34" charset="0"/>
                <a:ea typeface="Aptos" pitchFamily="34" charset="-122"/>
                <a:cs typeface="Aptos" pitchFamily="34" charset="-120"/>
              </a:rPr>
              <a:t>$200 per store per month</a:t>
            </a:r>
            <a:r>
              <a:rPr lang="en-US" sz="2000" dirty="0">
                <a:solidFill>
                  <a:srgbClr val="3A3A3A"/>
                </a:solidFill>
                <a:latin typeface="Aptos" pitchFamily="34" charset="0"/>
                <a:ea typeface="Aptos" pitchFamily="34" charset="-122"/>
                <a:cs typeface="Aptos" pitchFamily="34" charset="-120"/>
              </a:rPr>
              <a:t>. Monthly savings on each store's electric bill: $</a:t>
            </a:r>
            <a:r>
              <a:rPr lang="en-US" sz="2000" b="1" dirty="0">
                <a:solidFill>
                  <a:srgbClr val="FF42A1"/>
                </a:solidFill>
                <a:latin typeface="Aptos" pitchFamily="34" charset="0"/>
                <a:ea typeface="Aptos" pitchFamily="34" charset="-122"/>
                <a:cs typeface="Aptos" pitchFamily="34" charset="-120"/>
              </a:rPr>
              <a:t>100, $300, $400, $500, $700</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1. Compute x̄, s², and the estimated SE</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2. Build a 95% CI with 1.96. Does the system save money at all? (Test H₀: average savings = 0)</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3. Does it pay for itself? Is the $200 break-even inside or outside your CI?</a:t>
            </a:r>
            <a:endParaRPr lang="en-US" sz="2000" dirty="0"/>
          </a:p>
          <a:p>
            <a:pPr marL="228600" indent="-228600">
              <a:spcAft>
                <a:spcPts val="600"/>
              </a:spcAft>
              <a:buSzPct val="100000"/>
              <a:buFontTx/>
              <a:buChar char="•"/>
            </a:pPr>
            <a:r>
              <a:rPr lang="en-US" sz="2000" dirty="0">
                <a:solidFill>
                  <a:srgbClr val="3A3A3A"/>
                </a:solidFill>
                <a:latin typeface="Aptos" pitchFamily="34" charset="0"/>
                <a:ea typeface="Aptos" pitchFamily="34" charset="-122"/>
                <a:cs typeface="Aptos" pitchFamily="34" charset="-120"/>
              </a:rPr>
              <a:t>4. The CFO writes: "There is a 95% chance the system saves between $204 and $596 per store." Rewrite it correctly: 4. "If we ran this pilot on 5 new stores many times, about 95% of the intervals built this way would contain the true average savings." The true savings is fixed: it is either in ($204, $596) or it isn’t</a:t>
            </a:r>
            <a:endParaRPr lang="en-US" sz="2000" dirty="0"/>
          </a:p>
          <a:p>
            <a:pPr marL="228600" indent="-228600">
              <a:spcAft>
                <a:spcPts val="600"/>
              </a:spcAft>
              <a:buSzPct val="100000"/>
              <a:buChar char="•"/>
            </a:pP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5. All 5 pilot stores are in Phoenix. What does your CI tell you about the stores in Maine?</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FD338-5BF2-2BD4-4256-9BB9FDC8066E}"/>
              </a:ext>
            </a:extLst>
          </p:cNvPr>
          <p:cNvSpPr>
            <a:spLocks noGrp="1"/>
          </p:cNvSpPr>
          <p:nvPr>
            <p:ph type="title" idx="100"/>
          </p:nvPr>
        </p:nvSpPr>
        <p:spPr/>
        <p:txBody>
          <a:bodyPr/>
          <a:lstStyle/>
          <a:p>
            <a:r>
              <a:rPr lang="en-US" dirty="0"/>
              <a:t>In class challenge </a:t>
            </a:r>
            <a:br>
              <a:rPr lang="en-US" dirty="0"/>
            </a:br>
            <a:br>
              <a:rPr lang="en-US" dirty="0"/>
            </a:br>
            <a:r>
              <a:rPr lang="en-US" dirty="0"/>
              <a:t>At stake: bonus points on Lab 7</a:t>
            </a:r>
            <a:br>
              <a:rPr lang="en-US" dirty="0"/>
            </a:br>
            <a:br>
              <a:rPr lang="en-US" dirty="0"/>
            </a:br>
            <a:r>
              <a:rPr lang="en-US" dirty="0">
                <a:hlinkClick r:id="rId2"/>
              </a:rPr>
              <a:t>smgroves.github.io/ds5030-uncertainty-plots</a:t>
            </a:r>
            <a:br>
              <a:rPr lang="en-US" dirty="0"/>
            </a:br>
            <a:endParaRPr lang="en-US" dirty="0"/>
          </a:p>
        </p:txBody>
      </p:sp>
    </p:spTree>
    <p:extLst>
      <p:ext uri="{BB962C8B-B14F-4D97-AF65-F5344CB8AC3E}">
        <p14:creationId xmlns:p14="http://schemas.microsoft.com/office/powerpoint/2010/main" val="3600044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dirty="0"/>
              <a:t>Coding e</a:t>
            </a:r>
            <a:r>
              <a:rPr lang="en-US" sz="3000" b="1" dirty="0">
                <a:solidFill>
                  <a:schemeClr val="tx1"/>
                </a:solidFill>
              </a:rPr>
              <a:t>xample</a:t>
            </a:r>
            <a:endParaRPr lang="en-US" sz="3000" dirty="0"/>
          </a:p>
        </p:txBody>
      </p:sp>
      <p:sp>
        <p:nvSpPr>
          <p:cNvPr id="3" name="Text 1"/>
          <p:cNvSpPr txBox="1"/>
          <p:nvPr/>
        </p:nvSpPr>
        <p:spPr>
          <a:xfrm>
            <a:off x="548640" y="1280160"/>
            <a:ext cx="11064240" cy="2643124"/>
          </a:xfrm>
          <a:prstGeom prst="rect">
            <a:avLst/>
          </a:prstGeom>
          <a:noFill/>
          <a:ln/>
        </p:spPr>
        <p:txBody>
          <a:bodyPr wrap="square" lIns="0" tIns="0" rIns="0" bIns="0" rtlCol="0" anchor="t"/>
          <a:lstStyle/>
          <a:p>
            <a:pPr marL="285750" indent="-285750">
              <a:buFont typeface="Arial" panose="020B0604020202020204" pitchFamily="34" charset="0"/>
              <a:buChar char="•"/>
            </a:pPr>
            <a:r>
              <a:rPr lang="en-US" sz="2000" dirty="0"/>
              <a:t>Load the </a:t>
            </a:r>
            <a:r>
              <a:rPr lang="en-US" sz="2000" dirty="0" err="1"/>
              <a:t>Metabric</a:t>
            </a:r>
            <a:r>
              <a:rPr lang="en-US" sz="2000" dirty="0"/>
              <a:t> breast cancer dataset, and describe/plot `Overall Survival (Months)`.</a:t>
            </a:r>
          </a:p>
          <a:p>
            <a:pPr marL="285750" indent="-285750">
              <a:buFont typeface="Arial" panose="020B0604020202020204" pitchFamily="34" charset="0"/>
              <a:buChar char="•"/>
            </a:pPr>
            <a:r>
              <a:rPr lang="en-US" sz="2000" dirty="0"/>
              <a:t>Describe a strategy for selecting variables that you'll use to predict `Overall Survival (Months)`, then implement your strategy and run your regression.</a:t>
            </a:r>
          </a:p>
          <a:p>
            <a:pPr marL="285750" indent="-285750">
              <a:buFont typeface="Arial" panose="020B0604020202020204" pitchFamily="34" charset="0"/>
              <a:buChar char="•"/>
            </a:pPr>
            <a:r>
              <a:rPr lang="en-US" sz="2000" dirty="0"/>
              <a:t>Construct 90/95/99% non-parametric Bootstrap confidence intervals for the coefficients of your regression, as well as ones based on the Normal approximation using the standard deviation of the bootstrap sample as the standard error of the sampling distribution. How do they compare?</a:t>
            </a:r>
          </a:p>
          <a:p>
            <a:pPr marL="285750" indent="-285750">
              <a:buFont typeface="Arial" panose="020B0604020202020204" pitchFamily="34" charset="0"/>
              <a:buChar char="•"/>
            </a:pPr>
            <a:r>
              <a:rPr lang="en-US" sz="2000" dirty="0"/>
              <a:t>Which variables are statistically significant, and at what levels?</a:t>
            </a:r>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645920"/>
            <a:ext cx="10698480" cy="3566160"/>
          </a:xfrm>
          <a:prstGeom prst="rect">
            <a:avLst/>
          </a:prstGeom>
          <a:noFill/>
          <a:ln/>
        </p:spPr>
        <p:txBody>
          <a:bodyPr wrap="square" lIns="0" tIns="0" rIns="0" bIns="0" rtlCol="0" anchor="ctr"/>
          <a:lstStyle/>
          <a:p>
            <a:pPr marL="0" indent="0" algn="ctr">
              <a:buNone/>
            </a:pPr>
            <a:r>
              <a:rPr lang="en-US" sz="6000" b="1" dirty="0">
                <a:solidFill>
                  <a:schemeClr val="tx1"/>
                </a:solidFill>
              </a:rPr>
              <a:t>Summary</a:t>
            </a:r>
            <a:endParaRPr lang="en-US" sz="6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28</a:t>
            </a:fld>
            <a:endParaRPr lang="en-US"/>
          </a:p>
        </p:txBody>
      </p:sp>
    </p:spTree>
    <p:extLst>
      <p:ext uri="{BB962C8B-B14F-4D97-AF65-F5344CB8AC3E}">
        <p14:creationId xmlns:p14="http://schemas.microsoft.com/office/powerpoint/2010/main" val="36988412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9DE30-77F6-09B6-7A34-5BF7E0DC27BE}"/>
              </a:ext>
            </a:extLst>
          </p:cNvPr>
          <p:cNvSpPr>
            <a:spLocks noGrp="1"/>
          </p:cNvSpPr>
          <p:nvPr>
            <p:ph type="title" idx="100"/>
          </p:nvPr>
        </p:nvSpPr>
        <p:spPr/>
        <p:txBody>
          <a:bodyPr/>
          <a:lstStyle/>
          <a:p>
            <a:r>
              <a:rPr lang="en-US" sz="3200" b="0" dirty="0"/>
              <a:t>Five Things to Think About</a:t>
            </a:r>
            <a:endParaRPr lang="en-US" dirty="0"/>
          </a:p>
        </p:txBody>
      </p:sp>
      <p:sp>
        <p:nvSpPr>
          <p:cNvPr id="4" name="TextBox 3">
            <a:extLst>
              <a:ext uri="{FF2B5EF4-FFF2-40B4-BE49-F238E27FC236}">
                <a16:creationId xmlns:a16="http://schemas.microsoft.com/office/drawing/2014/main" id="{7C1D8DAA-A943-6BA0-9548-D2ABE3619356}"/>
              </a:ext>
            </a:extLst>
          </p:cNvPr>
          <p:cNvSpPr txBox="1"/>
          <p:nvPr/>
        </p:nvSpPr>
        <p:spPr>
          <a:xfrm>
            <a:off x="548640" y="1225936"/>
            <a:ext cx="11304054" cy="4893647"/>
          </a:xfrm>
          <a:prstGeom prst="rect">
            <a:avLst/>
          </a:prstGeom>
          <a:noFill/>
        </p:spPr>
        <p:txBody>
          <a:bodyPr wrap="square">
            <a:spAutoFit/>
          </a:bodyPr>
          <a:lstStyle/>
          <a:p>
            <a:pPr marL="342900" lvl="0" indent="-342900" algn="l">
              <a:buFont typeface="+mj-lt"/>
              <a:buAutoNum type="arabicPeriod"/>
            </a:pPr>
            <a:r>
              <a:rPr lang="en-US" sz="2400" b="0" i="0" dirty="0">
                <a:effectLst/>
                <a:latin typeface="+mn-lt"/>
              </a:rPr>
              <a:t>The parameter is fixed but unknown. We're trying to learn something about a property of the population.</a:t>
            </a:r>
          </a:p>
          <a:p>
            <a:pPr marL="342900" lvl="0" indent="-342900" algn="l">
              <a:buFont typeface="+mj-lt"/>
              <a:buAutoNum type="arabicPeriod"/>
            </a:pPr>
            <a:r>
              <a:rPr lang="en-US" sz="2400" b="0" i="0" dirty="0">
                <a:effectLst/>
                <a:latin typeface="+mn-lt"/>
              </a:rPr>
              <a:t>Our estimates/confidence intervals are random variables of the data. Different samples produce different estimates, even for the same population doesn't change.</a:t>
            </a:r>
          </a:p>
          <a:p>
            <a:pPr marL="342900" lvl="0" indent="-342900" algn="l">
              <a:buFont typeface="+mj-lt"/>
              <a:buAutoNum type="arabicPeriod"/>
            </a:pPr>
            <a:r>
              <a:rPr lang="en-US" sz="2400" b="0" i="0" dirty="0">
                <a:effectLst/>
                <a:latin typeface="+mn-lt"/>
              </a:rPr>
              <a:t>The standard error measures variability in our estimators, and bootstrapping gives us a practical way to estimate it.</a:t>
            </a:r>
          </a:p>
          <a:p>
            <a:pPr marL="342900" lvl="0" indent="-342900" algn="l">
              <a:buFont typeface="+mj-lt"/>
              <a:buAutoNum type="arabicPeriod"/>
            </a:pPr>
            <a:r>
              <a:rPr lang="en-US" sz="2400" b="0" i="0" dirty="0">
                <a:effectLst/>
                <a:latin typeface="+mn-lt"/>
              </a:rPr>
              <a:t>The confidence interval translates variability into uncertainty about the parameter. Under the Normal approximation, that's . A hypothesized value outside the corresponding interval is rejected as implausible give the data and estimator.</a:t>
            </a:r>
          </a:p>
          <a:p>
            <a:pPr marL="342900" lvl="0" indent="-342900" algn="l">
              <a:buFont typeface="+mj-lt"/>
              <a:buAutoNum type="arabicPeriod"/>
            </a:pPr>
            <a:r>
              <a:rPr lang="en-US" sz="2400" b="0" i="0" dirty="0">
                <a:effectLst/>
                <a:latin typeface="+mn-lt"/>
              </a:rPr>
              <a:t>The Bootstrap and the CLT are different approaches to understanding the underlying sampling distribution and making inferences about it, with their own strengths and weaknesses.</a:t>
            </a:r>
            <a:endParaRPr lang="en-US" sz="1200" b="0" i="0" dirty="0">
              <a:effectLst/>
              <a:latin typeface="system-ui"/>
            </a:endParaRPr>
          </a:p>
        </p:txBody>
      </p:sp>
    </p:spTree>
    <p:extLst>
      <p:ext uri="{BB962C8B-B14F-4D97-AF65-F5344CB8AC3E}">
        <p14:creationId xmlns:p14="http://schemas.microsoft.com/office/powerpoint/2010/main" val="12792294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Summary</a:t>
            </a:r>
            <a:endParaRPr lang="en-US" sz="3000" dirty="0"/>
          </a:p>
        </p:txBody>
      </p:sp>
      <p:sp>
        <p:nvSpPr>
          <p:cNvPr id="3" name="Text 1"/>
          <p:cNvSpPr txBox="1"/>
          <p:nvPr/>
        </p:nvSpPr>
        <p:spPr>
          <a:xfrm>
            <a:off x="548640" y="1280160"/>
            <a:ext cx="11064240" cy="2008124"/>
          </a:xfrm>
          <a:prstGeom prst="rect">
            <a:avLst/>
          </a:prstGeom>
          <a:noFill/>
          <a:ln/>
        </p:spPr>
        <p:txBody>
          <a:bodyPr wrap="square" lIns="0" tIns="0" rIns="0" bIns="0" rtlCol="0" anchor="t"/>
          <a:lstStyle/>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The </a:t>
            </a:r>
            <a:r>
              <a:rPr lang="en-US" sz="2000" b="1" dirty="0">
                <a:solidFill>
                  <a:srgbClr val="FF42A1"/>
                </a:solidFill>
                <a:latin typeface="Aptos" pitchFamily="34" charset="0"/>
                <a:ea typeface="Aptos" pitchFamily="34" charset="-122"/>
                <a:cs typeface="Aptos" pitchFamily="34" charset="-120"/>
              </a:rPr>
              <a:t>standard error</a:t>
            </a:r>
            <a:r>
              <a:rPr lang="en-US" sz="2000" dirty="0">
                <a:solidFill>
                  <a:srgbClr val="3A3A3A"/>
                </a:solidFill>
                <a:latin typeface="Aptos" pitchFamily="34" charset="0"/>
                <a:ea typeface="Aptos" pitchFamily="34" charset="-122"/>
                <a:cs typeface="Aptos" pitchFamily="34" charset="-120"/>
              </a:rPr>
              <a:t> is the standard deviation of the sampling distribution</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The </a:t>
            </a:r>
            <a:r>
              <a:rPr lang="en-US" sz="2000" b="1" dirty="0">
                <a:solidFill>
                  <a:srgbClr val="FF42A1"/>
                </a:solidFill>
                <a:latin typeface="Aptos" pitchFamily="34" charset="0"/>
                <a:ea typeface="Aptos" pitchFamily="34" charset="-122"/>
                <a:cs typeface="Aptos" pitchFamily="34" charset="-120"/>
              </a:rPr>
              <a:t>bootstrap</a:t>
            </a:r>
            <a:r>
              <a:rPr lang="en-US" sz="2000" dirty="0">
                <a:solidFill>
                  <a:srgbClr val="3A3A3A"/>
                </a:solidFill>
                <a:latin typeface="Aptos" pitchFamily="34" charset="0"/>
                <a:ea typeface="Aptos" pitchFamily="34" charset="-122"/>
                <a:cs typeface="Aptos" pitchFamily="34" charset="-120"/>
              </a:rPr>
              <a:t> estimates the spread and shape of the sampling distribution from one sample</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The </a:t>
            </a:r>
            <a:r>
              <a:rPr lang="en-US" sz="2000" b="1" dirty="0">
                <a:solidFill>
                  <a:srgbClr val="FF42A1"/>
                </a:solidFill>
                <a:latin typeface="Aptos" pitchFamily="34" charset="0"/>
                <a:ea typeface="Aptos" pitchFamily="34" charset="-122"/>
                <a:cs typeface="Aptos" pitchFamily="34" charset="-120"/>
              </a:rPr>
              <a:t>CLT</a:t>
            </a:r>
            <a:r>
              <a:rPr lang="en-US" sz="2000" dirty="0">
                <a:solidFill>
                  <a:srgbClr val="3A3A3A"/>
                </a:solidFill>
                <a:latin typeface="Aptos" pitchFamily="34" charset="0"/>
                <a:ea typeface="Aptos" pitchFamily="34" charset="-122"/>
                <a:cs typeface="Aptos" pitchFamily="34" charset="-120"/>
              </a:rPr>
              <a:t> says that, standardized, the sampling distribution is approximately N(0, 1): that's why the bootstrap pictures all looked the same</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So we can replace bootstrap quantiles with ±1.645, 1.96, 2.576:</a:t>
            </a:r>
            <a:endParaRPr lang="en-US" sz="2000" dirty="0"/>
          </a:p>
        </p:txBody>
      </p:sp>
      <p:pic>
        <p:nvPicPr>
          <p:cNvPr id="4" name="Image 0" descr="summary"/>
          <p:cNvPicPr>
            <a:picLocks noChangeAspect="1"/>
          </p:cNvPicPr>
          <p:nvPr/>
        </p:nvPicPr>
        <p:blipFill>
          <a:blip r:embed="rId3"/>
          <a:stretch>
            <a:fillRect/>
          </a:stretch>
        </p:blipFill>
        <p:spPr>
          <a:xfrm>
            <a:off x="5120640" y="3379724"/>
            <a:ext cx="2702614" cy="628833"/>
          </a:xfrm>
          <a:prstGeom prst="rect">
            <a:avLst/>
          </a:prstGeom>
        </p:spPr>
      </p:pic>
      <p:sp>
        <p:nvSpPr>
          <p:cNvPr id="5" name="Text 2"/>
          <p:cNvSpPr txBox="1"/>
          <p:nvPr/>
        </p:nvSpPr>
        <p:spPr>
          <a:xfrm>
            <a:off x="548640" y="4282877"/>
            <a:ext cx="11064240" cy="1526032"/>
          </a:xfrm>
          <a:prstGeom prst="rect">
            <a:avLst/>
          </a:prstGeom>
          <a:noFill/>
          <a:ln/>
        </p:spPr>
        <p:txBody>
          <a:bodyPr wrap="square" lIns="0" tIns="0" rIns="0" bIns="0" rtlCol="0" anchor="t"/>
          <a:lstStyle/>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A CI is a reliability claim about the procedure. A test asks whether the null value is inside the CI</a:t>
            </a:r>
            <a:endParaRPr lang="en-US" sz="2000" dirty="0"/>
          </a:p>
          <a:p>
            <a:pPr marL="228600" indent="-228600">
              <a:spcAft>
                <a:spcPts val="600"/>
              </a:spcAft>
              <a:buSzPct val="100000"/>
              <a:buChar char="•"/>
            </a:pPr>
            <a:r>
              <a:rPr lang="en-US" sz="2000" dirty="0">
                <a:solidFill>
                  <a:srgbClr val="3A3A3A"/>
                </a:solidFill>
                <a:latin typeface="Aptos" pitchFamily="34" charset="0"/>
                <a:ea typeface="Aptos" pitchFamily="34" charset="-122"/>
                <a:cs typeface="Aptos" pitchFamily="34" charset="-120"/>
              </a:rPr>
              <a:t>It breaks with dependence, heavy tails, small samples of skewed data, and estimates that aren't averages</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30</a:t>
            </a:fld>
            <a:endParaRPr lang="en-US"/>
          </a:p>
        </p:txBody>
      </p:sp>
    </p:spTree>
    <p:extLst>
      <p:ext uri="{BB962C8B-B14F-4D97-AF65-F5344CB8AC3E}">
        <p14:creationId xmlns:p14="http://schemas.microsoft.com/office/powerpoint/2010/main" val="41818451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Is the SE Itself Uncertain?</a:t>
            </a:r>
            <a:endParaRPr lang="en-US" sz="3000" dirty="0"/>
          </a:p>
        </p:txBody>
      </p:sp>
      <p:sp>
        <p:nvSpPr>
          <p:cNvPr id="3" name="Text 1"/>
          <p:cNvSpPr txBox="1"/>
          <p:nvPr/>
        </p:nvSpPr>
        <p:spPr>
          <a:xfrm>
            <a:off x="548640" y="1280160"/>
            <a:ext cx="6035040" cy="2706624"/>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Yes: the estimated SE comes from the same sample, so it has its own sampling distribution</a:t>
            </a:r>
            <a:endParaRPr lang="en-US" sz="1800" dirty="0"/>
          </a:p>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For normal data, its typical relative error is about 1/√(2(n − 1)): 35% at n = 5, 24% at n = 10, 7% at n = 92</a:t>
            </a:r>
            <a:endParaRPr lang="en-US" sz="1800" dirty="0"/>
          </a:p>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Too small an SE hurts more than too big helps, so coverage drops</a:t>
            </a:r>
            <a:endParaRPr lang="en-US" sz="1800" dirty="0"/>
          </a:p>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The </a:t>
            </a:r>
            <a:r>
              <a:rPr lang="en-US" sz="1800" b="1" dirty="0">
                <a:solidFill>
                  <a:srgbClr val="FF42A1"/>
                </a:solidFill>
                <a:latin typeface="Aptos" pitchFamily="34" charset="0"/>
                <a:ea typeface="Aptos" pitchFamily="34" charset="-122"/>
                <a:cs typeface="Aptos" pitchFamily="34" charset="-120"/>
              </a:rPr>
              <a:t>t-distribution</a:t>
            </a:r>
            <a:r>
              <a:rPr lang="en-US" sz="1800" dirty="0">
                <a:solidFill>
                  <a:srgbClr val="3A3A3A"/>
                </a:solidFill>
                <a:latin typeface="Aptos" pitchFamily="34" charset="0"/>
                <a:ea typeface="Aptos" pitchFamily="34" charset="-122"/>
                <a:cs typeface="Aptos" pitchFamily="34" charset="-120"/>
              </a:rPr>
              <a:t> fixes this exactly for normal data; for skewed data it helps but can't fix it</a:t>
            </a:r>
            <a:endParaRPr lang="en-US" sz="1800" dirty="0"/>
          </a:p>
        </p:txBody>
      </p:sp>
      <p:graphicFrame>
        <p:nvGraphicFramePr>
          <p:cNvPr id="37" name="Table 0"/>
          <p:cNvGraphicFramePr>
            <a:graphicFrameLocks noGrp="1"/>
          </p:cNvGraphicFramePr>
          <p:nvPr/>
        </p:nvGraphicFramePr>
        <p:xfrm>
          <a:off x="6858000" y="1325880"/>
          <a:ext cx="4754880" cy="1809750"/>
        </p:xfrm>
        <a:graphic>
          <a:graphicData uri="http://schemas.openxmlformats.org/drawingml/2006/table">
            <a:tbl>
              <a:tblPr/>
              <a:tblGrid>
                <a:gridCol w="73152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361950">
                <a:tc>
                  <a:txBody>
                    <a:bodyPr/>
                    <a:lstStyle/>
                    <a:p>
                      <a:pPr marL="0" indent="0">
                        <a:buNone/>
                      </a:pPr>
                      <a:r>
                        <a:rPr lang="en-US" sz="1500" b="1" dirty="0">
                          <a:solidFill>
                            <a:srgbClr val="000000"/>
                          </a:solidFill>
                          <a:latin typeface="Aptos" pitchFamily="34" charset="0"/>
                          <a:ea typeface="Aptos" pitchFamily="34" charset="-122"/>
                          <a:cs typeface="Aptos" pitchFamily="34" charset="-120"/>
                        </a:rPr>
                        <a:t>n</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500" b="1" dirty="0">
                          <a:solidFill>
                            <a:srgbClr val="000000"/>
                          </a:solidFill>
                          <a:latin typeface="Aptos" pitchFamily="34" charset="0"/>
                          <a:ea typeface="Aptos" pitchFamily="34" charset="-122"/>
                          <a:cs typeface="Aptos" pitchFamily="34" charset="-120"/>
                        </a:rPr>
                        <a:t>normal: z</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500" b="1" dirty="0">
                          <a:solidFill>
                            <a:srgbClr val="000000"/>
                          </a:solidFill>
                          <a:latin typeface="Aptos" pitchFamily="34" charset="0"/>
                          <a:ea typeface="Aptos" pitchFamily="34" charset="-122"/>
                          <a:cs typeface="Aptos" pitchFamily="34" charset="-120"/>
                        </a:rPr>
                        <a:t>normal: t</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500" b="1" dirty="0">
                          <a:solidFill>
                            <a:srgbClr val="000000"/>
                          </a:solidFill>
                          <a:latin typeface="Aptos" pitchFamily="34" charset="0"/>
                          <a:ea typeface="Aptos" pitchFamily="34" charset="-122"/>
                          <a:cs typeface="Aptos" pitchFamily="34" charset="-120"/>
                        </a:rPr>
                        <a:t>cars: z</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tc>
                  <a:txBody>
                    <a:bodyPr/>
                    <a:lstStyle/>
                    <a:p>
                      <a:pPr marL="0" indent="0">
                        <a:buNone/>
                      </a:pPr>
                      <a:r>
                        <a:rPr lang="en-US" sz="1500" b="1" dirty="0">
                          <a:solidFill>
                            <a:srgbClr val="000000"/>
                          </a:solidFill>
                          <a:latin typeface="Aptos" pitchFamily="34" charset="0"/>
                          <a:ea typeface="Aptos" pitchFamily="34" charset="-122"/>
                          <a:cs typeface="Aptos" pitchFamily="34" charset="-120"/>
                        </a:rPr>
                        <a:t>cars: t</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0" cap="flat" cmpd="sng" algn="ctr">
                      <a:noFill/>
                    </a:lnT>
                    <a:lnB w="158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61950">
                <a:tc>
                  <a:txBody>
                    <a:bodyPr/>
                    <a:lstStyle/>
                    <a:p>
                      <a:pPr marL="0" indent="0">
                        <a:buNone/>
                      </a:pPr>
                      <a:r>
                        <a:rPr lang="en-US" sz="1500" dirty="0">
                          <a:solidFill>
                            <a:srgbClr val="3A3A3A"/>
                          </a:solidFill>
                          <a:latin typeface="Aptos" pitchFamily="34" charset="0"/>
                          <a:ea typeface="Aptos" pitchFamily="34" charset="-122"/>
                          <a:cs typeface="Aptos" pitchFamily="34" charset="-120"/>
                        </a:rPr>
                        <a:t>5</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3A3A3A"/>
                          </a:solidFill>
                          <a:latin typeface="Aptos" pitchFamily="34" charset="0"/>
                          <a:ea typeface="Aptos" pitchFamily="34" charset="-122"/>
                          <a:cs typeface="Aptos" pitchFamily="34" charset="-120"/>
                        </a:rPr>
                        <a:t>87.5%</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3A3A3A"/>
                          </a:solidFill>
                          <a:latin typeface="Aptos" pitchFamily="34" charset="0"/>
                          <a:ea typeface="Aptos" pitchFamily="34" charset="-122"/>
                          <a:cs typeface="Aptos" pitchFamily="34" charset="-120"/>
                        </a:rPr>
                        <a:t>94.8%</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3A3A3A"/>
                          </a:solidFill>
                          <a:latin typeface="Aptos" pitchFamily="34" charset="0"/>
                          <a:ea typeface="Aptos" pitchFamily="34" charset="-122"/>
                          <a:cs typeface="Aptos" pitchFamily="34" charset="-120"/>
                        </a:rPr>
                        <a:t>78.3%</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3A3A3A"/>
                          </a:solidFill>
                          <a:latin typeface="Aptos" pitchFamily="34" charset="0"/>
                          <a:ea typeface="Aptos" pitchFamily="34" charset="-122"/>
                          <a:cs typeface="Aptos" pitchFamily="34" charset="-120"/>
                        </a:rPr>
                        <a:t>86.2%</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15875" cap="flat" cmpd="sng" algn="ctr">
                      <a:solidFill>
                        <a:srgbClr val="000000"/>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61950">
                <a:tc>
                  <a:txBody>
                    <a:bodyPr/>
                    <a:lstStyle/>
                    <a:p>
                      <a:pPr marL="0" indent="0">
                        <a:buNone/>
                      </a:pPr>
                      <a:r>
                        <a:rPr lang="en-US" sz="1500" dirty="0">
                          <a:solidFill>
                            <a:srgbClr val="3A3A3A"/>
                          </a:solidFill>
                          <a:latin typeface="Aptos" pitchFamily="34" charset="0"/>
                          <a:ea typeface="Aptos" pitchFamily="34" charset="-122"/>
                          <a:cs typeface="Aptos" pitchFamily="34" charset="-120"/>
                        </a:rPr>
                        <a:t>10</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3A3A3A"/>
                          </a:solidFill>
                          <a:latin typeface="Aptos" pitchFamily="34" charset="0"/>
                          <a:ea typeface="Aptos" pitchFamily="34" charset="-122"/>
                          <a:cs typeface="Aptos" pitchFamily="34" charset="-120"/>
                        </a:rPr>
                        <a:t>92.2%</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3A3A3A"/>
                          </a:solidFill>
                          <a:latin typeface="Aptos" pitchFamily="34" charset="0"/>
                          <a:ea typeface="Aptos" pitchFamily="34" charset="-122"/>
                          <a:cs typeface="Aptos" pitchFamily="34" charset="-120"/>
                        </a:rPr>
                        <a:t>95.3%</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3A3A3A"/>
                          </a:solidFill>
                          <a:latin typeface="Aptos" pitchFamily="34" charset="0"/>
                          <a:ea typeface="Aptos" pitchFamily="34" charset="-122"/>
                          <a:cs typeface="Aptos" pitchFamily="34" charset="-120"/>
                        </a:rPr>
                        <a:t>85.0%</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3A3A3A"/>
                          </a:solidFill>
                          <a:latin typeface="Aptos" pitchFamily="34" charset="0"/>
                          <a:ea typeface="Aptos" pitchFamily="34" charset="-122"/>
                          <a:cs typeface="Aptos" pitchFamily="34" charset="-120"/>
                        </a:rPr>
                        <a:t>88.1%</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61950">
                <a:tc>
                  <a:txBody>
                    <a:bodyPr/>
                    <a:lstStyle/>
                    <a:p>
                      <a:pPr marL="0" indent="0">
                        <a:buNone/>
                      </a:pPr>
                      <a:r>
                        <a:rPr lang="en-US" sz="1500" dirty="0">
                          <a:solidFill>
                            <a:srgbClr val="3A3A3A"/>
                          </a:solidFill>
                          <a:latin typeface="Aptos" pitchFamily="34" charset="0"/>
                          <a:ea typeface="Aptos" pitchFamily="34" charset="-122"/>
                          <a:cs typeface="Aptos" pitchFamily="34" charset="-120"/>
                        </a:rPr>
                        <a:t>30</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3A3A3A"/>
                          </a:solidFill>
                          <a:latin typeface="Aptos" pitchFamily="34" charset="0"/>
                          <a:ea typeface="Aptos" pitchFamily="34" charset="-122"/>
                          <a:cs typeface="Aptos" pitchFamily="34" charset="-120"/>
                        </a:rPr>
                        <a:t>94.0%</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3A3A3A"/>
                          </a:solidFill>
                          <a:latin typeface="Aptos" pitchFamily="34" charset="0"/>
                          <a:ea typeface="Aptos" pitchFamily="34" charset="-122"/>
                          <a:cs typeface="Aptos" pitchFamily="34" charset="-120"/>
                        </a:rPr>
                        <a:t>95.1%</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3A3A3A"/>
                          </a:solidFill>
                          <a:latin typeface="Aptos" pitchFamily="34" charset="0"/>
                          <a:ea typeface="Aptos" pitchFamily="34" charset="-122"/>
                          <a:cs typeface="Aptos" pitchFamily="34" charset="-120"/>
                        </a:rPr>
                        <a:t>91.8%</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3A3A3A"/>
                          </a:solidFill>
                          <a:latin typeface="Aptos" pitchFamily="34" charset="0"/>
                          <a:ea typeface="Aptos" pitchFamily="34" charset="-122"/>
                          <a:cs typeface="Aptos" pitchFamily="34" charset="-120"/>
                        </a:rPr>
                        <a:t>92.7%</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61950">
                <a:tc>
                  <a:txBody>
                    <a:bodyPr/>
                    <a:lstStyle/>
                    <a:p>
                      <a:pPr marL="0" indent="0">
                        <a:buNone/>
                      </a:pPr>
                      <a:r>
                        <a:rPr lang="en-US" sz="1500" dirty="0">
                          <a:solidFill>
                            <a:srgbClr val="3A3A3A"/>
                          </a:solidFill>
                          <a:latin typeface="Aptos" pitchFamily="34" charset="0"/>
                          <a:ea typeface="Aptos" pitchFamily="34" charset="-122"/>
                          <a:cs typeface="Aptos" pitchFamily="34" charset="-120"/>
                        </a:rPr>
                        <a:t>92</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3A3A3A"/>
                          </a:solidFill>
                          <a:latin typeface="Aptos" pitchFamily="34" charset="0"/>
                          <a:ea typeface="Aptos" pitchFamily="34" charset="-122"/>
                          <a:cs typeface="Aptos" pitchFamily="34" charset="-120"/>
                        </a:rPr>
                        <a:t>94.9%</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3A3A3A"/>
                          </a:solidFill>
                          <a:latin typeface="Aptos" pitchFamily="34" charset="0"/>
                          <a:ea typeface="Aptos" pitchFamily="34" charset="-122"/>
                          <a:cs typeface="Aptos" pitchFamily="34" charset="-120"/>
                        </a:rPr>
                        <a:t>95.2%</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3A3A3A"/>
                          </a:solidFill>
                          <a:latin typeface="Aptos" pitchFamily="34" charset="0"/>
                          <a:ea typeface="Aptos" pitchFamily="34" charset="-122"/>
                          <a:cs typeface="Aptos" pitchFamily="34" charset="-120"/>
                        </a:rPr>
                        <a:t>93.9%</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500" dirty="0">
                          <a:solidFill>
                            <a:srgbClr val="3A3A3A"/>
                          </a:solidFill>
                          <a:latin typeface="Aptos" pitchFamily="34" charset="0"/>
                          <a:ea typeface="Aptos" pitchFamily="34" charset="-122"/>
                          <a:cs typeface="Aptos" pitchFamily="34" charset="-120"/>
                        </a:rPr>
                        <a:t>94.2%</a:t>
                      </a:r>
                      <a:endParaRPr lang="en-US" sz="1500" dirty="0">
                        <a:latin typeface="Aptos" charset="0"/>
                        <a:ea typeface="Aptos" charset="0"/>
                        <a:cs typeface="Aptos" charset="0"/>
                      </a:endParaRPr>
                    </a:p>
                  </a:txBody>
                  <a:tcPr marL="73152" marR="73152" marT="36576" marB="36576" anchor="ctr">
                    <a:lnL w="0" cap="flat" cmpd="sng" algn="ctr">
                      <a:noFill/>
                    </a:lnL>
                    <a:lnR w="0" cap="flat" cmpd="sng" algn="ct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txBox="1"/>
          <p:nvPr/>
        </p:nvSpPr>
        <p:spPr>
          <a:xfrm>
            <a:off x="6858000" y="3154680"/>
            <a:ext cx="4754880" cy="365760"/>
          </a:xfrm>
          <a:prstGeom prst="rect">
            <a:avLst/>
          </a:prstGeom>
          <a:noFill/>
          <a:ln/>
        </p:spPr>
        <p:txBody>
          <a:bodyPr wrap="square" lIns="0" tIns="0" rIns="0" bIns="0" rtlCol="0" anchor="ctr"/>
          <a:lstStyle/>
          <a:p>
            <a:pPr marL="0" indent="0">
              <a:buNone/>
            </a:pPr>
            <a:r>
              <a:rPr lang="en-US" sz="1200" i="1" dirty="0">
                <a:solidFill>
                  <a:srgbClr val="7F7F7F"/>
                </a:solidFill>
              </a:rPr>
              <a:t>Coverage of a nominal 95% interval (20,000 simulated samples each)</a:t>
            </a:r>
            <a:endParaRPr lang="en-US" sz="12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31</a:t>
            </a:fld>
            <a:endParaRPr lang="en-US"/>
          </a:p>
        </p:txBody>
      </p:sp>
    </p:spTree>
    <p:extLst>
      <p:ext uri="{BB962C8B-B14F-4D97-AF65-F5344CB8AC3E}">
        <p14:creationId xmlns:p14="http://schemas.microsoft.com/office/powerpoint/2010/main" val="32605567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1"/>
                </a:solidFill>
              </a:rPr>
              <a:t>More on Standard Errors</a:t>
            </a:r>
            <a:endParaRPr lang="en-US" sz="3000" dirty="0"/>
          </a:p>
        </p:txBody>
      </p:sp>
      <p:sp>
        <p:nvSpPr>
          <p:cNvPr id="3" name="Text 1"/>
          <p:cNvSpPr txBox="1"/>
          <p:nvPr/>
        </p:nvSpPr>
        <p:spPr>
          <a:xfrm>
            <a:off x="548640" y="1280160"/>
            <a:ext cx="11064240" cy="827532"/>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Standard errors are important but hard to pin down: the data and model create the standard error</a:t>
            </a:r>
            <a:endParaRPr lang="en-US" sz="1800" dirty="0"/>
          </a:p>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We've been using the SD of the bootstrap sample as the SE. This is the </a:t>
            </a:r>
            <a:r>
              <a:rPr lang="en-US" sz="1800" b="1" dirty="0">
                <a:solidFill>
                  <a:srgbClr val="FF42A1"/>
                </a:solidFill>
                <a:latin typeface="Aptos" pitchFamily="34" charset="0"/>
                <a:ea typeface="Aptos" pitchFamily="34" charset="-122"/>
                <a:cs typeface="Aptos" pitchFamily="34" charset="-120"/>
              </a:rPr>
              <a:t>centered bootstrap</a:t>
            </a:r>
            <a:r>
              <a:rPr lang="en-US" sz="1800" dirty="0">
                <a:solidFill>
                  <a:srgbClr val="3A3A3A"/>
                </a:solidFill>
                <a:latin typeface="Aptos" pitchFamily="34" charset="0"/>
                <a:ea typeface="Aptos" pitchFamily="34" charset="-122"/>
                <a:cs typeface="Aptos" pitchFamily="34" charset="-120"/>
              </a:rPr>
              <a:t>:</a:t>
            </a:r>
            <a:endParaRPr lang="en-US" sz="1800" dirty="0"/>
          </a:p>
        </p:txBody>
      </p:sp>
      <p:pic>
        <p:nvPicPr>
          <p:cNvPr id="4" name="Image 0" descr="zb"/>
          <p:cNvPicPr>
            <a:picLocks noChangeAspect="1"/>
          </p:cNvPicPr>
          <p:nvPr/>
        </p:nvPicPr>
        <p:blipFill>
          <a:blip r:embed="rId3"/>
          <a:stretch>
            <a:fillRect/>
          </a:stretch>
        </p:blipFill>
        <p:spPr>
          <a:xfrm>
            <a:off x="914400" y="2153412"/>
            <a:ext cx="1261557" cy="593395"/>
          </a:xfrm>
          <a:prstGeom prst="rect">
            <a:avLst/>
          </a:prstGeom>
        </p:spPr>
      </p:pic>
      <p:sp>
        <p:nvSpPr>
          <p:cNvPr id="5" name="Text 2"/>
          <p:cNvSpPr txBox="1"/>
          <p:nvPr/>
        </p:nvSpPr>
        <p:spPr>
          <a:xfrm>
            <a:off x="548640" y="2883967"/>
            <a:ext cx="11064240" cy="745236"/>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If you can get an SE from each resample, you can upgrade to the </a:t>
            </a:r>
            <a:r>
              <a:rPr lang="en-US" sz="1800" b="1" dirty="0">
                <a:solidFill>
                  <a:srgbClr val="FF42A1"/>
                </a:solidFill>
                <a:latin typeface="Aptos" pitchFamily="34" charset="0"/>
                <a:ea typeface="Aptos" pitchFamily="34" charset="-122"/>
                <a:cs typeface="Aptos" pitchFamily="34" charset="-120"/>
              </a:rPr>
              <a:t>studentized</a:t>
            </a:r>
            <a:r>
              <a:rPr lang="en-US" sz="1800" dirty="0">
                <a:solidFill>
                  <a:srgbClr val="3A3A3A"/>
                </a:solidFill>
                <a:latin typeface="Aptos" pitchFamily="34" charset="0"/>
                <a:ea typeface="Aptos" pitchFamily="34" charset="-122"/>
                <a:cs typeface="Aptos" pitchFamily="34" charset="-120"/>
              </a:rPr>
              <a:t> version, which has more variation because the SE is allowed to vary:</a:t>
            </a:r>
            <a:endParaRPr lang="en-US" sz="1800" dirty="0"/>
          </a:p>
        </p:txBody>
      </p:sp>
      <p:pic>
        <p:nvPicPr>
          <p:cNvPr id="6" name="Image 1" descr="tb"/>
          <p:cNvPicPr>
            <a:picLocks noChangeAspect="1"/>
          </p:cNvPicPr>
          <p:nvPr/>
        </p:nvPicPr>
        <p:blipFill>
          <a:blip r:embed="rId4"/>
          <a:stretch>
            <a:fillRect/>
          </a:stretch>
        </p:blipFill>
        <p:spPr>
          <a:xfrm>
            <a:off x="914400" y="3674923"/>
            <a:ext cx="1176380" cy="574467"/>
          </a:xfrm>
          <a:prstGeom prst="rect">
            <a:avLst/>
          </a:prstGeom>
        </p:spPr>
      </p:pic>
      <p:sp>
        <p:nvSpPr>
          <p:cNvPr id="7" name="Text 3"/>
          <p:cNvSpPr txBox="1"/>
          <p:nvPr/>
        </p:nvSpPr>
        <p:spPr>
          <a:xfrm>
            <a:off x="548640" y="4386551"/>
            <a:ext cx="11064240" cy="459486"/>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3A3A3A"/>
                </a:solidFill>
                <a:latin typeface="Aptos" pitchFamily="34" charset="0"/>
                <a:ea typeface="Aptos" pitchFamily="34" charset="-122"/>
                <a:cs typeface="Aptos" pitchFamily="34" charset="-120"/>
              </a:rPr>
              <a:t>The analytical formula for OLS standard errors (you can bootstrap this by resampling rows):</a:t>
            </a:r>
            <a:endParaRPr lang="en-US" sz="1800" dirty="0"/>
          </a:p>
        </p:txBody>
      </p:sp>
      <p:pic>
        <p:nvPicPr>
          <p:cNvPr id="8" name="Image 2" descr="ols_se"/>
          <p:cNvPicPr>
            <a:picLocks noChangeAspect="1"/>
          </p:cNvPicPr>
          <p:nvPr/>
        </p:nvPicPr>
        <p:blipFill>
          <a:blip r:embed="rId5"/>
          <a:stretch>
            <a:fillRect/>
          </a:stretch>
        </p:blipFill>
        <p:spPr>
          <a:xfrm>
            <a:off x="914400" y="4891757"/>
            <a:ext cx="3419358" cy="593395"/>
          </a:xfrm>
          <a:prstGeom prst="rect">
            <a:avLst/>
          </a:prstGeom>
        </p:spPr>
      </p:pic>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32</a:t>
            </a:fld>
            <a:endParaRPr lang="en-US"/>
          </a:p>
        </p:txBody>
      </p:sp>
    </p:spTree>
    <p:extLst>
      <p:ext uri="{BB962C8B-B14F-4D97-AF65-F5344CB8AC3E}">
        <p14:creationId xmlns:p14="http://schemas.microsoft.com/office/powerpoint/2010/main" val="770727724"/>
      </p:ext>
    </p:extLst>
  </p:cSld>
  <p:clrMapOvr>
    <a:masterClrMapping/>
  </p:clrMapOvr>
</p:sld>
</file>

<file path=ppt/theme/theme1.xml><?xml version="1.0" encoding="utf-8"?>
<a:theme xmlns:a="http://schemas.openxmlformats.org/drawingml/2006/main" name="DS5030">
  <a:themeElements>
    <a:clrScheme name="DS5030">
      <a:dk1>
        <a:srgbClr val="000000"/>
      </a:dk1>
      <a:lt1>
        <a:srgbClr val="FFFFFF"/>
      </a:lt1>
      <a:dk2>
        <a:srgbClr val="3A3A3A"/>
      </a:dk2>
      <a:lt2>
        <a:srgbClr val="F2F2F2"/>
      </a:lt2>
      <a:accent1>
        <a:srgbClr val="FF42A1"/>
      </a:accent1>
      <a:accent2>
        <a:srgbClr val="00A2FF"/>
      </a:accent2>
      <a:accent3>
        <a:srgbClr val="61D836"/>
      </a:accent3>
      <a:accent4>
        <a:srgbClr val="FFD932"/>
      </a:accent4>
      <a:accent5>
        <a:srgbClr val="FF644E"/>
      </a:accent5>
      <a:accent6>
        <a:srgbClr val="5E5E5E"/>
      </a:accent6>
      <a:hlink>
        <a:srgbClr val="FF42A1"/>
      </a:hlink>
      <a:folHlink>
        <a:srgbClr val="5E5E5E"/>
      </a:folHlink>
    </a:clrScheme>
    <a:fontScheme name="DS5030">
      <a:majorFont>
        <a:latin typeface="Apto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1126</TotalTime>
  <Words>4382</Words>
  <Application>Microsoft Macintosh PowerPoint</Application>
  <PresentationFormat>Widescreen</PresentationFormat>
  <Paragraphs>291</Paragraphs>
  <Slides>32</Slides>
  <Notes>19</Notes>
  <HiddenSlides>5</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Aptos</vt:lpstr>
      <vt:lpstr>Arial</vt:lpstr>
      <vt:lpstr>Cambria Math</vt:lpstr>
      <vt:lpstr>Courier New</vt:lpstr>
      <vt:lpstr>system-ui</vt:lpstr>
      <vt:lpstr>DS5030</vt:lpstr>
      <vt:lpstr>Confidence intervals and testing</vt:lpstr>
      <vt:lpstr>Notes</vt:lpstr>
      <vt:lpstr>Just Memorize These</vt:lpstr>
      <vt:lpstr>What Is a Confidence Interval?</vt:lpstr>
      <vt:lpstr>Constructing Confidence Intervals</vt:lpstr>
      <vt:lpstr>Thought Experiment: Would the CLT work in each case?</vt:lpstr>
      <vt:lpstr>Thought Experiment: Answers</vt:lpstr>
      <vt:lpstr>Confidence interval calculation exercise</vt:lpstr>
      <vt:lpstr>Exercise: Answers</vt:lpstr>
      <vt:lpstr>CI to Hypothesis Test: TEST = INTERVAL</vt:lpstr>
      <vt:lpstr>From Test to p-Value</vt:lpstr>
      <vt:lpstr>Where Φ Comes In</vt:lpstr>
      <vt:lpstr>The CI Is Not...</vt:lpstr>
      <vt:lpstr>The CI Is...</vt:lpstr>
      <vt:lpstr>Coverage You Can Count</vt:lpstr>
      <vt:lpstr>Coverage You Can Count: Answers</vt:lpstr>
      <vt:lpstr>Comparing Two Groups: the SE of a Difference</vt:lpstr>
      <vt:lpstr>Comparing Two Groups: a CI for the Difference</vt:lpstr>
      <vt:lpstr>Paired Data: Take Differences First</vt:lpstr>
      <vt:lpstr>If you are getting confused about what to calculate…  you can’t go wrong with the bootstrap version:   Two independent groups: resample each group separately, compute the gap each time, take the SD of the gaps. Paired data (same units measured twice): compute each unit’s difference, resample the differences, and take the SD of their means. </vt:lpstr>
      <vt:lpstr>Inference routine</vt:lpstr>
      <vt:lpstr>Non-parametric exploration of data BEFORE modeling</vt:lpstr>
      <vt:lpstr>Inference to evaluate estimators NOT JUST prediction</vt:lpstr>
      <vt:lpstr>  1. State the population parameter θ in words and define the estimator θ ̂ 2. Clean only the needed variables and report the resulting sample size(s). 3. Compute θ ̂. 4. Generate at least R=2,000 nonparametric bootstrap estimates with a reproducible RNG. For two groups, resample independently within groups; for regressions, resample whole rows. 5. Estimate (SE) ̂(θ ̂) with the bootstrap standard deviation (`ddof=1`). 6. Construct centered-Normal 90%, 95%, and 99% CIs: θ ̂±z^∗ (SE) ̂(θ ̂ ). 7. Test the stated null using z=(θ ̂-θ_0)/((SE) ̂(θ ̂ ) ) and p=2Φ(-|z|). Decide at α=.10, .05, .01. 8. Confirm that every test decision agrees with whether the matching CI contains θ_0. 9. Interpret the estimate, interval, and test in context. These are observational data: do not turn association into causation. </vt:lpstr>
      <vt:lpstr>Does It Pay for Itself?</vt:lpstr>
      <vt:lpstr>In class challenge   At stake: bonus points on Lab 7  smgroves.github.io/ds5030-uncertainty-plots </vt:lpstr>
      <vt:lpstr>Coding example</vt:lpstr>
      <vt:lpstr>Summary</vt:lpstr>
      <vt:lpstr>Five Things to Think About</vt:lpstr>
      <vt:lpstr>Summary</vt:lpstr>
      <vt:lpstr>Is the SE Itself Uncertain?</vt:lpstr>
      <vt:lpstr>More on Standard Errors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Bootstrap to Asymptotic Inference</dc:title>
  <dc:subject>PptxGenJS Presentation</dc:subject>
  <dc:creator>Sarah Groves</dc:creator>
  <cp:lastModifiedBy>Groves, Sarah</cp:lastModifiedBy>
  <cp:revision>129</cp:revision>
  <dcterms:created xsi:type="dcterms:W3CDTF">2026-10-12T19:25:21Z</dcterms:created>
  <dcterms:modified xsi:type="dcterms:W3CDTF">2026-10-15T17:48:33Z</dcterms:modified>
</cp:coreProperties>
</file>